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3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fld id="{00000000-1234-1234-1234-123412341234}" type="slidenum"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" name="Google Shape;8;n"/>
          <p:cNvSpPr/>
          <p:nvPr>
            <p:ph idx="4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" name="Google Shape;9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4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4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5" name="Google Shape;55;p4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4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5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5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7" name="Google Shape;67;p5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5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6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6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81" name="Google Shape;81;p6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6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0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0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19" name="Google Shape;119;p10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0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3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3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26" name="Google Shape;226;p13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3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18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18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396" name="Google Shape;396;p18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18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18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9" name="Google Shape;39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8" name="Google Shape;408;p19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9" name="Google Shape;40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p20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0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/>
          </a:p>
        </p:txBody>
      </p:sp>
      <p:sp>
        <p:nvSpPr>
          <p:cNvPr id="417" name="Google Shape;417;p20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20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20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0" name="Google Shape;420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22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22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437" name="Google Shape;437;p22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22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23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23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450" name="Google Shape;450;p23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23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23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3" name="Google Shape;45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4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5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" name="Google Shape;481;p27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27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/>
          </a:p>
        </p:txBody>
      </p:sp>
      <p:sp>
        <p:nvSpPr>
          <p:cNvPr id="483" name="Google Shape;483;p27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27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27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6" name="Google Shape;48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28:notes"/>
          <p:cNvSpPr/>
          <p:nvPr/>
        </p:nvSpPr>
        <p:spPr>
          <a:xfrm>
            <a:off x="3884612" y="0"/>
            <a:ext cx="2973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28:notes"/>
          <p:cNvSpPr txBox="1"/>
          <p:nvPr/>
        </p:nvSpPr>
        <p:spPr>
          <a:xfrm>
            <a:off x="3884612" y="8685212"/>
            <a:ext cx="2973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/>
          </a:p>
        </p:txBody>
      </p:sp>
      <p:sp>
        <p:nvSpPr>
          <p:cNvPr id="496" name="Google Shape;496;p28:notes"/>
          <p:cNvSpPr/>
          <p:nvPr/>
        </p:nvSpPr>
        <p:spPr>
          <a:xfrm>
            <a:off x="-1587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28:notes"/>
          <p:cNvSpPr/>
          <p:nvPr/>
        </p:nvSpPr>
        <p:spPr>
          <a:xfrm>
            <a:off x="-1587" y="0"/>
            <a:ext cx="2971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28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99" name="Google Shape;499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9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9" name="Google Shape;569;p32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0" name="Google Shape;570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7" name="Google Shape;577;p33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8" name="Google Shape;578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5" name="Google Shape;585;p34:notes"/>
          <p:cNvSpPr/>
          <p:nvPr>
            <p:ph idx="2" type="sldImg"/>
          </p:nvPr>
        </p:nvSpPr>
        <p:spPr>
          <a:xfrm>
            <a:off x="1152525" y="692150"/>
            <a:ext cx="45546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6" name="Google Shape;586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8610600" y="0"/>
            <a:ext cx="533400" cy="6858000"/>
          </a:xfrm>
          <a:prstGeom prst="rect">
            <a:avLst/>
          </a:prstGeom>
          <a:solidFill>
            <a:srgbClr val="411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7696200" y="2514600"/>
            <a:ext cx="1066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5715000" y="2895600"/>
            <a:ext cx="31242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381000" y="3810000"/>
            <a:ext cx="533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350" y="304800"/>
            <a:ext cx="5257800" cy="3124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" name="Google Shape;21;p2"/>
          <p:cNvSpPr txBox="1"/>
          <p:nvPr/>
        </p:nvSpPr>
        <p:spPr>
          <a:xfrm>
            <a:off x="381000" y="6553200"/>
            <a:ext cx="2748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1D72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rgbClr val="411D72"/>
                </a:solidFill>
                <a:latin typeface="Arial"/>
                <a:ea typeface="Arial"/>
                <a:cs typeface="Arial"/>
                <a:sym typeface="Arial"/>
              </a:rPr>
              <a:t>Copyright © 2004  South-Western/Thomson Learning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5612" y="1455737"/>
            <a:ext cx="8389937" cy="519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6407150" y="6675437"/>
            <a:ext cx="180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2004  South-Western</a:t>
            </a:r>
            <a:endParaRPr/>
          </a:p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ctrTitle"/>
          </p:nvPr>
        </p:nvSpPr>
        <p:spPr>
          <a:xfrm>
            <a:off x="5715000" y="2895600"/>
            <a:ext cx="31242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Arial"/>
              <a:buNone/>
            </a:pPr>
            <a:r>
              <a:rPr b="1" i="0" lang="en-US" sz="15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381000" y="3810000"/>
            <a:ext cx="5334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4B9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0094B9"/>
                </a:solidFill>
                <a:latin typeface="Arial"/>
                <a:ea typeface="Arial"/>
                <a:cs typeface="Arial"/>
                <a:sym typeface="Arial"/>
              </a:rPr>
              <a:t>Interdependence and the Gains from Trade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>
              <a:solidFill>
                <a:srgbClr val="FFFF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your typical day: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wake up to an alarm clock made in Korea.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pour yourself orange juice made from Florida oranges and coffee from beans grown in Brazil.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put on some clothes made of cotton grown in Georgia and sewn in factories in Thailand.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watch the morning news broadcast from New York on your TV made in Japan.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drive to class in a car made of parts manufactured in a half-dozen different countries.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>
              <a:solidFill>
                <a:srgbClr val="FFFF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 . . and you haven’t been up for more than two hours yet!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8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Interdependence and the Gains from Trade</a:t>
            </a:r>
            <a:endParaRPr/>
          </a:p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Remember, economics is the study of how societies produce and distribute goods in an attempt to satisfy the wants and needs of its members.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9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Interdependence and the Gains from Trade</a:t>
            </a:r>
            <a:endParaRPr/>
          </a:p>
        </p:txBody>
      </p:sp>
      <p:sp>
        <p:nvSpPr>
          <p:cNvPr id="75" name="Google Shape;75;p9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satisfy our wants and needs in a global economy?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be economically self-sufficient.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specialize and trade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others, leading to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interdependence.</a:t>
            </a:r>
            <a:endParaRPr/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3124200"/>
            <a:ext cx="3252787" cy="343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Interdependence and the Gains from Trade</a:t>
            </a:r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 and nations rely on specialized production and  exchange as a way to address problems caused by scarcity.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this gives rise to two questions: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interdependence the norm?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determines production and trade?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Interdependence and the Gains from Trade</a:t>
            </a:r>
            <a:endParaRPr/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interdependence the norm?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Interdependence occurs because people are better off when they specialize and trade with others.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determines the pattern of production and trade?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Patterns of production and trade are based upon differences in opportunity costs.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5105400"/>
            <a:ext cx="2827337" cy="1439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7037" y="4200525"/>
            <a:ext cx="2366962" cy="2657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A PARABLE FOR THE MODERN ECONOMY</a:t>
            </a:r>
            <a:endParaRPr/>
          </a:p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. . 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two goods: potatoes and meat</a:t>
            </a:r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457200" y="2514600"/>
            <a:ext cx="838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two people: a potato farmer and a cattle rancher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should each produce?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should they trade?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2C4C7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700"/>
            <a:ext cx="9144001" cy="684688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>
            <p:ph type="title"/>
          </p:nvPr>
        </p:nvSpPr>
        <p:spPr>
          <a:xfrm>
            <a:off x="457200" y="-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Table 1 The Production Opportunities of the Farmer and Rancher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6396037" y="6643687"/>
            <a:ext cx="180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1D72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rgbClr val="411D72"/>
                </a:solidFill>
                <a:latin typeface="Arial"/>
                <a:ea typeface="Arial"/>
                <a:cs typeface="Arial"/>
                <a:sym typeface="Arial"/>
              </a:rPr>
              <a:t>Copyright © 2004  South-Western</a:t>
            </a:r>
            <a:endParaRPr/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2819400"/>
            <a:ext cx="8683626" cy="241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4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Production Possibilities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Self-Sufficiency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ignoring each other: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consumes what they each produce.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production possibilities frontier is also the consumption possibilities frontier.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trade, economic gains are diminished.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2C4C7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/>
          <p:cNvPicPr preferRelativeResize="0"/>
          <p:nvPr/>
        </p:nvPicPr>
        <p:blipFill rotWithShape="1">
          <a:blip r:embed="rId3">
            <a:alphaModFix/>
          </a:blip>
          <a:srcRect b="0" l="0" r="1691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>
            <p:ph type="title"/>
          </p:nvPr>
        </p:nvSpPr>
        <p:spPr>
          <a:xfrm>
            <a:off x="609600" y="50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Figure 1 The Production Possibilities Curve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F3F6F9"/>
          </a:solidFill>
          <a:ln cap="flat" cmpd="sng" w="161925">
            <a:solidFill>
              <a:srgbClr val="F3F6F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F2F4F8"/>
          </a:solidFill>
          <a:ln cap="flat" cmpd="sng" w="147625">
            <a:solidFill>
              <a:srgbClr val="F2F4F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F1F4F7"/>
          </a:solidFill>
          <a:ln cap="flat" cmpd="sng" w="131750">
            <a:solidFill>
              <a:srgbClr val="F1F4F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F0F2F5"/>
          </a:solidFill>
          <a:ln cap="flat" cmpd="sng" w="117475">
            <a:solidFill>
              <a:srgbClr val="F0F2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EF1F4"/>
          </a:solidFill>
          <a:ln cap="flat" cmpd="sng" w="103175">
            <a:solidFill>
              <a:srgbClr val="EEF1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DEFF3"/>
          </a:solidFill>
          <a:ln cap="flat" cmpd="sng" w="88900">
            <a:solidFill>
              <a:srgbClr val="EDEFF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BEEF2"/>
          </a:solidFill>
          <a:ln cap="flat" cmpd="sng" w="73025">
            <a:solidFill>
              <a:srgbClr val="EBEE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AECF1"/>
          </a:solidFill>
          <a:ln cap="flat" cmpd="sng" w="58725">
            <a:solidFill>
              <a:srgbClr val="EAECF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9EBF0"/>
          </a:solidFill>
          <a:ln cap="flat" cmpd="sng" w="44450">
            <a:solidFill>
              <a:srgbClr val="E9EB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7EAEF"/>
          </a:solidFill>
          <a:ln cap="flat" cmpd="sng" w="30150">
            <a:solidFill>
              <a:srgbClr val="E7EA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2484437" y="1971675"/>
            <a:ext cx="4800600" cy="3543300"/>
          </a:xfrm>
          <a:prstGeom prst="rect">
            <a:avLst/>
          </a:prstGeom>
          <a:solidFill>
            <a:srgbClr val="E6E9EF"/>
          </a:solidFill>
          <a:ln cap="flat" cmpd="sng" w="14275">
            <a:solidFill>
              <a:srgbClr val="E6E9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409825" y="1897062"/>
            <a:ext cx="4802100" cy="354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409825" y="1897062"/>
            <a:ext cx="4802188" cy="3544888"/>
          </a:xfrm>
          <a:custGeom>
            <a:rect b="b" l="l" r="r" t="t"/>
            <a:pathLst>
              <a:path extrusionOk="0" h="2233" w="3025">
                <a:moveTo>
                  <a:pt x="0" y="0"/>
                </a:moveTo>
                <a:lnTo>
                  <a:pt x="0" y="2233"/>
                </a:lnTo>
                <a:lnTo>
                  <a:pt x="3025" y="2233"/>
                </a:lnTo>
              </a:path>
            </a:pathLst>
          </a:custGeom>
          <a:noFill/>
          <a:ln cap="flat" cmpd="sng" w="142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7" name="Google Shape;147;p15"/>
          <p:cNvCxnSpPr/>
          <p:nvPr/>
        </p:nvCxnSpPr>
        <p:spPr>
          <a:xfrm>
            <a:off x="2409825" y="3883025"/>
            <a:ext cx="3152700" cy="1558800"/>
          </a:xfrm>
          <a:prstGeom prst="straightConnector1">
            <a:avLst/>
          </a:prstGeom>
          <a:solidFill>
            <a:srgbClr val="FFFFFF"/>
          </a:solidFill>
          <a:ln cap="flat" cmpd="sng" w="44450">
            <a:solidFill>
              <a:srgbClr val="004C9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8" name="Google Shape;148;p15"/>
          <p:cNvSpPr txBox="1"/>
          <p:nvPr/>
        </p:nvSpPr>
        <p:spPr>
          <a:xfrm>
            <a:off x="5854700" y="5494337"/>
            <a:ext cx="15192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Potatoes (ounces)</a:t>
            </a:r>
            <a:endParaRPr/>
          </a:p>
        </p:txBody>
      </p:sp>
      <p:grpSp>
        <p:nvGrpSpPr>
          <p:cNvPr id="149" name="Google Shape;149;p15"/>
          <p:cNvGrpSpPr/>
          <p:nvPr/>
        </p:nvGrpSpPr>
        <p:grpSpPr>
          <a:xfrm>
            <a:off x="2214562" y="4575175"/>
            <a:ext cx="2152650" cy="923925"/>
            <a:chOff x="1395" y="2882"/>
            <a:chExt cx="1356" cy="582"/>
          </a:xfrm>
        </p:grpSpPr>
        <p:sp>
          <p:nvSpPr>
            <p:cNvPr id="150" name="Google Shape;150;p15"/>
            <p:cNvSpPr/>
            <p:nvPr/>
          </p:nvSpPr>
          <p:spPr>
            <a:xfrm>
              <a:off x="1518" y="2937"/>
              <a:ext cx="993" cy="491"/>
            </a:xfrm>
            <a:custGeom>
              <a:rect b="b" l="l" r="r" t="t"/>
              <a:pathLst>
                <a:path extrusionOk="0" h="491" w="993">
                  <a:moveTo>
                    <a:pt x="0" y="0"/>
                  </a:moveTo>
                  <a:lnTo>
                    <a:pt x="993" y="0"/>
                  </a:lnTo>
                  <a:lnTo>
                    <a:pt x="993" y="491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1395" y="2882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2451" y="3464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2214562" y="3776662"/>
            <a:ext cx="3732212" cy="1722437"/>
            <a:chOff x="1395" y="2379"/>
            <a:chExt cx="2351" cy="1085"/>
          </a:xfrm>
        </p:grpSpPr>
        <p:grpSp>
          <p:nvGrpSpPr>
            <p:cNvPr id="154" name="Google Shape;154;p15"/>
            <p:cNvGrpSpPr/>
            <p:nvPr/>
          </p:nvGrpSpPr>
          <p:grpSpPr>
            <a:xfrm>
              <a:off x="1395" y="2379"/>
              <a:ext cx="95" cy="30"/>
              <a:chOff x="1395" y="2379"/>
              <a:chExt cx="95" cy="30"/>
            </a:xfrm>
          </p:grpSpPr>
          <p:sp>
            <p:nvSpPr>
              <p:cNvPr id="155" name="Google Shape;155;p15"/>
              <p:cNvSpPr/>
              <p:nvPr/>
            </p:nvSpPr>
            <p:spPr>
              <a:xfrm>
                <a:off x="1490" y="2409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" name="Google Shape;156;p15"/>
              <p:cNvSpPr txBox="1"/>
              <p:nvPr/>
            </p:nvSpPr>
            <p:spPr>
              <a:xfrm>
                <a:off x="1395" y="2379"/>
                <a:ext cx="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</p:txBody>
          </p:sp>
        </p:grpSp>
        <p:grpSp>
          <p:nvGrpSpPr>
            <p:cNvPr id="157" name="Google Shape;157;p15"/>
            <p:cNvGrpSpPr/>
            <p:nvPr/>
          </p:nvGrpSpPr>
          <p:grpSpPr>
            <a:xfrm>
              <a:off x="3446" y="3400"/>
              <a:ext cx="300" cy="64"/>
              <a:chOff x="3446" y="3400"/>
              <a:chExt cx="300" cy="64"/>
            </a:xfrm>
          </p:grpSpPr>
          <p:sp>
            <p:nvSpPr>
              <p:cNvPr id="158" name="Google Shape;158;p15"/>
              <p:cNvSpPr/>
              <p:nvPr/>
            </p:nvSpPr>
            <p:spPr>
              <a:xfrm>
                <a:off x="3466" y="3400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" name="Google Shape;159;p15"/>
              <p:cNvSpPr txBox="1"/>
              <p:nvPr/>
            </p:nvSpPr>
            <p:spPr>
              <a:xfrm>
                <a:off x="3446" y="346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32</a:t>
                </a:r>
                <a:endParaRPr/>
              </a:p>
            </p:txBody>
          </p:sp>
        </p:grpSp>
      </p:grpSp>
      <p:grpSp>
        <p:nvGrpSpPr>
          <p:cNvPr id="160" name="Google Shape;160;p15"/>
          <p:cNvGrpSpPr/>
          <p:nvPr/>
        </p:nvGrpSpPr>
        <p:grpSpPr>
          <a:xfrm>
            <a:off x="3941762" y="4505325"/>
            <a:ext cx="106362" cy="112712"/>
            <a:chOff x="2483" y="2838"/>
            <a:chExt cx="67" cy="71"/>
          </a:xfrm>
        </p:grpSpPr>
        <p:sp>
          <p:nvSpPr>
            <p:cNvPr id="161" name="Google Shape;161;p15"/>
            <p:cNvSpPr/>
            <p:nvPr/>
          </p:nvSpPr>
          <p:spPr>
            <a:xfrm>
              <a:off x="2483" y="2909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5"/>
            <p:cNvSpPr txBox="1"/>
            <p:nvPr/>
          </p:nvSpPr>
          <p:spPr>
            <a:xfrm>
              <a:off x="2550" y="2838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sp>
        <p:nvSpPr>
          <p:cNvPr id="163" name="Google Shape;163;p15"/>
          <p:cNvSpPr txBox="1"/>
          <p:nvPr/>
        </p:nvSpPr>
        <p:spPr>
          <a:xfrm>
            <a:off x="2208212" y="5499100"/>
            <a:ext cx="16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239837" y="1857375"/>
            <a:ext cx="1195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Meat (ounces)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2995612" y="1498600"/>
            <a:ext cx="124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The Farmer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4092575" y="1498600"/>
            <a:ext cx="122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4137025" y="1498600"/>
            <a:ext cx="2789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Production Possibilities Frontier</a:t>
            </a:r>
            <a:endParaRPr/>
          </a:p>
        </p:txBody>
      </p:sp>
      <p:grpSp>
        <p:nvGrpSpPr>
          <p:cNvPr id="168" name="Google Shape;168;p15"/>
          <p:cNvGrpSpPr/>
          <p:nvPr/>
        </p:nvGrpSpPr>
        <p:grpSpPr>
          <a:xfrm>
            <a:off x="3819525" y="3265487"/>
            <a:ext cx="1973262" cy="1628775"/>
            <a:chOff x="2406" y="2057"/>
            <a:chExt cx="1243" cy="1026"/>
          </a:xfrm>
        </p:grpSpPr>
        <p:sp>
          <p:nvSpPr>
            <p:cNvPr id="169" name="Google Shape;169;p15"/>
            <p:cNvSpPr/>
            <p:nvPr/>
          </p:nvSpPr>
          <p:spPr>
            <a:xfrm>
              <a:off x="2706" y="2057"/>
              <a:ext cx="900" cy="6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0" name="Google Shape;170;p15"/>
            <p:cNvCxnSpPr/>
            <p:nvPr/>
          </p:nvCxnSpPr>
          <p:spPr>
            <a:xfrm flipH="1">
              <a:off x="2406" y="2483"/>
              <a:ext cx="300" cy="60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1" name="Google Shape;171;p15"/>
            <p:cNvSpPr txBox="1"/>
            <p:nvPr/>
          </p:nvSpPr>
          <p:spPr>
            <a:xfrm>
              <a:off x="2749" y="2100"/>
              <a:ext cx="9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If there is no trade, </a:t>
              </a:r>
              <a:endParaRPr/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2749" y="2224"/>
              <a:ext cx="9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farmer chooses </a:t>
              </a:r>
              <a:endParaRPr/>
            </a:p>
          </p:txBody>
        </p:sp>
        <p:sp>
          <p:nvSpPr>
            <p:cNvPr id="173" name="Google Shape;173;p15"/>
            <p:cNvSpPr txBox="1"/>
            <p:nvPr/>
          </p:nvSpPr>
          <p:spPr>
            <a:xfrm>
              <a:off x="2749" y="2348"/>
              <a:ext cx="9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this production and </a:t>
              </a:r>
              <a:endParaRPr/>
            </a:p>
          </p:txBody>
        </p:sp>
        <p:sp>
          <p:nvSpPr>
            <p:cNvPr id="174" name="Google Shape;174;p15"/>
            <p:cNvSpPr txBox="1"/>
            <p:nvPr/>
          </p:nvSpPr>
          <p:spPr>
            <a:xfrm>
              <a:off x="2749" y="2472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consumption.</a:t>
              </a:r>
              <a:endParaRPr/>
            </a:p>
          </p:txBody>
        </p:sp>
      </p:grpSp>
      <p:sp>
        <p:nvSpPr>
          <p:cNvPr id="175" name="Google Shape;175;p15"/>
          <p:cNvSpPr txBox="1"/>
          <p:nvPr/>
        </p:nvSpPr>
        <p:spPr>
          <a:xfrm>
            <a:off x="6502400" y="6643687"/>
            <a:ext cx="264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Copyright©2003  Southwestern/Thomson Learning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2C4C7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1691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>
            <p:ph type="title"/>
          </p:nvPr>
        </p:nvSpPr>
        <p:spPr>
          <a:xfrm>
            <a:off x="609600" y="50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Figure 1 The Production Possibilities Curve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564312" y="6680200"/>
            <a:ext cx="264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Copyright©2003  Southwestern/Thomson Learning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F3F6F9"/>
          </a:solidFill>
          <a:ln cap="flat" cmpd="sng" w="161925">
            <a:solidFill>
              <a:srgbClr val="F3F6F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F2F4F8"/>
          </a:solidFill>
          <a:ln cap="flat" cmpd="sng" w="147625">
            <a:solidFill>
              <a:srgbClr val="F2F4F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F1F4F7"/>
          </a:solidFill>
          <a:ln cap="flat" cmpd="sng" w="131750">
            <a:solidFill>
              <a:srgbClr val="F1F4F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F0F2F5"/>
          </a:solidFill>
          <a:ln cap="flat" cmpd="sng" w="117475">
            <a:solidFill>
              <a:srgbClr val="F0F2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EF1F4"/>
          </a:solidFill>
          <a:ln cap="flat" cmpd="sng" w="103175">
            <a:solidFill>
              <a:srgbClr val="EEF1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DEFF3"/>
          </a:solidFill>
          <a:ln cap="flat" cmpd="sng" w="88900">
            <a:solidFill>
              <a:srgbClr val="EDEFF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BEEF2"/>
          </a:solidFill>
          <a:ln cap="flat" cmpd="sng" w="73025">
            <a:solidFill>
              <a:srgbClr val="EBEE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AECF1"/>
          </a:solidFill>
          <a:ln cap="flat" cmpd="sng" w="58725">
            <a:solidFill>
              <a:srgbClr val="EAECF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9EBF0"/>
          </a:solidFill>
          <a:ln cap="flat" cmpd="sng" w="44450">
            <a:solidFill>
              <a:srgbClr val="E9EB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7EAEF"/>
          </a:solidFill>
          <a:ln cap="flat" cmpd="sng" w="30150">
            <a:solidFill>
              <a:srgbClr val="E7EA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2422525" y="2011362"/>
            <a:ext cx="4800600" cy="3544800"/>
          </a:xfrm>
          <a:prstGeom prst="rect">
            <a:avLst/>
          </a:prstGeom>
          <a:solidFill>
            <a:srgbClr val="E6E9EF"/>
          </a:solidFill>
          <a:ln cap="flat" cmpd="sng" w="14275">
            <a:solidFill>
              <a:srgbClr val="E6E9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2347912" y="1924050"/>
            <a:ext cx="4802100" cy="355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2347912" y="1924050"/>
            <a:ext cx="4802188" cy="3559175"/>
          </a:xfrm>
          <a:custGeom>
            <a:rect b="b" l="l" r="r" t="t"/>
            <a:pathLst>
              <a:path extrusionOk="0" h="2242" w="3025">
                <a:moveTo>
                  <a:pt x="0" y="0"/>
                </a:moveTo>
                <a:lnTo>
                  <a:pt x="0" y="2242"/>
                </a:lnTo>
                <a:lnTo>
                  <a:pt x="3025" y="2242"/>
                </a:lnTo>
              </a:path>
            </a:pathLst>
          </a:custGeom>
          <a:noFill/>
          <a:ln cap="flat" cmpd="sng" w="142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6" name="Google Shape;196;p16"/>
          <p:cNvCxnSpPr/>
          <p:nvPr/>
        </p:nvCxnSpPr>
        <p:spPr>
          <a:xfrm>
            <a:off x="2347912" y="2349500"/>
            <a:ext cx="4389300" cy="3133800"/>
          </a:xfrm>
          <a:prstGeom prst="straightConnector1">
            <a:avLst/>
          </a:prstGeom>
          <a:solidFill>
            <a:srgbClr val="FFFFFF"/>
          </a:solidFill>
          <a:ln cap="flat" cmpd="sng" w="44450">
            <a:solidFill>
              <a:srgbClr val="004C9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7" name="Google Shape;197;p16"/>
          <p:cNvSpPr txBox="1"/>
          <p:nvPr/>
        </p:nvSpPr>
        <p:spPr>
          <a:xfrm>
            <a:off x="5792787" y="5726112"/>
            <a:ext cx="1320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Potatoes (ounces)</a:t>
            </a:r>
            <a:endParaRPr/>
          </a:p>
        </p:txBody>
      </p:sp>
      <p:grpSp>
        <p:nvGrpSpPr>
          <p:cNvPr id="198" name="Google Shape;198;p16"/>
          <p:cNvGrpSpPr/>
          <p:nvPr/>
        </p:nvGrpSpPr>
        <p:grpSpPr>
          <a:xfrm>
            <a:off x="2063750" y="3836987"/>
            <a:ext cx="2463800" cy="1712912"/>
            <a:chOff x="1300" y="2417"/>
            <a:chExt cx="1552" cy="1079"/>
          </a:xfrm>
        </p:grpSpPr>
        <p:sp>
          <p:nvSpPr>
            <p:cNvPr id="199" name="Google Shape;199;p16"/>
            <p:cNvSpPr/>
            <p:nvPr/>
          </p:nvSpPr>
          <p:spPr>
            <a:xfrm>
              <a:off x="1489" y="2462"/>
              <a:ext cx="1363" cy="992"/>
            </a:xfrm>
            <a:custGeom>
              <a:rect b="b" l="l" r="r" t="t"/>
              <a:pathLst>
                <a:path extrusionOk="0" h="992" w="1363">
                  <a:moveTo>
                    <a:pt x="0" y="0"/>
                  </a:moveTo>
                  <a:lnTo>
                    <a:pt x="1363" y="0"/>
                  </a:lnTo>
                  <a:lnTo>
                    <a:pt x="1363" y="992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16"/>
            <p:cNvSpPr txBox="1"/>
            <p:nvPr/>
          </p:nvSpPr>
          <p:spPr>
            <a:xfrm>
              <a:off x="1300" y="2417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  <p:sp>
          <p:nvSpPr>
            <p:cNvPr id="201" name="Google Shape;201;p16"/>
            <p:cNvSpPr txBox="1"/>
            <p:nvPr/>
          </p:nvSpPr>
          <p:spPr>
            <a:xfrm>
              <a:off x="2796" y="3496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/>
            </a:p>
          </p:txBody>
        </p:sp>
      </p:grpSp>
      <p:grpSp>
        <p:nvGrpSpPr>
          <p:cNvPr id="202" name="Google Shape;202;p16"/>
          <p:cNvGrpSpPr/>
          <p:nvPr/>
        </p:nvGrpSpPr>
        <p:grpSpPr>
          <a:xfrm>
            <a:off x="4483100" y="3771900"/>
            <a:ext cx="119062" cy="93662"/>
            <a:chOff x="2824" y="2376"/>
            <a:chExt cx="75" cy="59"/>
          </a:xfrm>
        </p:grpSpPr>
        <p:sp>
          <p:nvSpPr>
            <p:cNvPr id="203" name="Google Shape;203;p16"/>
            <p:cNvSpPr/>
            <p:nvPr/>
          </p:nvSpPr>
          <p:spPr>
            <a:xfrm>
              <a:off x="2824" y="2435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2899" y="2376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sp>
        <p:nvSpPr>
          <p:cNvPr id="205" name="Google Shape;205;p16"/>
          <p:cNvSpPr txBox="1"/>
          <p:nvPr/>
        </p:nvSpPr>
        <p:spPr>
          <a:xfrm>
            <a:off x="2146300" y="5549900"/>
            <a:ext cx="840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177925" y="1906587"/>
            <a:ext cx="102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Meat (ounces)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2874962" y="1552575"/>
            <a:ext cx="11604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The Rancher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4075112" y="1552575"/>
            <a:ext cx="42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4119562" y="1552575"/>
            <a:ext cx="2486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Production Possibilities Frontier</a:t>
            </a:r>
            <a:endParaRPr/>
          </a:p>
        </p:txBody>
      </p:sp>
      <p:grpSp>
        <p:nvGrpSpPr>
          <p:cNvPr id="210" name="Google Shape;210;p16"/>
          <p:cNvGrpSpPr/>
          <p:nvPr/>
        </p:nvGrpSpPr>
        <p:grpSpPr>
          <a:xfrm>
            <a:off x="2063750" y="2260600"/>
            <a:ext cx="4614862" cy="3289299"/>
            <a:chOff x="1300" y="1424"/>
            <a:chExt cx="2907" cy="2072"/>
          </a:xfrm>
        </p:grpSpPr>
        <p:sp>
          <p:nvSpPr>
            <p:cNvPr id="211" name="Google Shape;211;p16"/>
            <p:cNvSpPr/>
            <p:nvPr/>
          </p:nvSpPr>
          <p:spPr>
            <a:xfrm>
              <a:off x="4207" y="3417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451" y="1443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4185" y="3496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48</a:t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1300" y="1424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/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4360862" y="2497137"/>
            <a:ext cx="1984375" cy="1628775"/>
            <a:chOff x="2747" y="1573"/>
            <a:chExt cx="1250" cy="1026"/>
          </a:xfrm>
        </p:grpSpPr>
        <p:sp>
          <p:nvSpPr>
            <p:cNvPr id="216" name="Google Shape;216;p16"/>
            <p:cNvSpPr/>
            <p:nvPr/>
          </p:nvSpPr>
          <p:spPr>
            <a:xfrm>
              <a:off x="3047" y="1573"/>
              <a:ext cx="900" cy="6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7" name="Google Shape;217;p16"/>
            <p:cNvCxnSpPr/>
            <p:nvPr/>
          </p:nvCxnSpPr>
          <p:spPr>
            <a:xfrm flipH="1">
              <a:off x="2747" y="1999"/>
              <a:ext cx="300" cy="60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18" name="Google Shape;218;p16"/>
            <p:cNvSpPr txBox="1"/>
            <p:nvPr/>
          </p:nvSpPr>
          <p:spPr>
            <a:xfrm>
              <a:off x="3097" y="1626"/>
              <a:ext cx="9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If there is no trade, </a:t>
              </a:r>
              <a:endParaRPr/>
            </a:p>
          </p:txBody>
        </p:sp>
        <p:sp>
          <p:nvSpPr>
            <p:cNvPr id="219" name="Google Shape;219;p16"/>
            <p:cNvSpPr txBox="1"/>
            <p:nvPr/>
          </p:nvSpPr>
          <p:spPr>
            <a:xfrm>
              <a:off x="3097" y="1750"/>
              <a:ext cx="9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rancher chooses </a:t>
              </a:r>
              <a:endParaRPr/>
            </a:p>
          </p:txBody>
        </p:sp>
        <p:sp>
          <p:nvSpPr>
            <p:cNvPr id="220" name="Google Shape;220;p16"/>
            <p:cNvSpPr txBox="1"/>
            <p:nvPr/>
          </p:nvSpPr>
          <p:spPr>
            <a:xfrm>
              <a:off x="3097" y="1874"/>
              <a:ext cx="9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this production and </a:t>
              </a:r>
              <a:endParaRPr/>
            </a:p>
          </p:txBody>
        </p:sp>
        <p:sp>
          <p:nvSpPr>
            <p:cNvPr id="221" name="Google Shape;221;p16"/>
            <p:cNvSpPr txBox="1"/>
            <p:nvPr/>
          </p:nvSpPr>
          <p:spPr>
            <a:xfrm>
              <a:off x="3097" y="1998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consumption.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1295400" y="4267200"/>
            <a:ext cx="6858000" cy="131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076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94076"/>
                </a:solidFill>
                <a:latin typeface="Arial"/>
                <a:ea typeface="Arial"/>
                <a:cs typeface="Arial"/>
                <a:sym typeface="Arial"/>
              </a:rPr>
              <a:t>The farmer should produce potatoes.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94076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94076"/>
                </a:solidFill>
                <a:latin typeface="Arial"/>
                <a:ea typeface="Arial"/>
                <a:cs typeface="Arial"/>
                <a:sym typeface="Arial"/>
              </a:rPr>
              <a:t>The rancher should produce meat.</a:t>
            </a:r>
            <a:endParaRPr/>
          </a:p>
        </p:txBody>
      </p:sp>
      <p:sp>
        <p:nvSpPr>
          <p:cNvPr id="234" name="Google Shape;234;p17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Specialization and Trade</a:t>
            </a:r>
            <a:endParaRPr/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Farmer and the Rancher Specialize and Trade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would be better off if they specialized in producing the product they are more suited to produce, and then trade with each other.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2C4C7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700"/>
            <a:ext cx="9144001" cy="684688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>
            <p:ph type="title"/>
          </p:nvPr>
        </p:nvSpPr>
        <p:spPr>
          <a:xfrm>
            <a:off x="457200" y="-2286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Table 2 The Gains from Trade: A Summary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6396037" y="6645275"/>
            <a:ext cx="180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1D72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rgbClr val="411D72"/>
                </a:solidFill>
                <a:latin typeface="Arial"/>
                <a:ea typeface="Arial"/>
                <a:cs typeface="Arial"/>
                <a:sym typeface="Arial"/>
              </a:rPr>
              <a:t>Copyright © 2004  South-Western</a:t>
            </a:r>
            <a:endParaRPr/>
          </a:p>
        </p:txBody>
      </p:sp>
      <p:pic>
        <p:nvPicPr>
          <p:cNvPr id="243" name="Google Shape;243;p18"/>
          <p:cNvPicPr preferRelativeResize="0"/>
          <p:nvPr/>
        </p:nvPicPr>
        <p:blipFill rotWithShape="1">
          <a:blip r:embed="rId4">
            <a:alphaModFix/>
          </a:blip>
          <a:srcRect b="55737" l="0" r="0" t="0"/>
          <a:stretch/>
        </p:blipFill>
        <p:spPr>
          <a:xfrm>
            <a:off x="228600" y="1752600"/>
            <a:ext cx="8683625" cy="205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2C4C7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9"/>
          <p:cNvPicPr preferRelativeResize="0"/>
          <p:nvPr/>
        </p:nvPicPr>
        <p:blipFill rotWithShape="1">
          <a:blip r:embed="rId3">
            <a:alphaModFix/>
          </a:blip>
          <a:srcRect b="0" l="0" r="1691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>
            <p:ph type="title"/>
          </p:nvPr>
        </p:nvSpPr>
        <p:spPr>
          <a:xfrm>
            <a:off x="609600" y="50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Figure 2 How Trade Expands the Set of Consumption Opportunities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6564312" y="6680200"/>
            <a:ext cx="264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Copyright©2003  Southwestern/Thomson Learning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F3F6F9"/>
          </a:solidFill>
          <a:ln cap="flat" cmpd="sng" w="160325">
            <a:solidFill>
              <a:srgbClr val="F3F6F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F2F4F8"/>
          </a:solidFill>
          <a:ln cap="flat" cmpd="sng" w="146050">
            <a:solidFill>
              <a:srgbClr val="F2F4F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F1F4F7"/>
          </a:solidFill>
          <a:ln cap="flat" cmpd="sng" w="130175">
            <a:solidFill>
              <a:srgbClr val="F1F4F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F0F2F5"/>
          </a:solidFill>
          <a:ln cap="flat" cmpd="sng" w="115875">
            <a:solidFill>
              <a:srgbClr val="F0F2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EF1F4"/>
          </a:solidFill>
          <a:ln cap="flat" cmpd="sng" w="101600">
            <a:solidFill>
              <a:srgbClr val="EEF1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DEFF3"/>
          </a:solidFill>
          <a:ln cap="flat" cmpd="sng" w="87300">
            <a:solidFill>
              <a:srgbClr val="EDEFF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BEEF2"/>
          </a:solidFill>
          <a:ln cap="flat" cmpd="sng" w="73025">
            <a:solidFill>
              <a:srgbClr val="EBEE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AECF1"/>
          </a:solidFill>
          <a:ln cap="flat" cmpd="sng" w="58725">
            <a:solidFill>
              <a:srgbClr val="EAECF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9EBF0"/>
          </a:solidFill>
          <a:ln cap="flat" cmpd="sng" w="42850">
            <a:solidFill>
              <a:srgbClr val="E9EB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7EAEF"/>
          </a:solidFill>
          <a:ln cap="flat" cmpd="sng" w="28575">
            <a:solidFill>
              <a:srgbClr val="E7EA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2528887" y="2076450"/>
            <a:ext cx="4738800" cy="3494100"/>
          </a:xfrm>
          <a:prstGeom prst="rect">
            <a:avLst/>
          </a:prstGeom>
          <a:solidFill>
            <a:srgbClr val="E6E9EF"/>
          </a:solidFill>
          <a:ln cap="flat" cmpd="sng" w="14275">
            <a:solidFill>
              <a:srgbClr val="E6E9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455862" y="1989137"/>
            <a:ext cx="4738800" cy="3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2455862" y="1989137"/>
            <a:ext cx="4738688" cy="3495675"/>
          </a:xfrm>
          <a:custGeom>
            <a:rect b="b" l="l" r="r" t="t"/>
            <a:pathLst>
              <a:path extrusionOk="0" h="2202" w="2985">
                <a:moveTo>
                  <a:pt x="0" y="0"/>
                </a:moveTo>
                <a:lnTo>
                  <a:pt x="0" y="2202"/>
                </a:lnTo>
                <a:lnTo>
                  <a:pt x="2985" y="2202"/>
                </a:lnTo>
              </a:path>
            </a:pathLst>
          </a:custGeom>
          <a:noFill/>
          <a:ln cap="flat" cmpd="sng" w="142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4" name="Google Shape;264;p19"/>
          <p:cNvCxnSpPr/>
          <p:nvPr/>
        </p:nvCxnSpPr>
        <p:spPr>
          <a:xfrm>
            <a:off x="2455862" y="3946525"/>
            <a:ext cx="3109800" cy="1538400"/>
          </a:xfrm>
          <a:prstGeom prst="straightConnector1">
            <a:avLst/>
          </a:prstGeom>
          <a:solidFill>
            <a:srgbClr val="FFFFFF"/>
          </a:solidFill>
          <a:ln cap="flat" cmpd="sng" w="42850">
            <a:solidFill>
              <a:srgbClr val="004C9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65" name="Google Shape;265;p19"/>
          <p:cNvSpPr txBox="1"/>
          <p:nvPr/>
        </p:nvSpPr>
        <p:spPr>
          <a:xfrm>
            <a:off x="5861050" y="5522912"/>
            <a:ext cx="14922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Potatoes (ounces)</a:t>
            </a:r>
            <a:endParaRPr/>
          </a:p>
        </p:txBody>
      </p:sp>
      <p:grpSp>
        <p:nvGrpSpPr>
          <p:cNvPr id="266" name="Google Shape;266;p19"/>
          <p:cNvGrpSpPr/>
          <p:nvPr/>
        </p:nvGrpSpPr>
        <p:grpSpPr>
          <a:xfrm>
            <a:off x="2287587" y="4619625"/>
            <a:ext cx="1862137" cy="1168400"/>
            <a:chOff x="1441" y="2910"/>
            <a:chExt cx="1173" cy="736"/>
          </a:xfrm>
        </p:grpSpPr>
        <p:sp>
          <p:nvSpPr>
            <p:cNvPr id="267" name="Google Shape;267;p19"/>
            <p:cNvSpPr/>
            <p:nvPr/>
          </p:nvSpPr>
          <p:spPr>
            <a:xfrm>
              <a:off x="1547" y="2970"/>
              <a:ext cx="980" cy="485"/>
            </a:xfrm>
            <a:custGeom>
              <a:rect b="b" l="l" r="r" t="t"/>
              <a:pathLst>
                <a:path extrusionOk="0" h="485" w="980">
                  <a:moveTo>
                    <a:pt x="0" y="0"/>
                  </a:moveTo>
                  <a:lnTo>
                    <a:pt x="980" y="0"/>
                  </a:lnTo>
                  <a:lnTo>
                    <a:pt x="980" y="485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2435" y="3473"/>
              <a:ext cx="92" cy="173"/>
            </a:xfrm>
            <a:custGeom>
              <a:rect b="b" l="l" r="r" t="t"/>
              <a:pathLst>
                <a:path extrusionOk="0" h="173" w="92">
                  <a:moveTo>
                    <a:pt x="0" y="173"/>
                  </a:moveTo>
                  <a:lnTo>
                    <a:pt x="92" y="173"/>
                  </a:lnTo>
                  <a:lnTo>
                    <a:pt x="92" y="0"/>
                  </a:lnTo>
                </a:path>
              </a:pathLst>
            </a:cu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1441" y="2910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270" name="Google Shape;270;p19"/>
            <p:cNvSpPr txBox="1"/>
            <p:nvPr/>
          </p:nvSpPr>
          <p:spPr>
            <a:xfrm>
              <a:off x="2314" y="3594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</p:grpSp>
      <p:grpSp>
        <p:nvGrpSpPr>
          <p:cNvPr id="271" name="Google Shape;271;p19"/>
          <p:cNvGrpSpPr/>
          <p:nvPr/>
        </p:nvGrpSpPr>
        <p:grpSpPr>
          <a:xfrm>
            <a:off x="2287587" y="4416425"/>
            <a:ext cx="2457449" cy="1371600"/>
            <a:chOff x="1441" y="2782"/>
            <a:chExt cx="1548" cy="864"/>
          </a:xfrm>
        </p:grpSpPr>
        <p:sp>
          <p:nvSpPr>
            <p:cNvPr id="272" name="Google Shape;272;p19"/>
            <p:cNvSpPr/>
            <p:nvPr/>
          </p:nvSpPr>
          <p:spPr>
            <a:xfrm>
              <a:off x="1547" y="2852"/>
              <a:ext cx="1044" cy="603"/>
            </a:xfrm>
            <a:custGeom>
              <a:rect b="b" l="l" r="r" t="t"/>
              <a:pathLst>
                <a:path extrusionOk="0" h="603" w="1044">
                  <a:moveTo>
                    <a:pt x="0" y="0"/>
                  </a:moveTo>
                  <a:lnTo>
                    <a:pt x="1044" y="0"/>
                  </a:lnTo>
                  <a:lnTo>
                    <a:pt x="1044" y="603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2591" y="3473"/>
              <a:ext cx="82" cy="173"/>
            </a:xfrm>
            <a:custGeom>
              <a:rect b="b" l="l" r="r" t="t"/>
              <a:pathLst>
                <a:path extrusionOk="0" h="173" w="82">
                  <a:moveTo>
                    <a:pt x="82" y="173"/>
                  </a:moveTo>
                  <a:lnTo>
                    <a:pt x="0" y="173"/>
                  </a:lnTo>
                  <a:lnTo>
                    <a:pt x="0" y="0"/>
                  </a:lnTo>
                </a:path>
              </a:pathLst>
            </a:cu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1441" y="2782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2689" y="3594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/>
            </a:p>
          </p:txBody>
        </p:sp>
      </p:grpSp>
      <p:grpSp>
        <p:nvGrpSpPr>
          <p:cNvPr id="276" name="Google Shape;276;p19"/>
          <p:cNvGrpSpPr/>
          <p:nvPr/>
        </p:nvGrpSpPr>
        <p:grpSpPr>
          <a:xfrm>
            <a:off x="2287587" y="3836987"/>
            <a:ext cx="3673474" cy="1690687"/>
            <a:chOff x="1441" y="2417"/>
            <a:chExt cx="2314" cy="1065"/>
          </a:xfrm>
        </p:grpSpPr>
        <p:sp>
          <p:nvSpPr>
            <p:cNvPr id="277" name="Google Shape;277;p19"/>
            <p:cNvSpPr/>
            <p:nvPr/>
          </p:nvSpPr>
          <p:spPr>
            <a:xfrm>
              <a:off x="3470" y="3427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1520" y="2450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1441" y="2417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3455" y="3482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32</a:t>
              </a:r>
              <a:endParaRPr/>
            </a:p>
          </p:txBody>
        </p:sp>
      </p:grpSp>
      <p:grpSp>
        <p:nvGrpSpPr>
          <p:cNvPr id="281" name="Google Shape;281;p19"/>
          <p:cNvGrpSpPr/>
          <p:nvPr/>
        </p:nvGrpSpPr>
        <p:grpSpPr>
          <a:xfrm>
            <a:off x="3867150" y="4672012"/>
            <a:ext cx="100012" cy="58737"/>
            <a:chOff x="2436" y="2943"/>
            <a:chExt cx="63" cy="37"/>
          </a:xfrm>
        </p:grpSpPr>
        <p:sp>
          <p:nvSpPr>
            <p:cNvPr id="282" name="Google Shape;282;p19"/>
            <p:cNvSpPr/>
            <p:nvPr/>
          </p:nvSpPr>
          <p:spPr>
            <a:xfrm>
              <a:off x="2499" y="2943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19"/>
            <p:cNvSpPr txBox="1"/>
            <p:nvPr/>
          </p:nvSpPr>
          <p:spPr>
            <a:xfrm>
              <a:off x="2436" y="2980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284" name="Google Shape;284;p19"/>
          <p:cNvGrpSpPr/>
          <p:nvPr/>
        </p:nvGrpSpPr>
        <p:grpSpPr>
          <a:xfrm>
            <a:off x="4068762" y="4344987"/>
            <a:ext cx="612774" cy="138112"/>
            <a:chOff x="2563" y="2737"/>
            <a:chExt cx="386" cy="87"/>
          </a:xfrm>
        </p:grpSpPr>
        <p:sp>
          <p:nvSpPr>
            <p:cNvPr id="285" name="Google Shape;285;p19"/>
            <p:cNvSpPr/>
            <p:nvPr/>
          </p:nvSpPr>
          <p:spPr>
            <a:xfrm>
              <a:off x="2563" y="2824"/>
              <a:ext cx="0" cy="0"/>
            </a:xfrm>
            <a:prstGeom prst="ellipse">
              <a:avLst/>
            </a:prstGeom>
            <a:solidFill>
              <a:srgbClr val="5F161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6" name="Google Shape;286;p19"/>
            <p:cNvSpPr txBox="1"/>
            <p:nvPr/>
          </p:nvSpPr>
          <p:spPr>
            <a:xfrm>
              <a:off x="2649" y="2737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A*</a:t>
              </a:r>
              <a:endParaRPr/>
            </a:p>
          </p:txBody>
        </p:sp>
      </p:grpSp>
      <p:sp>
        <p:nvSpPr>
          <p:cNvPr id="287" name="Google Shape;287;p19"/>
          <p:cNvSpPr txBox="1"/>
          <p:nvPr/>
        </p:nvSpPr>
        <p:spPr>
          <a:xfrm>
            <a:off x="2282825" y="5527675"/>
            <a:ext cx="1635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331912" y="1954212"/>
            <a:ext cx="1173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Meat (ounces)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3181350" y="1601787"/>
            <a:ext cx="12225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The Farmer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4252912" y="1601787"/>
            <a:ext cx="120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4297362" y="1601787"/>
            <a:ext cx="2506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Production and Consumption</a:t>
            </a:r>
            <a:endParaRPr/>
          </a:p>
        </p:txBody>
      </p:sp>
      <p:grpSp>
        <p:nvGrpSpPr>
          <p:cNvPr id="292" name="Google Shape;292;p19"/>
          <p:cNvGrpSpPr/>
          <p:nvPr/>
        </p:nvGrpSpPr>
        <p:grpSpPr>
          <a:xfrm>
            <a:off x="4246562" y="3773487"/>
            <a:ext cx="1876424" cy="952500"/>
            <a:chOff x="2675" y="2377"/>
            <a:chExt cx="1182" cy="600"/>
          </a:xfrm>
        </p:grpSpPr>
        <p:cxnSp>
          <p:nvCxnSpPr>
            <p:cNvPr id="293" name="Google Shape;293;p19"/>
            <p:cNvCxnSpPr/>
            <p:nvPr/>
          </p:nvCxnSpPr>
          <p:spPr>
            <a:xfrm rot="10800000">
              <a:off x="2675" y="2852"/>
              <a:ext cx="300" cy="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94" name="Google Shape;294;p19"/>
            <p:cNvSpPr/>
            <p:nvPr/>
          </p:nvSpPr>
          <p:spPr>
            <a:xfrm>
              <a:off x="2957" y="2377"/>
              <a:ext cx="900" cy="6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3008" y="2414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Farmer's </a:t>
              </a:r>
              <a:endParaRPr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3008" y="2536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production and </a:t>
              </a:r>
              <a:endParaRPr/>
            </a:p>
          </p:txBody>
        </p:sp>
        <p:sp>
          <p:nvSpPr>
            <p:cNvPr id="297" name="Google Shape;297;p19"/>
            <p:cNvSpPr txBox="1"/>
            <p:nvPr/>
          </p:nvSpPr>
          <p:spPr>
            <a:xfrm>
              <a:off x="3008" y="2658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consumption </a:t>
              </a:r>
              <a:endParaRPr/>
            </a:p>
          </p:txBody>
        </p:sp>
        <p:sp>
          <p:nvSpPr>
            <p:cNvPr id="298" name="Google Shape;298;p19"/>
            <p:cNvSpPr txBox="1"/>
            <p:nvPr/>
          </p:nvSpPr>
          <p:spPr>
            <a:xfrm>
              <a:off x="3008" y="2779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without trade</a:t>
              </a:r>
              <a:endParaRPr/>
            </a:p>
          </p:txBody>
        </p:sp>
      </p:grpSp>
      <p:grpSp>
        <p:nvGrpSpPr>
          <p:cNvPr id="299" name="Google Shape;299;p19"/>
          <p:cNvGrpSpPr/>
          <p:nvPr/>
        </p:nvGrpSpPr>
        <p:grpSpPr>
          <a:xfrm>
            <a:off x="3502025" y="3265487"/>
            <a:ext cx="1038225" cy="1114425"/>
            <a:chOff x="2206" y="2057"/>
            <a:chExt cx="654" cy="702"/>
          </a:xfrm>
        </p:grpSpPr>
        <p:cxnSp>
          <p:nvCxnSpPr>
            <p:cNvPr id="300" name="Google Shape;300;p19"/>
            <p:cNvCxnSpPr/>
            <p:nvPr/>
          </p:nvCxnSpPr>
          <p:spPr>
            <a:xfrm>
              <a:off x="2527" y="2459"/>
              <a:ext cx="0" cy="30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1" name="Google Shape;301;p19"/>
            <p:cNvSpPr/>
            <p:nvPr/>
          </p:nvSpPr>
          <p:spPr>
            <a:xfrm>
              <a:off x="2206" y="2057"/>
              <a:ext cx="600" cy="3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2260" y="2098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Farmer's </a:t>
              </a:r>
              <a:endParaRPr/>
            </a:p>
          </p:txBody>
        </p:sp>
        <p:sp>
          <p:nvSpPr>
            <p:cNvPr id="303" name="Google Shape;303;p19"/>
            <p:cNvSpPr txBox="1"/>
            <p:nvPr/>
          </p:nvSpPr>
          <p:spPr>
            <a:xfrm>
              <a:off x="2260" y="2220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consumption </a:t>
              </a:r>
              <a:endParaRPr/>
            </a:p>
          </p:txBody>
        </p:sp>
        <p:sp>
          <p:nvSpPr>
            <p:cNvPr id="304" name="Google Shape;304;p19"/>
            <p:cNvSpPr txBox="1"/>
            <p:nvPr/>
          </p:nvSpPr>
          <p:spPr>
            <a:xfrm>
              <a:off x="2260" y="2341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with trade</a:t>
              </a:r>
              <a:endParaRPr/>
            </a:p>
          </p:txBody>
        </p:sp>
      </p:grpSp>
      <p:grpSp>
        <p:nvGrpSpPr>
          <p:cNvPr id="305" name="Google Shape;305;p19"/>
          <p:cNvGrpSpPr/>
          <p:nvPr/>
        </p:nvGrpSpPr>
        <p:grpSpPr>
          <a:xfrm>
            <a:off x="5726112" y="4730750"/>
            <a:ext cx="1035050" cy="550862"/>
            <a:chOff x="3607" y="2980"/>
            <a:chExt cx="652" cy="347"/>
          </a:xfrm>
        </p:grpSpPr>
        <p:cxnSp>
          <p:nvCxnSpPr>
            <p:cNvPr id="306" name="Google Shape;306;p19"/>
            <p:cNvCxnSpPr/>
            <p:nvPr/>
          </p:nvCxnSpPr>
          <p:spPr>
            <a:xfrm>
              <a:off x="3635" y="3327"/>
              <a:ext cx="0" cy="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7" name="Google Shape;307;p19"/>
            <p:cNvSpPr/>
            <p:nvPr/>
          </p:nvSpPr>
          <p:spPr>
            <a:xfrm>
              <a:off x="3607" y="2980"/>
              <a:ext cx="600" cy="3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" name="Google Shape;308;p19"/>
            <p:cNvSpPr txBox="1"/>
            <p:nvPr/>
          </p:nvSpPr>
          <p:spPr>
            <a:xfrm>
              <a:off x="3659" y="3013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Farmer's </a:t>
              </a:r>
              <a:endParaRPr/>
            </a:p>
          </p:txBody>
        </p:sp>
        <p:sp>
          <p:nvSpPr>
            <p:cNvPr id="309" name="Google Shape;309;p19"/>
            <p:cNvSpPr txBox="1"/>
            <p:nvPr/>
          </p:nvSpPr>
          <p:spPr>
            <a:xfrm>
              <a:off x="3659" y="3135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production </a:t>
              </a:r>
              <a:endParaRPr/>
            </a:p>
          </p:txBody>
        </p:sp>
        <p:sp>
          <p:nvSpPr>
            <p:cNvPr id="310" name="Google Shape;310;p19"/>
            <p:cNvSpPr txBox="1"/>
            <p:nvPr/>
          </p:nvSpPr>
          <p:spPr>
            <a:xfrm>
              <a:off x="3659" y="3257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with trade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1691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0"/>
          <p:cNvSpPr txBox="1"/>
          <p:nvPr>
            <p:ph type="title"/>
          </p:nvPr>
        </p:nvSpPr>
        <p:spPr>
          <a:xfrm>
            <a:off x="609600" y="50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Figure 2 How Trade Expands the Set of Consumption Opportunities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6564312" y="6680200"/>
            <a:ext cx="180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2004  South-Western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F3F6F9"/>
          </a:solidFill>
          <a:ln cap="flat" cmpd="sng" w="160325">
            <a:solidFill>
              <a:srgbClr val="F3F6F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F2F4F8"/>
          </a:solidFill>
          <a:ln cap="flat" cmpd="sng" w="146050">
            <a:solidFill>
              <a:srgbClr val="F2F4F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F1F4F7"/>
          </a:solidFill>
          <a:ln cap="flat" cmpd="sng" w="130175">
            <a:solidFill>
              <a:srgbClr val="F1F4F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F0F2F5"/>
          </a:solidFill>
          <a:ln cap="flat" cmpd="sng" w="115875">
            <a:solidFill>
              <a:srgbClr val="F0F2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EF1F4"/>
          </a:solidFill>
          <a:ln cap="flat" cmpd="sng" w="101600">
            <a:solidFill>
              <a:srgbClr val="EEF1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DEFF3"/>
          </a:solidFill>
          <a:ln cap="flat" cmpd="sng" w="87300">
            <a:solidFill>
              <a:srgbClr val="EDEFF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BEEF2"/>
          </a:solidFill>
          <a:ln cap="flat" cmpd="sng" w="73025">
            <a:solidFill>
              <a:srgbClr val="EBEEF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AECF1"/>
          </a:solidFill>
          <a:ln cap="flat" cmpd="sng" w="58725">
            <a:solidFill>
              <a:srgbClr val="EAECF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9EBF0"/>
          </a:solidFill>
          <a:ln cap="flat" cmpd="sng" w="42850">
            <a:solidFill>
              <a:srgbClr val="E9EB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7EAEF"/>
          </a:solidFill>
          <a:ln cap="flat" cmpd="sng" w="28575">
            <a:solidFill>
              <a:srgbClr val="E7EA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2719387" y="2101850"/>
            <a:ext cx="4738800" cy="3494100"/>
          </a:xfrm>
          <a:prstGeom prst="rect">
            <a:avLst/>
          </a:prstGeom>
          <a:solidFill>
            <a:srgbClr val="E6E9EF"/>
          </a:solidFill>
          <a:ln cap="flat" cmpd="sng" w="14275">
            <a:solidFill>
              <a:srgbClr val="E6E9E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2646362" y="2000250"/>
            <a:ext cx="4738800" cy="350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2646362" y="2000250"/>
            <a:ext cx="4738688" cy="3508375"/>
          </a:xfrm>
          <a:custGeom>
            <a:rect b="b" l="l" r="r" t="t"/>
            <a:pathLst>
              <a:path extrusionOk="0" h="2210" w="2985">
                <a:moveTo>
                  <a:pt x="0" y="0"/>
                </a:moveTo>
                <a:lnTo>
                  <a:pt x="0" y="2210"/>
                </a:lnTo>
                <a:lnTo>
                  <a:pt x="2985" y="2210"/>
                </a:lnTo>
              </a:path>
            </a:pathLst>
          </a:custGeom>
          <a:noFill/>
          <a:ln cap="flat" cmpd="sng" w="142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20"/>
          <p:cNvCxnSpPr/>
          <p:nvPr/>
        </p:nvCxnSpPr>
        <p:spPr>
          <a:xfrm>
            <a:off x="2646362" y="2420937"/>
            <a:ext cx="4332300" cy="3087600"/>
          </a:xfrm>
          <a:prstGeom prst="straightConnector1">
            <a:avLst/>
          </a:prstGeom>
          <a:solidFill>
            <a:srgbClr val="FFFFFF"/>
          </a:solidFill>
          <a:ln cap="flat" cmpd="sng" w="42850">
            <a:solidFill>
              <a:srgbClr val="004C9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2" name="Google Shape;332;p20"/>
          <p:cNvSpPr txBox="1"/>
          <p:nvPr/>
        </p:nvSpPr>
        <p:spPr>
          <a:xfrm>
            <a:off x="6051550" y="5711825"/>
            <a:ext cx="1320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Potatoes (ounces)</a:t>
            </a:r>
            <a:endParaRPr/>
          </a:p>
        </p:txBody>
      </p:sp>
      <p:grpSp>
        <p:nvGrpSpPr>
          <p:cNvPr id="333" name="Google Shape;333;p20"/>
          <p:cNvGrpSpPr/>
          <p:nvPr/>
        </p:nvGrpSpPr>
        <p:grpSpPr>
          <a:xfrm>
            <a:off x="2265362" y="3957637"/>
            <a:ext cx="2532062" cy="1579563"/>
            <a:chOff x="1427" y="2493"/>
            <a:chExt cx="1595" cy="995"/>
          </a:xfrm>
        </p:grpSpPr>
        <p:sp>
          <p:nvSpPr>
            <p:cNvPr id="334" name="Google Shape;334;p20"/>
            <p:cNvSpPr/>
            <p:nvPr/>
          </p:nvSpPr>
          <p:spPr>
            <a:xfrm>
              <a:off x="1676" y="2493"/>
              <a:ext cx="1346" cy="977"/>
            </a:xfrm>
            <a:custGeom>
              <a:rect b="b" l="l" r="r" t="t"/>
              <a:pathLst>
                <a:path extrusionOk="0" h="977" w="1346">
                  <a:moveTo>
                    <a:pt x="0" y="0"/>
                  </a:moveTo>
                  <a:lnTo>
                    <a:pt x="1346" y="0"/>
                  </a:lnTo>
                  <a:lnTo>
                    <a:pt x="1346" y="977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1475" y="2493"/>
              <a:ext cx="174" cy="82"/>
            </a:xfrm>
            <a:custGeom>
              <a:rect b="b" l="l" r="r" t="t"/>
              <a:pathLst>
                <a:path extrusionOk="0" h="82" w="174">
                  <a:moveTo>
                    <a:pt x="0" y="82"/>
                  </a:moveTo>
                  <a:lnTo>
                    <a:pt x="0" y="0"/>
                  </a:lnTo>
                  <a:lnTo>
                    <a:pt x="174" y="0"/>
                  </a:lnTo>
                </a:path>
              </a:pathLst>
            </a:cu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20"/>
            <p:cNvSpPr txBox="1"/>
            <p:nvPr/>
          </p:nvSpPr>
          <p:spPr>
            <a:xfrm>
              <a:off x="1427" y="2570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  <p:sp>
          <p:nvSpPr>
            <p:cNvPr id="337" name="Google Shape;337;p20"/>
            <p:cNvSpPr txBox="1"/>
            <p:nvPr/>
          </p:nvSpPr>
          <p:spPr>
            <a:xfrm>
              <a:off x="2976" y="3488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/>
            </a:p>
          </p:txBody>
        </p:sp>
      </p:grpSp>
      <p:grpSp>
        <p:nvGrpSpPr>
          <p:cNvPr id="338" name="Google Shape;338;p20"/>
          <p:cNvGrpSpPr/>
          <p:nvPr/>
        </p:nvGrpSpPr>
        <p:grpSpPr>
          <a:xfrm>
            <a:off x="2265362" y="3509962"/>
            <a:ext cx="2822574" cy="2027238"/>
            <a:chOff x="1427" y="2211"/>
            <a:chExt cx="1778" cy="1277"/>
          </a:xfrm>
        </p:grpSpPr>
        <p:sp>
          <p:nvSpPr>
            <p:cNvPr id="339" name="Google Shape;339;p20"/>
            <p:cNvSpPr/>
            <p:nvPr/>
          </p:nvSpPr>
          <p:spPr>
            <a:xfrm>
              <a:off x="1676" y="2420"/>
              <a:ext cx="1529" cy="1050"/>
            </a:xfrm>
            <a:custGeom>
              <a:rect b="b" l="l" r="r" t="t"/>
              <a:pathLst>
                <a:path extrusionOk="0" h="1050" w="1529">
                  <a:moveTo>
                    <a:pt x="0" y="0"/>
                  </a:moveTo>
                  <a:lnTo>
                    <a:pt x="1529" y="0"/>
                  </a:lnTo>
                  <a:lnTo>
                    <a:pt x="1529" y="1050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1475" y="2328"/>
              <a:ext cx="174" cy="92"/>
            </a:xfrm>
            <a:custGeom>
              <a:rect b="b" l="l" r="r" t="t"/>
              <a:pathLst>
                <a:path extrusionOk="0" h="92" w="174">
                  <a:moveTo>
                    <a:pt x="0" y="0"/>
                  </a:moveTo>
                  <a:lnTo>
                    <a:pt x="0" y="92"/>
                  </a:lnTo>
                  <a:lnTo>
                    <a:pt x="174" y="92"/>
                  </a:lnTo>
                </a:path>
              </a:pathLst>
            </a:cu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p20"/>
            <p:cNvSpPr txBox="1"/>
            <p:nvPr/>
          </p:nvSpPr>
          <p:spPr>
            <a:xfrm>
              <a:off x="1427" y="2211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  <p:sp>
          <p:nvSpPr>
            <p:cNvPr id="342" name="Google Shape;342;p20"/>
            <p:cNvSpPr txBox="1"/>
            <p:nvPr/>
          </p:nvSpPr>
          <p:spPr>
            <a:xfrm>
              <a:off x="3152" y="3488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/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4670425" y="3913187"/>
            <a:ext cx="84137" cy="65087"/>
            <a:chOff x="2942" y="2465"/>
            <a:chExt cx="53" cy="41"/>
          </a:xfrm>
        </p:grpSpPr>
        <p:sp>
          <p:nvSpPr>
            <p:cNvPr id="344" name="Google Shape;344;p20"/>
            <p:cNvSpPr/>
            <p:nvPr/>
          </p:nvSpPr>
          <p:spPr>
            <a:xfrm>
              <a:off x="2995" y="2465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p20"/>
            <p:cNvSpPr txBox="1"/>
            <p:nvPr/>
          </p:nvSpPr>
          <p:spPr>
            <a:xfrm>
              <a:off x="2942" y="2506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sp>
        <p:nvSpPr>
          <p:cNvPr id="346" name="Google Shape;346;p20"/>
          <p:cNvSpPr txBox="1"/>
          <p:nvPr/>
        </p:nvSpPr>
        <p:spPr>
          <a:xfrm>
            <a:off x="2473325" y="5537200"/>
            <a:ext cx="840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522412" y="1965325"/>
            <a:ext cx="1023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Meat (ounces)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3367087" y="1617662"/>
            <a:ext cx="11604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The Rancher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4540250" y="1617662"/>
            <a:ext cx="42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4584700" y="1617662"/>
            <a:ext cx="2274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Production and Consumption</a:t>
            </a:r>
            <a:endParaRPr/>
          </a:p>
        </p:txBody>
      </p:sp>
      <p:grpSp>
        <p:nvGrpSpPr>
          <p:cNvPr id="351" name="Google Shape;351;p20"/>
          <p:cNvGrpSpPr/>
          <p:nvPr/>
        </p:nvGrpSpPr>
        <p:grpSpPr>
          <a:xfrm>
            <a:off x="2392362" y="2312987"/>
            <a:ext cx="4527550" cy="3224213"/>
            <a:chOff x="1507" y="1457"/>
            <a:chExt cx="2852" cy="2031"/>
          </a:xfrm>
        </p:grpSpPr>
        <p:sp>
          <p:nvSpPr>
            <p:cNvPr id="352" name="Google Shape;352;p20"/>
            <p:cNvSpPr/>
            <p:nvPr/>
          </p:nvSpPr>
          <p:spPr>
            <a:xfrm>
              <a:off x="4359" y="3434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1640" y="1488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p20"/>
            <p:cNvSpPr txBox="1"/>
            <p:nvPr/>
          </p:nvSpPr>
          <p:spPr>
            <a:xfrm>
              <a:off x="4339" y="3488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48</a:t>
              </a:r>
              <a:endParaRPr/>
            </a:p>
          </p:txBody>
        </p:sp>
        <p:sp>
          <p:nvSpPr>
            <p:cNvPr id="355" name="Google Shape;355;p20"/>
            <p:cNvSpPr txBox="1"/>
            <p:nvPr/>
          </p:nvSpPr>
          <p:spPr>
            <a:xfrm>
              <a:off x="1507" y="1457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/>
            </a:p>
          </p:txBody>
        </p:sp>
      </p:grpSp>
      <p:grpSp>
        <p:nvGrpSpPr>
          <p:cNvPr id="356" name="Google Shape;356;p20"/>
          <p:cNvGrpSpPr/>
          <p:nvPr/>
        </p:nvGrpSpPr>
        <p:grpSpPr>
          <a:xfrm>
            <a:off x="2392362" y="3074987"/>
            <a:ext cx="1330325" cy="2462213"/>
            <a:chOff x="1507" y="1937"/>
            <a:chExt cx="838" cy="1551"/>
          </a:xfrm>
        </p:grpSpPr>
        <p:sp>
          <p:nvSpPr>
            <p:cNvPr id="357" name="Google Shape;357;p20"/>
            <p:cNvSpPr/>
            <p:nvPr/>
          </p:nvSpPr>
          <p:spPr>
            <a:xfrm>
              <a:off x="1676" y="2009"/>
              <a:ext cx="669" cy="1461"/>
            </a:xfrm>
            <a:custGeom>
              <a:rect b="b" l="l" r="r" t="t"/>
              <a:pathLst>
                <a:path extrusionOk="0" h="1461" w="669">
                  <a:moveTo>
                    <a:pt x="0" y="0"/>
                  </a:moveTo>
                  <a:lnTo>
                    <a:pt x="669" y="0"/>
                  </a:lnTo>
                  <a:lnTo>
                    <a:pt x="669" y="1461"/>
                  </a:lnTo>
                </a:path>
              </a:pathLst>
            </a:custGeom>
            <a:noFill/>
            <a:ln cap="flat" cmpd="sng" w="142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p20"/>
            <p:cNvSpPr txBox="1"/>
            <p:nvPr/>
          </p:nvSpPr>
          <p:spPr>
            <a:xfrm>
              <a:off x="2294" y="3488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  <p:sp>
          <p:nvSpPr>
            <p:cNvPr id="359" name="Google Shape;359;p20"/>
            <p:cNvSpPr txBox="1"/>
            <p:nvPr/>
          </p:nvSpPr>
          <p:spPr>
            <a:xfrm>
              <a:off x="1507" y="1937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/>
            </a:p>
          </p:txBody>
        </p:sp>
      </p:grpSp>
      <p:grpSp>
        <p:nvGrpSpPr>
          <p:cNvPr id="360" name="Google Shape;360;p20"/>
          <p:cNvGrpSpPr/>
          <p:nvPr/>
        </p:nvGrpSpPr>
        <p:grpSpPr>
          <a:xfrm>
            <a:off x="5045075" y="3654425"/>
            <a:ext cx="133349" cy="142875"/>
            <a:chOff x="3178" y="2302"/>
            <a:chExt cx="84" cy="90"/>
          </a:xfrm>
        </p:grpSpPr>
        <p:sp>
          <p:nvSpPr>
            <p:cNvPr id="361" name="Google Shape;361;p20"/>
            <p:cNvSpPr/>
            <p:nvPr/>
          </p:nvSpPr>
          <p:spPr>
            <a:xfrm>
              <a:off x="3178" y="2392"/>
              <a:ext cx="0" cy="0"/>
            </a:xfrm>
            <a:prstGeom prst="ellipse">
              <a:avLst/>
            </a:prstGeom>
            <a:solidFill>
              <a:srgbClr val="5F161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20"/>
            <p:cNvSpPr txBox="1"/>
            <p:nvPr/>
          </p:nvSpPr>
          <p:spPr>
            <a:xfrm>
              <a:off x="3262" y="2302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B*</a:t>
              </a:r>
              <a:endParaRPr/>
            </a:p>
          </p:txBody>
        </p:sp>
      </p:grpSp>
      <p:grpSp>
        <p:nvGrpSpPr>
          <p:cNvPr id="363" name="Google Shape;363;p20"/>
          <p:cNvGrpSpPr/>
          <p:nvPr/>
        </p:nvGrpSpPr>
        <p:grpSpPr>
          <a:xfrm>
            <a:off x="4918074" y="2681287"/>
            <a:ext cx="1309688" cy="925512"/>
            <a:chOff x="3098" y="1689"/>
            <a:chExt cx="825" cy="583"/>
          </a:xfrm>
        </p:grpSpPr>
        <p:cxnSp>
          <p:nvCxnSpPr>
            <p:cNvPr id="364" name="Google Shape;364;p20"/>
            <p:cNvCxnSpPr/>
            <p:nvPr/>
          </p:nvCxnSpPr>
          <p:spPr>
            <a:xfrm flipH="1">
              <a:off x="3098" y="1972"/>
              <a:ext cx="300" cy="30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65" name="Google Shape;365;p20"/>
            <p:cNvSpPr/>
            <p:nvPr/>
          </p:nvSpPr>
          <p:spPr>
            <a:xfrm>
              <a:off x="3269" y="1689"/>
              <a:ext cx="600" cy="3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6" name="Google Shape;366;p20"/>
            <p:cNvSpPr txBox="1"/>
            <p:nvPr/>
          </p:nvSpPr>
          <p:spPr>
            <a:xfrm>
              <a:off x="3323" y="1724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Rancher's </a:t>
              </a:r>
              <a:endParaRPr/>
            </a:p>
          </p:txBody>
        </p:sp>
        <p:sp>
          <p:nvSpPr>
            <p:cNvPr id="367" name="Google Shape;367;p20"/>
            <p:cNvSpPr txBox="1"/>
            <p:nvPr/>
          </p:nvSpPr>
          <p:spPr>
            <a:xfrm>
              <a:off x="3323" y="1846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consumption </a:t>
              </a:r>
              <a:endParaRPr/>
            </a:p>
          </p:txBody>
        </p:sp>
        <p:sp>
          <p:nvSpPr>
            <p:cNvPr id="368" name="Google Shape;368;p20"/>
            <p:cNvSpPr txBox="1"/>
            <p:nvPr/>
          </p:nvSpPr>
          <p:spPr>
            <a:xfrm>
              <a:off x="3323" y="196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with trade</a:t>
              </a:r>
              <a:endParaRPr/>
            </a:p>
          </p:txBody>
        </p:sp>
      </p:grpSp>
      <p:grpSp>
        <p:nvGrpSpPr>
          <p:cNvPr id="369" name="Google Shape;369;p20"/>
          <p:cNvGrpSpPr/>
          <p:nvPr/>
        </p:nvGrpSpPr>
        <p:grpSpPr>
          <a:xfrm>
            <a:off x="3678237" y="2217737"/>
            <a:ext cx="1177925" cy="971549"/>
            <a:chOff x="2317" y="1397"/>
            <a:chExt cx="742" cy="612"/>
          </a:xfrm>
        </p:grpSpPr>
        <p:sp>
          <p:nvSpPr>
            <p:cNvPr id="370" name="Google Shape;370;p20"/>
            <p:cNvSpPr/>
            <p:nvPr/>
          </p:nvSpPr>
          <p:spPr>
            <a:xfrm>
              <a:off x="2317" y="1981"/>
              <a:ext cx="0" cy="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71" name="Google Shape;371;p20"/>
            <p:cNvGrpSpPr/>
            <p:nvPr/>
          </p:nvGrpSpPr>
          <p:grpSpPr>
            <a:xfrm>
              <a:off x="2345" y="1397"/>
              <a:ext cx="714" cy="612"/>
              <a:chOff x="2345" y="1397"/>
              <a:chExt cx="714" cy="612"/>
            </a:xfrm>
          </p:grpSpPr>
          <p:cxnSp>
            <p:nvCxnSpPr>
              <p:cNvPr id="372" name="Google Shape;372;p20"/>
              <p:cNvCxnSpPr/>
              <p:nvPr/>
            </p:nvCxnSpPr>
            <p:spPr>
              <a:xfrm>
                <a:off x="2345" y="1709"/>
                <a:ext cx="0" cy="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275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373" name="Google Shape;373;p20"/>
              <p:cNvSpPr/>
              <p:nvPr/>
            </p:nvSpPr>
            <p:spPr>
              <a:xfrm>
                <a:off x="2400" y="1397"/>
                <a:ext cx="600" cy="3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4" name="Google Shape;374;p20"/>
              <p:cNvSpPr txBox="1"/>
              <p:nvPr/>
            </p:nvSpPr>
            <p:spPr>
              <a:xfrm>
                <a:off x="2459" y="1429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Rancher's </a:t>
                </a:r>
                <a:endParaRPr/>
              </a:p>
            </p:txBody>
          </p:sp>
          <p:sp>
            <p:nvSpPr>
              <p:cNvPr id="375" name="Google Shape;375;p20"/>
              <p:cNvSpPr txBox="1"/>
              <p:nvPr/>
            </p:nvSpPr>
            <p:spPr>
              <a:xfrm>
                <a:off x="2459" y="1551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production </a:t>
                </a:r>
                <a:endParaRPr/>
              </a:p>
            </p:txBody>
          </p:sp>
          <p:sp>
            <p:nvSpPr>
              <p:cNvPr id="376" name="Google Shape;376;p20"/>
              <p:cNvSpPr txBox="1"/>
              <p:nvPr/>
            </p:nvSpPr>
            <p:spPr>
              <a:xfrm>
                <a:off x="2459" y="167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with trade</a:t>
                </a:r>
                <a:endParaRPr/>
              </a:p>
            </p:txBody>
          </p:sp>
        </p:grpSp>
      </p:grpSp>
      <p:grpSp>
        <p:nvGrpSpPr>
          <p:cNvPr id="377" name="Google Shape;377;p20"/>
          <p:cNvGrpSpPr/>
          <p:nvPr/>
        </p:nvGrpSpPr>
        <p:grpSpPr>
          <a:xfrm>
            <a:off x="4811712" y="3638550"/>
            <a:ext cx="2533650" cy="952499"/>
            <a:chOff x="3031" y="2292"/>
            <a:chExt cx="1596" cy="600"/>
          </a:xfrm>
        </p:grpSpPr>
        <p:cxnSp>
          <p:nvCxnSpPr>
            <p:cNvPr id="378" name="Google Shape;378;p20"/>
            <p:cNvCxnSpPr/>
            <p:nvPr/>
          </p:nvCxnSpPr>
          <p:spPr>
            <a:xfrm>
              <a:off x="3031" y="2493"/>
              <a:ext cx="600" cy="0"/>
            </a:xfrm>
            <a:prstGeom prst="straightConnector1">
              <a:avLst/>
            </a:prstGeom>
            <a:solidFill>
              <a:srgbClr val="FFFFFF"/>
            </a:solidFill>
            <a:ln cap="flat" cmpd="sng" w="1427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79" name="Google Shape;379;p20"/>
            <p:cNvSpPr/>
            <p:nvPr/>
          </p:nvSpPr>
          <p:spPr>
            <a:xfrm>
              <a:off x="3727" y="2292"/>
              <a:ext cx="900" cy="60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p20"/>
            <p:cNvSpPr txBox="1"/>
            <p:nvPr/>
          </p:nvSpPr>
          <p:spPr>
            <a:xfrm>
              <a:off x="3779" y="2326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Rancher's </a:t>
              </a:r>
              <a:endParaRPr/>
            </a:p>
          </p:txBody>
        </p:sp>
        <p:sp>
          <p:nvSpPr>
            <p:cNvPr id="381" name="Google Shape;381;p20"/>
            <p:cNvSpPr txBox="1"/>
            <p:nvPr/>
          </p:nvSpPr>
          <p:spPr>
            <a:xfrm>
              <a:off x="3779" y="2448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production and </a:t>
              </a:r>
              <a:endParaRPr/>
            </a:p>
          </p:txBody>
        </p:sp>
        <p:sp>
          <p:nvSpPr>
            <p:cNvPr id="382" name="Google Shape;382;p20"/>
            <p:cNvSpPr txBox="1"/>
            <p:nvPr/>
          </p:nvSpPr>
          <p:spPr>
            <a:xfrm>
              <a:off x="3779" y="2570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consumption </a:t>
              </a:r>
              <a:endParaRPr/>
            </a:p>
          </p:txBody>
        </p:sp>
        <p:sp>
          <p:nvSpPr>
            <p:cNvPr id="383" name="Google Shape;383;p20"/>
            <p:cNvSpPr txBox="1"/>
            <p:nvPr/>
          </p:nvSpPr>
          <p:spPr>
            <a:xfrm>
              <a:off x="3779" y="2691"/>
              <a:ext cx="6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without trade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2C4C7C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700"/>
            <a:ext cx="9144001" cy="684688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1"/>
          <p:cNvSpPr txBox="1"/>
          <p:nvPr>
            <p:ph type="title"/>
          </p:nvPr>
        </p:nvSpPr>
        <p:spPr>
          <a:xfrm>
            <a:off x="457200" y="-2286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Table 2 The Gains from Trade: A Summary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6396037" y="6645275"/>
            <a:ext cx="1803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1D72"/>
              </a:buClr>
              <a:buSzPts val="800"/>
              <a:buFont typeface="Arial"/>
              <a:buNone/>
            </a:pPr>
            <a:r>
              <a:rPr b="1" i="0" lang="en-US" sz="800" u="none">
                <a:solidFill>
                  <a:srgbClr val="411D72"/>
                </a:solidFill>
                <a:latin typeface="Arial"/>
                <a:ea typeface="Arial"/>
                <a:cs typeface="Arial"/>
                <a:sym typeface="Arial"/>
              </a:rPr>
              <a:t>Copyright © 2004  South-Western</a:t>
            </a:r>
            <a:endParaRPr/>
          </a:p>
        </p:txBody>
      </p:sp>
      <p:pic>
        <p:nvPicPr>
          <p:cNvPr id="391" name="Google Shape;391;p21"/>
          <p:cNvPicPr preferRelativeResize="0"/>
          <p:nvPr/>
        </p:nvPicPr>
        <p:blipFill rotWithShape="1">
          <a:blip r:embed="rId4">
            <a:alphaModFix/>
          </a:blip>
          <a:srcRect b="-3274" l="0" r="0" t="0"/>
          <a:stretch/>
        </p:blipFill>
        <p:spPr>
          <a:xfrm>
            <a:off x="228600" y="1752600"/>
            <a:ext cx="8683625" cy="480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990600" y="4191000"/>
            <a:ext cx="70866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076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94076"/>
                </a:solidFill>
                <a:latin typeface="Arial"/>
                <a:ea typeface="Arial"/>
                <a:cs typeface="Arial"/>
                <a:sym typeface="Arial"/>
              </a:rPr>
              <a:t>Who can produce potatoes at a lower cost--the farmer or the rancher?</a:t>
            </a:r>
            <a:endParaRPr/>
          </a:p>
        </p:txBody>
      </p:sp>
      <p:sp>
        <p:nvSpPr>
          <p:cNvPr id="404" name="Google Shape;404;p22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THE PRINCIPLE OF COMPARATIVE ADVANTAGE</a:t>
            </a:r>
            <a:endParaRPr/>
          </a:p>
        </p:txBody>
      </p:sp>
      <p:sp>
        <p:nvSpPr>
          <p:cNvPr id="405" name="Google Shape;405;p22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the costs of production determine the following: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should produce what?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should be traded for each product?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THE PRINCIPLE OF COMPARATIVE ADVANTAGE </a:t>
            </a:r>
            <a:endParaRPr/>
          </a:p>
        </p:txBody>
      </p:sp>
      <p:sp>
        <p:nvSpPr>
          <p:cNvPr id="412" name="Google Shape;412;p23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Costs of Production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ways to measure differences in costs of production: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hours required to produce a unit of output (for example, one pound of potatoes).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opportunity cost of sacrificing one good for another.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4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Absolute Advantage</a:t>
            </a:r>
            <a:endParaRPr/>
          </a:p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comparison among producers of a good according to their productivity—</a:t>
            </a:r>
            <a:r>
              <a:rPr b="0" i="1" lang="en-US" sz="2800" u="none">
                <a:solidFill>
                  <a:srgbClr val="25A9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absolute advantage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Describes the productivity of one person, firm, or nation compared to that of another.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producer that requires a smaller quantity of inputs to produce a good is said to have an absolute advantage in producing that good.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/>
          <p:nvPr/>
        </p:nvSpPr>
        <p:spPr>
          <a:xfrm>
            <a:off x="609600" y="4724400"/>
            <a:ext cx="80772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076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94076"/>
                </a:solidFill>
                <a:latin typeface="Arial"/>
                <a:ea typeface="Arial"/>
                <a:cs typeface="Arial"/>
                <a:sym typeface="Arial"/>
              </a:rPr>
              <a:t>The Rancher has an absolute advantage in the production of both meat and potatoes.</a:t>
            </a:r>
            <a:endParaRPr/>
          </a:p>
        </p:txBody>
      </p:sp>
      <p:sp>
        <p:nvSpPr>
          <p:cNvPr id="431" name="Google Shape;431;p25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Absolute Advantage</a:t>
            </a:r>
            <a:endParaRPr/>
          </a:p>
        </p:txBody>
      </p:sp>
      <p:sp>
        <p:nvSpPr>
          <p:cNvPr id="432" name="Google Shape;432;p25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Rancher needs only 10 minutes to produce an ounce of potatoes, whereas the Farmer needs 15 minutes.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Rancher needs only 20 minutes to produce an ounce of meat, whereas the Farmer needs 60 minutes.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6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Opportunity Cost and Comparative Advantage</a:t>
            </a:r>
            <a:endParaRPr/>
          </a:p>
        </p:txBody>
      </p:sp>
      <p:sp>
        <p:nvSpPr>
          <p:cNvPr id="445" name="Google Shape;445;p26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Compares producers of a good according to their </a:t>
            </a:r>
            <a:r>
              <a:rPr b="0" i="1" lang="en-US" sz="2800" u="none">
                <a:solidFill>
                  <a:srgbClr val="25A9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cost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Whatever  must be given up to obtain some item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producer who has the smaller opportunity cost of producing a good is said to have a </a:t>
            </a:r>
            <a:r>
              <a:rPr b="0" i="1" lang="en-US" sz="2800" u="none">
                <a:solidFill>
                  <a:srgbClr val="25A9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advantage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producing that good.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27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Comparative Advantage and Trade</a:t>
            </a:r>
            <a:endParaRPr/>
          </a:p>
        </p:txBody>
      </p:sp>
      <p:sp>
        <p:nvSpPr>
          <p:cNvPr id="458" name="Google Shape;458;p27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has the absolute advantage?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farmer or the rancher?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has the comparative advantage?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farmer or the rancher?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3A6C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423A6C"/>
                </a:solidFill>
                <a:latin typeface="Arial"/>
                <a:ea typeface="Arial"/>
                <a:cs typeface="Arial"/>
                <a:sym typeface="Arial"/>
              </a:rPr>
              <a:t>Table 3 The Opportunity Cost of Meat and Potatoes</a:t>
            </a:r>
            <a:endParaRPr/>
          </a:p>
        </p:txBody>
      </p:sp>
      <p:pic>
        <p:nvPicPr>
          <p:cNvPr id="464" name="Google Shape;4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336800"/>
            <a:ext cx="9144000" cy="33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8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Comparative Advantage and Trade</a:t>
            </a:r>
            <a:endParaRPr/>
          </a:p>
        </p:txBody>
      </p:sp>
      <p:sp>
        <p:nvSpPr>
          <p:cNvPr id="471" name="Google Shape;471;p29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Rancher’s opportunity cost of an ounce of potatoes is ¼ an ounce of meat, whereas the Farmer’s opportunity cost of an ounce of potatoes is ½ an ounce of meat.</a:t>
            </a:r>
            <a:b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Rancher’s opportunity cost of a pound of meat is only 4 ounces of potatoes, while the Farmer’s opportunity cost of an ounce of meat is only 2 ounces of potatoes...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30"/>
          <p:cNvSpPr txBox="1"/>
          <p:nvPr/>
        </p:nvSpPr>
        <p:spPr>
          <a:xfrm>
            <a:off x="1219200" y="2057400"/>
            <a:ext cx="6248400" cy="30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076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494076"/>
                </a:solidFill>
                <a:latin typeface="Arial"/>
                <a:ea typeface="Arial"/>
                <a:cs typeface="Arial"/>
                <a:sym typeface="Arial"/>
              </a:rPr>
              <a:t>…so, the Rancher has a comparative advantage in the production of meat but the Farmer has a comparative advantage in the production of potatoes.</a:t>
            </a:r>
            <a:endParaRPr/>
          </a:p>
        </p:txBody>
      </p:sp>
      <p:sp>
        <p:nvSpPr>
          <p:cNvPr id="478" name="Google Shape;478;p30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Comparative Advantage and Trade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1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31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31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Comparative Advantage and Trade</a:t>
            </a:r>
            <a:endParaRPr/>
          </a:p>
        </p:txBody>
      </p:sp>
      <p:sp>
        <p:nvSpPr>
          <p:cNvPr id="491" name="Google Shape;491;p31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advantage and differences in opportunity costs are the basis for specialized production and trade.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potential trading parties have differences in opportunity costs, they can each benefit from trade.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2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32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Comparative Advantage and Trade</a:t>
            </a:r>
            <a:endParaRPr/>
          </a:p>
        </p:txBody>
      </p:sp>
      <p:sp>
        <p:nvSpPr>
          <p:cNvPr id="504" name="Google Shape;504;p32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Trade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 can benefit everyone in a society because it allows people to specialize in activities in which they have a comparative advantage.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2CC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3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FYI—The Legacy of Adam Smith and David Ricardo</a:t>
            </a:r>
            <a:endParaRPr/>
          </a:p>
        </p:txBody>
      </p:sp>
      <p:sp>
        <p:nvSpPr>
          <p:cNvPr id="510" name="Google Shape;510;p33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 Smith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his 1776 book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Inquiry into the Nature and Causes of the Wealth of Nations,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Adam Smith performed a detailed analysis of trade and economic interdependence, which economists still adhere to today.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Ricardo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his 1816 book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 of Political Economy and Taxation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David Ricardo developed the principle of comparative advantage as we know it today.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APPLICATIONS OF COMPARATIVE ADVANTAGE </a:t>
            </a:r>
            <a:endParaRPr/>
          </a:p>
        </p:txBody>
      </p:sp>
      <p:pic>
        <p:nvPicPr>
          <p:cNvPr id="516" name="Google Shape;51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3124200"/>
            <a:ext cx="2828925" cy="1941512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4"/>
          <p:cNvSpPr txBox="1"/>
          <p:nvPr/>
        </p:nvSpPr>
        <p:spPr>
          <a:xfrm>
            <a:off x="4191000" y="2286000"/>
            <a:ext cx="13716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Times New Roman"/>
              <a:buNone/>
            </a:pPr>
            <a:r>
              <a:rPr b="1" i="0" lang="en-US" sz="9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10961687" y="5119687"/>
            <a:ext cx="9525" cy="4762"/>
          </a:xfrm>
          <a:custGeom>
            <a:rect b="b" l="l" r="r" t="t"/>
            <a:pathLst>
              <a:path extrusionOk="0" h="3" w="6">
                <a:moveTo>
                  <a:pt x="0" y="0"/>
                </a:moveTo>
                <a:lnTo>
                  <a:pt x="6" y="3"/>
                </a:lnTo>
                <a:lnTo>
                  <a:pt x="6" y="3"/>
                </a:lnTo>
                <a:lnTo>
                  <a:pt x="3" y="3"/>
                </a:lnTo>
                <a:lnTo>
                  <a:pt x="3" y="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19" name="Google Shape;519;p34"/>
          <p:cNvGrpSpPr/>
          <p:nvPr/>
        </p:nvGrpSpPr>
        <p:grpSpPr>
          <a:xfrm rot="1020000">
            <a:off x="2590800" y="2514600"/>
            <a:ext cx="1406525" cy="2362200"/>
            <a:chOff x="6336" y="2832"/>
            <a:chExt cx="886" cy="1488"/>
          </a:xfrm>
        </p:grpSpPr>
        <p:sp>
          <p:nvSpPr>
            <p:cNvPr id="520" name="Google Shape;520;p34"/>
            <p:cNvSpPr/>
            <p:nvPr/>
          </p:nvSpPr>
          <p:spPr>
            <a:xfrm>
              <a:off x="6759" y="3082"/>
              <a:ext cx="19" cy="106"/>
            </a:xfrm>
            <a:custGeom>
              <a:rect b="b" l="l" r="r" t="t"/>
              <a:pathLst>
                <a:path extrusionOk="0" h="106" w="19">
                  <a:moveTo>
                    <a:pt x="19" y="0"/>
                  </a:moveTo>
                  <a:lnTo>
                    <a:pt x="13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8" y="106"/>
                  </a:lnTo>
                  <a:lnTo>
                    <a:pt x="5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3" y="90"/>
                  </a:lnTo>
                  <a:lnTo>
                    <a:pt x="8" y="90"/>
                  </a:lnTo>
                  <a:lnTo>
                    <a:pt x="11" y="82"/>
                  </a:lnTo>
                  <a:lnTo>
                    <a:pt x="13" y="72"/>
                  </a:lnTo>
                  <a:lnTo>
                    <a:pt x="13" y="61"/>
                  </a:lnTo>
                  <a:lnTo>
                    <a:pt x="16" y="48"/>
                  </a:lnTo>
                  <a:lnTo>
                    <a:pt x="16" y="34"/>
                  </a:lnTo>
                  <a:lnTo>
                    <a:pt x="16" y="21"/>
                  </a:lnTo>
                  <a:lnTo>
                    <a:pt x="19" y="10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6336" y="2832"/>
              <a:ext cx="886" cy="1488"/>
            </a:xfrm>
            <a:custGeom>
              <a:rect b="b" l="l" r="r" t="t"/>
              <a:pathLst>
                <a:path extrusionOk="0" h="1488" w="886">
                  <a:moveTo>
                    <a:pt x="559" y="0"/>
                  </a:moveTo>
                  <a:lnTo>
                    <a:pt x="567" y="3"/>
                  </a:lnTo>
                  <a:lnTo>
                    <a:pt x="569" y="8"/>
                  </a:lnTo>
                  <a:lnTo>
                    <a:pt x="572" y="11"/>
                  </a:lnTo>
                  <a:lnTo>
                    <a:pt x="572" y="16"/>
                  </a:lnTo>
                  <a:lnTo>
                    <a:pt x="575" y="19"/>
                  </a:lnTo>
                  <a:lnTo>
                    <a:pt x="577" y="24"/>
                  </a:lnTo>
                  <a:lnTo>
                    <a:pt x="577" y="27"/>
                  </a:lnTo>
                  <a:lnTo>
                    <a:pt x="580" y="32"/>
                  </a:lnTo>
                  <a:lnTo>
                    <a:pt x="583" y="35"/>
                  </a:lnTo>
                  <a:lnTo>
                    <a:pt x="585" y="48"/>
                  </a:lnTo>
                  <a:lnTo>
                    <a:pt x="591" y="64"/>
                  </a:lnTo>
                  <a:lnTo>
                    <a:pt x="593" y="77"/>
                  </a:lnTo>
                  <a:lnTo>
                    <a:pt x="596" y="93"/>
                  </a:lnTo>
                  <a:lnTo>
                    <a:pt x="599" y="106"/>
                  </a:lnTo>
                  <a:lnTo>
                    <a:pt x="601" y="122"/>
                  </a:lnTo>
                  <a:lnTo>
                    <a:pt x="601" y="136"/>
                  </a:lnTo>
                  <a:lnTo>
                    <a:pt x="601" y="151"/>
                  </a:lnTo>
                  <a:lnTo>
                    <a:pt x="601" y="154"/>
                  </a:lnTo>
                  <a:lnTo>
                    <a:pt x="599" y="157"/>
                  </a:lnTo>
                  <a:lnTo>
                    <a:pt x="599" y="157"/>
                  </a:lnTo>
                  <a:lnTo>
                    <a:pt x="596" y="159"/>
                  </a:lnTo>
                  <a:lnTo>
                    <a:pt x="593" y="159"/>
                  </a:lnTo>
                  <a:lnTo>
                    <a:pt x="588" y="159"/>
                  </a:lnTo>
                  <a:lnTo>
                    <a:pt x="585" y="159"/>
                  </a:lnTo>
                  <a:lnTo>
                    <a:pt x="583" y="162"/>
                  </a:lnTo>
                  <a:lnTo>
                    <a:pt x="577" y="162"/>
                  </a:lnTo>
                  <a:lnTo>
                    <a:pt x="575" y="162"/>
                  </a:lnTo>
                  <a:lnTo>
                    <a:pt x="569" y="162"/>
                  </a:lnTo>
                  <a:lnTo>
                    <a:pt x="567" y="162"/>
                  </a:lnTo>
                  <a:lnTo>
                    <a:pt x="561" y="162"/>
                  </a:lnTo>
                  <a:lnTo>
                    <a:pt x="559" y="162"/>
                  </a:lnTo>
                  <a:lnTo>
                    <a:pt x="553" y="162"/>
                  </a:lnTo>
                  <a:lnTo>
                    <a:pt x="548" y="162"/>
                  </a:lnTo>
                  <a:lnTo>
                    <a:pt x="545" y="162"/>
                  </a:lnTo>
                  <a:lnTo>
                    <a:pt x="540" y="162"/>
                  </a:lnTo>
                  <a:lnTo>
                    <a:pt x="537" y="162"/>
                  </a:lnTo>
                  <a:lnTo>
                    <a:pt x="532" y="162"/>
                  </a:lnTo>
                  <a:lnTo>
                    <a:pt x="529" y="162"/>
                  </a:lnTo>
                  <a:lnTo>
                    <a:pt x="524" y="162"/>
                  </a:lnTo>
                  <a:lnTo>
                    <a:pt x="521" y="162"/>
                  </a:lnTo>
                  <a:lnTo>
                    <a:pt x="516" y="162"/>
                  </a:lnTo>
                  <a:lnTo>
                    <a:pt x="511" y="162"/>
                  </a:lnTo>
                  <a:lnTo>
                    <a:pt x="508" y="162"/>
                  </a:lnTo>
                  <a:lnTo>
                    <a:pt x="503" y="162"/>
                  </a:lnTo>
                  <a:lnTo>
                    <a:pt x="500" y="162"/>
                  </a:lnTo>
                  <a:lnTo>
                    <a:pt x="495" y="162"/>
                  </a:lnTo>
                  <a:lnTo>
                    <a:pt x="490" y="162"/>
                  </a:lnTo>
                  <a:lnTo>
                    <a:pt x="487" y="162"/>
                  </a:lnTo>
                  <a:lnTo>
                    <a:pt x="482" y="162"/>
                  </a:lnTo>
                  <a:lnTo>
                    <a:pt x="479" y="162"/>
                  </a:lnTo>
                  <a:lnTo>
                    <a:pt x="474" y="162"/>
                  </a:lnTo>
                  <a:lnTo>
                    <a:pt x="468" y="162"/>
                  </a:lnTo>
                  <a:lnTo>
                    <a:pt x="466" y="162"/>
                  </a:lnTo>
                  <a:lnTo>
                    <a:pt x="463" y="173"/>
                  </a:lnTo>
                  <a:lnTo>
                    <a:pt x="463" y="183"/>
                  </a:lnTo>
                  <a:lnTo>
                    <a:pt x="463" y="197"/>
                  </a:lnTo>
                  <a:lnTo>
                    <a:pt x="460" y="210"/>
                  </a:lnTo>
                  <a:lnTo>
                    <a:pt x="458" y="210"/>
                  </a:lnTo>
                  <a:lnTo>
                    <a:pt x="455" y="210"/>
                  </a:lnTo>
                  <a:lnTo>
                    <a:pt x="455" y="210"/>
                  </a:lnTo>
                  <a:lnTo>
                    <a:pt x="452" y="213"/>
                  </a:lnTo>
                  <a:lnTo>
                    <a:pt x="447" y="308"/>
                  </a:lnTo>
                  <a:lnTo>
                    <a:pt x="447" y="308"/>
                  </a:lnTo>
                  <a:lnTo>
                    <a:pt x="450" y="308"/>
                  </a:lnTo>
                  <a:lnTo>
                    <a:pt x="450" y="308"/>
                  </a:lnTo>
                  <a:lnTo>
                    <a:pt x="450" y="306"/>
                  </a:lnTo>
                  <a:lnTo>
                    <a:pt x="450" y="298"/>
                  </a:lnTo>
                  <a:lnTo>
                    <a:pt x="450" y="290"/>
                  </a:lnTo>
                  <a:lnTo>
                    <a:pt x="452" y="282"/>
                  </a:lnTo>
                  <a:lnTo>
                    <a:pt x="452" y="274"/>
                  </a:lnTo>
                  <a:lnTo>
                    <a:pt x="455" y="268"/>
                  </a:lnTo>
                  <a:lnTo>
                    <a:pt x="455" y="266"/>
                  </a:lnTo>
                  <a:lnTo>
                    <a:pt x="458" y="263"/>
                  </a:lnTo>
                  <a:lnTo>
                    <a:pt x="458" y="260"/>
                  </a:lnTo>
                  <a:lnTo>
                    <a:pt x="460" y="258"/>
                  </a:lnTo>
                  <a:lnTo>
                    <a:pt x="463" y="255"/>
                  </a:lnTo>
                  <a:lnTo>
                    <a:pt x="463" y="252"/>
                  </a:lnTo>
                  <a:lnTo>
                    <a:pt x="466" y="250"/>
                  </a:lnTo>
                  <a:lnTo>
                    <a:pt x="468" y="244"/>
                  </a:lnTo>
                  <a:lnTo>
                    <a:pt x="474" y="239"/>
                  </a:lnTo>
                  <a:lnTo>
                    <a:pt x="479" y="234"/>
                  </a:lnTo>
                  <a:lnTo>
                    <a:pt x="487" y="229"/>
                  </a:lnTo>
                  <a:lnTo>
                    <a:pt x="492" y="223"/>
                  </a:lnTo>
                  <a:lnTo>
                    <a:pt x="498" y="218"/>
                  </a:lnTo>
                  <a:lnTo>
                    <a:pt x="506" y="213"/>
                  </a:lnTo>
                  <a:lnTo>
                    <a:pt x="511" y="207"/>
                  </a:lnTo>
                  <a:lnTo>
                    <a:pt x="519" y="202"/>
                  </a:lnTo>
                  <a:lnTo>
                    <a:pt x="527" y="197"/>
                  </a:lnTo>
                  <a:lnTo>
                    <a:pt x="532" y="191"/>
                  </a:lnTo>
                  <a:lnTo>
                    <a:pt x="540" y="189"/>
                  </a:lnTo>
                  <a:lnTo>
                    <a:pt x="548" y="183"/>
                  </a:lnTo>
                  <a:lnTo>
                    <a:pt x="553" y="181"/>
                  </a:lnTo>
                  <a:lnTo>
                    <a:pt x="561" y="178"/>
                  </a:lnTo>
                  <a:lnTo>
                    <a:pt x="569" y="175"/>
                  </a:lnTo>
                  <a:lnTo>
                    <a:pt x="575" y="175"/>
                  </a:lnTo>
                  <a:lnTo>
                    <a:pt x="580" y="173"/>
                  </a:lnTo>
                  <a:lnTo>
                    <a:pt x="588" y="173"/>
                  </a:lnTo>
                  <a:lnTo>
                    <a:pt x="593" y="173"/>
                  </a:lnTo>
                  <a:lnTo>
                    <a:pt x="599" y="173"/>
                  </a:lnTo>
                  <a:lnTo>
                    <a:pt x="607" y="173"/>
                  </a:lnTo>
                  <a:lnTo>
                    <a:pt x="612" y="173"/>
                  </a:lnTo>
                  <a:lnTo>
                    <a:pt x="617" y="173"/>
                  </a:lnTo>
                  <a:lnTo>
                    <a:pt x="623" y="175"/>
                  </a:lnTo>
                  <a:lnTo>
                    <a:pt x="628" y="175"/>
                  </a:lnTo>
                  <a:lnTo>
                    <a:pt x="633" y="178"/>
                  </a:lnTo>
                  <a:lnTo>
                    <a:pt x="636" y="178"/>
                  </a:lnTo>
                  <a:lnTo>
                    <a:pt x="641" y="181"/>
                  </a:lnTo>
                  <a:lnTo>
                    <a:pt x="647" y="181"/>
                  </a:lnTo>
                  <a:lnTo>
                    <a:pt x="649" y="183"/>
                  </a:lnTo>
                  <a:lnTo>
                    <a:pt x="655" y="183"/>
                  </a:lnTo>
                  <a:lnTo>
                    <a:pt x="657" y="186"/>
                  </a:lnTo>
                  <a:lnTo>
                    <a:pt x="660" y="189"/>
                  </a:lnTo>
                  <a:lnTo>
                    <a:pt x="665" y="191"/>
                  </a:lnTo>
                  <a:lnTo>
                    <a:pt x="668" y="194"/>
                  </a:lnTo>
                  <a:lnTo>
                    <a:pt x="670" y="199"/>
                  </a:lnTo>
                  <a:lnTo>
                    <a:pt x="673" y="205"/>
                  </a:lnTo>
                  <a:lnTo>
                    <a:pt x="673" y="210"/>
                  </a:lnTo>
                  <a:lnTo>
                    <a:pt x="676" y="215"/>
                  </a:lnTo>
                  <a:lnTo>
                    <a:pt x="678" y="236"/>
                  </a:lnTo>
                  <a:lnTo>
                    <a:pt x="678" y="258"/>
                  </a:lnTo>
                  <a:lnTo>
                    <a:pt x="676" y="279"/>
                  </a:lnTo>
                  <a:lnTo>
                    <a:pt x="670" y="300"/>
                  </a:lnTo>
                  <a:lnTo>
                    <a:pt x="668" y="308"/>
                  </a:lnTo>
                  <a:lnTo>
                    <a:pt x="665" y="316"/>
                  </a:lnTo>
                  <a:lnTo>
                    <a:pt x="663" y="324"/>
                  </a:lnTo>
                  <a:lnTo>
                    <a:pt x="660" y="332"/>
                  </a:lnTo>
                  <a:lnTo>
                    <a:pt x="655" y="337"/>
                  </a:lnTo>
                  <a:lnTo>
                    <a:pt x="652" y="343"/>
                  </a:lnTo>
                  <a:lnTo>
                    <a:pt x="647" y="348"/>
                  </a:lnTo>
                  <a:lnTo>
                    <a:pt x="641" y="353"/>
                  </a:lnTo>
                  <a:lnTo>
                    <a:pt x="636" y="356"/>
                  </a:lnTo>
                  <a:lnTo>
                    <a:pt x="633" y="359"/>
                  </a:lnTo>
                  <a:lnTo>
                    <a:pt x="628" y="361"/>
                  </a:lnTo>
                  <a:lnTo>
                    <a:pt x="623" y="364"/>
                  </a:lnTo>
                  <a:lnTo>
                    <a:pt x="617" y="367"/>
                  </a:lnTo>
                  <a:lnTo>
                    <a:pt x="612" y="367"/>
                  </a:lnTo>
                  <a:lnTo>
                    <a:pt x="607" y="369"/>
                  </a:lnTo>
                  <a:lnTo>
                    <a:pt x="601" y="369"/>
                  </a:lnTo>
                  <a:lnTo>
                    <a:pt x="596" y="372"/>
                  </a:lnTo>
                  <a:lnTo>
                    <a:pt x="591" y="372"/>
                  </a:lnTo>
                  <a:lnTo>
                    <a:pt x="585" y="372"/>
                  </a:lnTo>
                  <a:lnTo>
                    <a:pt x="580" y="375"/>
                  </a:lnTo>
                  <a:lnTo>
                    <a:pt x="575" y="375"/>
                  </a:lnTo>
                  <a:lnTo>
                    <a:pt x="569" y="375"/>
                  </a:lnTo>
                  <a:lnTo>
                    <a:pt x="564" y="375"/>
                  </a:lnTo>
                  <a:lnTo>
                    <a:pt x="559" y="375"/>
                  </a:lnTo>
                  <a:lnTo>
                    <a:pt x="559" y="375"/>
                  </a:lnTo>
                  <a:lnTo>
                    <a:pt x="559" y="377"/>
                  </a:lnTo>
                  <a:lnTo>
                    <a:pt x="559" y="377"/>
                  </a:lnTo>
                  <a:lnTo>
                    <a:pt x="559" y="377"/>
                  </a:lnTo>
                  <a:lnTo>
                    <a:pt x="561" y="380"/>
                  </a:lnTo>
                  <a:lnTo>
                    <a:pt x="564" y="380"/>
                  </a:lnTo>
                  <a:lnTo>
                    <a:pt x="569" y="380"/>
                  </a:lnTo>
                  <a:lnTo>
                    <a:pt x="572" y="383"/>
                  </a:lnTo>
                  <a:lnTo>
                    <a:pt x="575" y="383"/>
                  </a:lnTo>
                  <a:lnTo>
                    <a:pt x="577" y="385"/>
                  </a:lnTo>
                  <a:lnTo>
                    <a:pt x="583" y="385"/>
                  </a:lnTo>
                  <a:lnTo>
                    <a:pt x="585" y="385"/>
                  </a:lnTo>
                  <a:lnTo>
                    <a:pt x="588" y="388"/>
                  </a:lnTo>
                  <a:lnTo>
                    <a:pt x="588" y="388"/>
                  </a:lnTo>
                  <a:lnTo>
                    <a:pt x="591" y="391"/>
                  </a:lnTo>
                  <a:lnTo>
                    <a:pt x="591" y="391"/>
                  </a:lnTo>
                  <a:lnTo>
                    <a:pt x="588" y="407"/>
                  </a:lnTo>
                  <a:lnTo>
                    <a:pt x="585" y="425"/>
                  </a:lnTo>
                  <a:lnTo>
                    <a:pt x="585" y="441"/>
                  </a:lnTo>
                  <a:lnTo>
                    <a:pt x="583" y="457"/>
                  </a:lnTo>
                  <a:lnTo>
                    <a:pt x="583" y="473"/>
                  </a:lnTo>
                  <a:lnTo>
                    <a:pt x="583" y="489"/>
                  </a:lnTo>
                  <a:lnTo>
                    <a:pt x="580" y="508"/>
                  </a:lnTo>
                  <a:lnTo>
                    <a:pt x="580" y="523"/>
                  </a:lnTo>
                  <a:lnTo>
                    <a:pt x="580" y="526"/>
                  </a:lnTo>
                  <a:lnTo>
                    <a:pt x="580" y="531"/>
                  </a:lnTo>
                  <a:lnTo>
                    <a:pt x="580" y="537"/>
                  </a:lnTo>
                  <a:lnTo>
                    <a:pt x="580" y="539"/>
                  </a:lnTo>
                  <a:lnTo>
                    <a:pt x="577" y="545"/>
                  </a:lnTo>
                  <a:lnTo>
                    <a:pt x="572" y="550"/>
                  </a:lnTo>
                  <a:lnTo>
                    <a:pt x="567" y="553"/>
                  </a:lnTo>
                  <a:lnTo>
                    <a:pt x="559" y="555"/>
                  </a:lnTo>
                  <a:lnTo>
                    <a:pt x="553" y="558"/>
                  </a:lnTo>
                  <a:lnTo>
                    <a:pt x="548" y="558"/>
                  </a:lnTo>
                  <a:lnTo>
                    <a:pt x="543" y="561"/>
                  </a:lnTo>
                  <a:lnTo>
                    <a:pt x="543" y="561"/>
                  </a:lnTo>
                  <a:lnTo>
                    <a:pt x="540" y="558"/>
                  </a:lnTo>
                  <a:lnTo>
                    <a:pt x="543" y="563"/>
                  </a:lnTo>
                  <a:lnTo>
                    <a:pt x="543" y="574"/>
                  </a:lnTo>
                  <a:lnTo>
                    <a:pt x="545" y="577"/>
                  </a:lnTo>
                  <a:lnTo>
                    <a:pt x="561" y="577"/>
                  </a:lnTo>
                  <a:lnTo>
                    <a:pt x="564" y="579"/>
                  </a:lnTo>
                  <a:lnTo>
                    <a:pt x="567" y="582"/>
                  </a:lnTo>
                  <a:lnTo>
                    <a:pt x="567" y="587"/>
                  </a:lnTo>
                  <a:lnTo>
                    <a:pt x="567" y="593"/>
                  </a:lnTo>
                  <a:lnTo>
                    <a:pt x="572" y="593"/>
                  </a:lnTo>
                  <a:lnTo>
                    <a:pt x="575" y="595"/>
                  </a:lnTo>
                  <a:lnTo>
                    <a:pt x="577" y="598"/>
                  </a:lnTo>
                  <a:lnTo>
                    <a:pt x="583" y="601"/>
                  </a:lnTo>
                  <a:lnTo>
                    <a:pt x="585" y="601"/>
                  </a:lnTo>
                  <a:lnTo>
                    <a:pt x="588" y="606"/>
                  </a:lnTo>
                  <a:lnTo>
                    <a:pt x="591" y="608"/>
                  </a:lnTo>
                  <a:lnTo>
                    <a:pt x="593" y="614"/>
                  </a:lnTo>
                  <a:lnTo>
                    <a:pt x="593" y="622"/>
                  </a:lnTo>
                  <a:lnTo>
                    <a:pt x="593" y="627"/>
                  </a:lnTo>
                  <a:lnTo>
                    <a:pt x="593" y="635"/>
                  </a:lnTo>
                  <a:lnTo>
                    <a:pt x="591" y="640"/>
                  </a:lnTo>
                  <a:lnTo>
                    <a:pt x="588" y="648"/>
                  </a:lnTo>
                  <a:lnTo>
                    <a:pt x="585" y="654"/>
                  </a:lnTo>
                  <a:lnTo>
                    <a:pt x="583" y="659"/>
                  </a:lnTo>
                  <a:lnTo>
                    <a:pt x="577" y="664"/>
                  </a:lnTo>
                  <a:lnTo>
                    <a:pt x="580" y="672"/>
                  </a:lnTo>
                  <a:lnTo>
                    <a:pt x="585" y="678"/>
                  </a:lnTo>
                  <a:lnTo>
                    <a:pt x="593" y="686"/>
                  </a:lnTo>
                  <a:lnTo>
                    <a:pt x="599" y="691"/>
                  </a:lnTo>
                  <a:lnTo>
                    <a:pt x="607" y="696"/>
                  </a:lnTo>
                  <a:lnTo>
                    <a:pt x="615" y="701"/>
                  </a:lnTo>
                  <a:lnTo>
                    <a:pt x="623" y="707"/>
                  </a:lnTo>
                  <a:lnTo>
                    <a:pt x="631" y="712"/>
                  </a:lnTo>
                  <a:lnTo>
                    <a:pt x="639" y="717"/>
                  </a:lnTo>
                  <a:lnTo>
                    <a:pt x="649" y="723"/>
                  </a:lnTo>
                  <a:lnTo>
                    <a:pt x="657" y="725"/>
                  </a:lnTo>
                  <a:lnTo>
                    <a:pt x="665" y="731"/>
                  </a:lnTo>
                  <a:lnTo>
                    <a:pt x="673" y="736"/>
                  </a:lnTo>
                  <a:lnTo>
                    <a:pt x="684" y="739"/>
                  </a:lnTo>
                  <a:lnTo>
                    <a:pt x="692" y="744"/>
                  </a:lnTo>
                  <a:lnTo>
                    <a:pt x="700" y="747"/>
                  </a:lnTo>
                  <a:lnTo>
                    <a:pt x="710" y="752"/>
                  </a:lnTo>
                  <a:lnTo>
                    <a:pt x="718" y="755"/>
                  </a:lnTo>
                  <a:lnTo>
                    <a:pt x="729" y="760"/>
                  </a:lnTo>
                  <a:lnTo>
                    <a:pt x="737" y="765"/>
                  </a:lnTo>
                  <a:lnTo>
                    <a:pt x="745" y="768"/>
                  </a:lnTo>
                  <a:lnTo>
                    <a:pt x="753" y="773"/>
                  </a:lnTo>
                  <a:lnTo>
                    <a:pt x="764" y="776"/>
                  </a:lnTo>
                  <a:lnTo>
                    <a:pt x="772" y="781"/>
                  </a:lnTo>
                  <a:lnTo>
                    <a:pt x="780" y="787"/>
                  </a:lnTo>
                  <a:lnTo>
                    <a:pt x="788" y="792"/>
                  </a:lnTo>
                  <a:lnTo>
                    <a:pt x="796" y="797"/>
                  </a:lnTo>
                  <a:lnTo>
                    <a:pt x="804" y="802"/>
                  </a:lnTo>
                  <a:lnTo>
                    <a:pt x="809" y="808"/>
                  </a:lnTo>
                  <a:lnTo>
                    <a:pt x="817" y="816"/>
                  </a:lnTo>
                  <a:lnTo>
                    <a:pt x="822" y="821"/>
                  </a:lnTo>
                  <a:lnTo>
                    <a:pt x="830" y="829"/>
                  </a:lnTo>
                  <a:lnTo>
                    <a:pt x="835" y="837"/>
                  </a:lnTo>
                  <a:lnTo>
                    <a:pt x="846" y="848"/>
                  </a:lnTo>
                  <a:lnTo>
                    <a:pt x="854" y="861"/>
                  </a:lnTo>
                  <a:lnTo>
                    <a:pt x="862" y="872"/>
                  </a:lnTo>
                  <a:lnTo>
                    <a:pt x="867" y="887"/>
                  </a:lnTo>
                  <a:lnTo>
                    <a:pt x="873" y="901"/>
                  </a:lnTo>
                  <a:lnTo>
                    <a:pt x="875" y="917"/>
                  </a:lnTo>
                  <a:lnTo>
                    <a:pt x="881" y="930"/>
                  </a:lnTo>
                  <a:lnTo>
                    <a:pt x="883" y="946"/>
                  </a:lnTo>
                  <a:lnTo>
                    <a:pt x="883" y="962"/>
                  </a:lnTo>
                  <a:lnTo>
                    <a:pt x="886" y="978"/>
                  </a:lnTo>
                  <a:lnTo>
                    <a:pt x="886" y="994"/>
                  </a:lnTo>
                  <a:lnTo>
                    <a:pt x="886" y="1010"/>
                  </a:lnTo>
                  <a:lnTo>
                    <a:pt x="886" y="1026"/>
                  </a:lnTo>
                  <a:lnTo>
                    <a:pt x="883" y="1042"/>
                  </a:lnTo>
                  <a:lnTo>
                    <a:pt x="883" y="1055"/>
                  </a:lnTo>
                  <a:lnTo>
                    <a:pt x="881" y="1071"/>
                  </a:lnTo>
                  <a:lnTo>
                    <a:pt x="878" y="1087"/>
                  </a:lnTo>
                  <a:lnTo>
                    <a:pt x="873" y="1105"/>
                  </a:lnTo>
                  <a:lnTo>
                    <a:pt x="870" y="1124"/>
                  </a:lnTo>
                  <a:lnTo>
                    <a:pt x="867" y="1145"/>
                  </a:lnTo>
                  <a:lnTo>
                    <a:pt x="862" y="1164"/>
                  </a:lnTo>
                  <a:lnTo>
                    <a:pt x="857" y="1182"/>
                  </a:lnTo>
                  <a:lnTo>
                    <a:pt x="851" y="1201"/>
                  </a:lnTo>
                  <a:lnTo>
                    <a:pt x="843" y="1220"/>
                  </a:lnTo>
                  <a:lnTo>
                    <a:pt x="838" y="1238"/>
                  </a:lnTo>
                  <a:lnTo>
                    <a:pt x="827" y="1257"/>
                  </a:lnTo>
                  <a:lnTo>
                    <a:pt x="819" y="1273"/>
                  </a:lnTo>
                  <a:lnTo>
                    <a:pt x="809" y="1286"/>
                  </a:lnTo>
                  <a:lnTo>
                    <a:pt x="796" y="1299"/>
                  </a:lnTo>
                  <a:lnTo>
                    <a:pt x="782" y="1310"/>
                  </a:lnTo>
                  <a:lnTo>
                    <a:pt x="766" y="1321"/>
                  </a:lnTo>
                  <a:lnTo>
                    <a:pt x="750" y="1329"/>
                  </a:lnTo>
                  <a:lnTo>
                    <a:pt x="745" y="1329"/>
                  </a:lnTo>
                  <a:lnTo>
                    <a:pt x="742" y="1331"/>
                  </a:lnTo>
                  <a:lnTo>
                    <a:pt x="740" y="1331"/>
                  </a:lnTo>
                  <a:lnTo>
                    <a:pt x="734" y="1331"/>
                  </a:lnTo>
                  <a:lnTo>
                    <a:pt x="732" y="1331"/>
                  </a:lnTo>
                  <a:lnTo>
                    <a:pt x="729" y="1331"/>
                  </a:lnTo>
                  <a:lnTo>
                    <a:pt x="726" y="1331"/>
                  </a:lnTo>
                  <a:lnTo>
                    <a:pt x="724" y="1331"/>
                  </a:lnTo>
                  <a:lnTo>
                    <a:pt x="721" y="1331"/>
                  </a:lnTo>
                  <a:lnTo>
                    <a:pt x="718" y="1331"/>
                  </a:lnTo>
                  <a:lnTo>
                    <a:pt x="713" y="1329"/>
                  </a:lnTo>
                  <a:lnTo>
                    <a:pt x="710" y="1329"/>
                  </a:lnTo>
                  <a:lnTo>
                    <a:pt x="708" y="1326"/>
                  </a:lnTo>
                  <a:lnTo>
                    <a:pt x="705" y="1326"/>
                  </a:lnTo>
                  <a:lnTo>
                    <a:pt x="700" y="1323"/>
                  </a:lnTo>
                  <a:lnTo>
                    <a:pt x="697" y="1321"/>
                  </a:lnTo>
                  <a:lnTo>
                    <a:pt x="684" y="1313"/>
                  </a:lnTo>
                  <a:lnTo>
                    <a:pt x="676" y="1302"/>
                  </a:lnTo>
                  <a:lnTo>
                    <a:pt x="670" y="1289"/>
                  </a:lnTo>
                  <a:lnTo>
                    <a:pt x="668" y="1273"/>
                  </a:lnTo>
                  <a:lnTo>
                    <a:pt x="665" y="1257"/>
                  </a:lnTo>
                  <a:lnTo>
                    <a:pt x="663" y="1244"/>
                  </a:lnTo>
                  <a:lnTo>
                    <a:pt x="655" y="1230"/>
                  </a:lnTo>
                  <a:lnTo>
                    <a:pt x="647" y="1220"/>
                  </a:lnTo>
                  <a:lnTo>
                    <a:pt x="639" y="1217"/>
                  </a:lnTo>
                  <a:lnTo>
                    <a:pt x="633" y="1217"/>
                  </a:lnTo>
                  <a:lnTo>
                    <a:pt x="631" y="1214"/>
                  </a:lnTo>
                  <a:lnTo>
                    <a:pt x="628" y="1214"/>
                  </a:lnTo>
                  <a:lnTo>
                    <a:pt x="625" y="1214"/>
                  </a:lnTo>
                  <a:lnTo>
                    <a:pt x="623" y="1214"/>
                  </a:lnTo>
                  <a:lnTo>
                    <a:pt x="617" y="1214"/>
                  </a:lnTo>
                  <a:lnTo>
                    <a:pt x="607" y="1214"/>
                  </a:lnTo>
                  <a:lnTo>
                    <a:pt x="607" y="1230"/>
                  </a:lnTo>
                  <a:lnTo>
                    <a:pt x="609" y="1230"/>
                  </a:lnTo>
                  <a:lnTo>
                    <a:pt x="612" y="1233"/>
                  </a:lnTo>
                  <a:lnTo>
                    <a:pt x="612" y="1233"/>
                  </a:lnTo>
                  <a:lnTo>
                    <a:pt x="615" y="1236"/>
                  </a:lnTo>
                  <a:lnTo>
                    <a:pt x="617" y="1238"/>
                  </a:lnTo>
                  <a:lnTo>
                    <a:pt x="617" y="1244"/>
                  </a:lnTo>
                  <a:lnTo>
                    <a:pt x="620" y="1246"/>
                  </a:lnTo>
                  <a:lnTo>
                    <a:pt x="620" y="1252"/>
                  </a:lnTo>
                  <a:lnTo>
                    <a:pt x="620" y="1257"/>
                  </a:lnTo>
                  <a:lnTo>
                    <a:pt x="620" y="1262"/>
                  </a:lnTo>
                  <a:lnTo>
                    <a:pt x="617" y="1265"/>
                  </a:lnTo>
                  <a:lnTo>
                    <a:pt x="617" y="1270"/>
                  </a:lnTo>
                  <a:lnTo>
                    <a:pt x="615" y="1273"/>
                  </a:lnTo>
                  <a:lnTo>
                    <a:pt x="612" y="1275"/>
                  </a:lnTo>
                  <a:lnTo>
                    <a:pt x="609" y="1278"/>
                  </a:lnTo>
                  <a:lnTo>
                    <a:pt x="607" y="1278"/>
                  </a:lnTo>
                  <a:lnTo>
                    <a:pt x="596" y="1281"/>
                  </a:lnTo>
                  <a:lnTo>
                    <a:pt x="593" y="1291"/>
                  </a:lnTo>
                  <a:lnTo>
                    <a:pt x="580" y="1291"/>
                  </a:lnTo>
                  <a:lnTo>
                    <a:pt x="580" y="1291"/>
                  </a:lnTo>
                  <a:lnTo>
                    <a:pt x="580" y="1291"/>
                  </a:lnTo>
                  <a:lnTo>
                    <a:pt x="580" y="1294"/>
                  </a:lnTo>
                  <a:lnTo>
                    <a:pt x="580" y="1294"/>
                  </a:lnTo>
                  <a:lnTo>
                    <a:pt x="583" y="1297"/>
                  </a:lnTo>
                  <a:lnTo>
                    <a:pt x="585" y="1297"/>
                  </a:lnTo>
                  <a:lnTo>
                    <a:pt x="591" y="1299"/>
                  </a:lnTo>
                  <a:lnTo>
                    <a:pt x="593" y="1302"/>
                  </a:lnTo>
                  <a:lnTo>
                    <a:pt x="596" y="1305"/>
                  </a:lnTo>
                  <a:lnTo>
                    <a:pt x="599" y="1307"/>
                  </a:lnTo>
                  <a:lnTo>
                    <a:pt x="599" y="1313"/>
                  </a:lnTo>
                  <a:lnTo>
                    <a:pt x="601" y="1315"/>
                  </a:lnTo>
                  <a:lnTo>
                    <a:pt x="607" y="1326"/>
                  </a:lnTo>
                  <a:lnTo>
                    <a:pt x="612" y="1339"/>
                  </a:lnTo>
                  <a:lnTo>
                    <a:pt x="612" y="1352"/>
                  </a:lnTo>
                  <a:lnTo>
                    <a:pt x="612" y="1366"/>
                  </a:lnTo>
                  <a:lnTo>
                    <a:pt x="612" y="1376"/>
                  </a:lnTo>
                  <a:lnTo>
                    <a:pt x="609" y="1392"/>
                  </a:lnTo>
                  <a:lnTo>
                    <a:pt x="609" y="1403"/>
                  </a:lnTo>
                  <a:lnTo>
                    <a:pt x="609" y="1416"/>
                  </a:lnTo>
                  <a:lnTo>
                    <a:pt x="607" y="1419"/>
                  </a:lnTo>
                  <a:lnTo>
                    <a:pt x="604" y="1422"/>
                  </a:lnTo>
                  <a:lnTo>
                    <a:pt x="601" y="1424"/>
                  </a:lnTo>
                  <a:lnTo>
                    <a:pt x="599" y="1427"/>
                  </a:lnTo>
                  <a:lnTo>
                    <a:pt x="596" y="1430"/>
                  </a:lnTo>
                  <a:lnTo>
                    <a:pt x="593" y="1432"/>
                  </a:lnTo>
                  <a:lnTo>
                    <a:pt x="591" y="1432"/>
                  </a:lnTo>
                  <a:lnTo>
                    <a:pt x="588" y="1435"/>
                  </a:lnTo>
                  <a:lnTo>
                    <a:pt x="585" y="1435"/>
                  </a:lnTo>
                  <a:lnTo>
                    <a:pt x="585" y="1438"/>
                  </a:lnTo>
                  <a:lnTo>
                    <a:pt x="583" y="1438"/>
                  </a:lnTo>
                  <a:lnTo>
                    <a:pt x="583" y="1440"/>
                  </a:lnTo>
                  <a:lnTo>
                    <a:pt x="575" y="1445"/>
                  </a:lnTo>
                  <a:lnTo>
                    <a:pt x="564" y="1451"/>
                  </a:lnTo>
                  <a:lnTo>
                    <a:pt x="553" y="1459"/>
                  </a:lnTo>
                  <a:lnTo>
                    <a:pt x="543" y="1461"/>
                  </a:lnTo>
                  <a:lnTo>
                    <a:pt x="532" y="1467"/>
                  </a:lnTo>
                  <a:lnTo>
                    <a:pt x="521" y="1469"/>
                  </a:lnTo>
                  <a:lnTo>
                    <a:pt x="508" y="1472"/>
                  </a:lnTo>
                  <a:lnTo>
                    <a:pt x="495" y="1475"/>
                  </a:lnTo>
                  <a:lnTo>
                    <a:pt x="482" y="1477"/>
                  </a:lnTo>
                  <a:lnTo>
                    <a:pt x="468" y="1480"/>
                  </a:lnTo>
                  <a:lnTo>
                    <a:pt x="458" y="1483"/>
                  </a:lnTo>
                  <a:lnTo>
                    <a:pt x="444" y="1483"/>
                  </a:lnTo>
                  <a:lnTo>
                    <a:pt x="431" y="1485"/>
                  </a:lnTo>
                  <a:lnTo>
                    <a:pt x="420" y="1485"/>
                  </a:lnTo>
                  <a:lnTo>
                    <a:pt x="410" y="1488"/>
                  </a:lnTo>
                  <a:lnTo>
                    <a:pt x="399" y="1488"/>
                  </a:lnTo>
                  <a:lnTo>
                    <a:pt x="391" y="1488"/>
                  </a:lnTo>
                  <a:lnTo>
                    <a:pt x="380" y="1488"/>
                  </a:lnTo>
                  <a:lnTo>
                    <a:pt x="372" y="1488"/>
                  </a:lnTo>
                  <a:lnTo>
                    <a:pt x="365" y="1488"/>
                  </a:lnTo>
                  <a:lnTo>
                    <a:pt x="354" y="1485"/>
                  </a:lnTo>
                  <a:lnTo>
                    <a:pt x="346" y="1485"/>
                  </a:lnTo>
                  <a:lnTo>
                    <a:pt x="335" y="1485"/>
                  </a:lnTo>
                  <a:lnTo>
                    <a:pt x="327" y="1485"/>
                  </a:lnTo>
                  <a:lnTo>
                    <a:pt x="317" y="1483"/>
                  </a:lnTo>
                  <a:lnTo>
                    <a:pt x="309" y="1483"/>
                  </a:lnTo>
                  <a:lnTo>
                    <a:pt x="298" y="1483"/>
                  </a:lnTo>
                  <a:lnTo>
                    <a:pt x="290" y="1483"/>
                  </a:lnTo>
                  <a:lnTo>
                    <a:pt x="279" y="1480"/>
                  </a:lnTo>
                  <a:lnTo>
                    <a:pt x="271" y="1480"/>
                  </a:lnTo>
                  <a:lnTo>
                    <a:pt x="261" y="1477"/>
                  </a:lnTo>
                  <a:lnTo>
                    <a:pt x="253" y="1477"/>
                  </a:lnTo>
                  <a:lnTo>
                    <a:pt x="245" y="1475"/>
                  </a:lnTo>
                  <a:lnTo>
                    <a:pt x="234" y="1475"/>
                  </a:lnTo>
                  <a:lnTo>
                    <a:pt x="226" y="1472"/>
                  </a:lnTo>
                  <a:lnTo>
                    <a:pt x="216" y="1472"/>
                  </a:lnTo>
                  <a:lnTo>
                    <a:pt x="208" y="1469"/>
                  </a:lnTo>
                  <a:lnTo>
                    <a:pt x="200" y="1467"/>
                  </a:lnTo>
                  <a:lnTo>
                    <a:pt x="189" y="1464"/>
                  </a:lnTo>
                  <a:lnTo>
                    <a:pt x="181" y="1461"/>
                  </a:lnTo>
                  <a:lnTo>
                    <a:pt x="173" y="1459"/>
                  </a:lnTo>
                  <a:lnTo>
                    <a:pt x="165" y="1456"/>
                  </a:lnTo>
                  <a:lnTo>
                    <a:pt x="154" y="1453"/>
                  </a:lnTo>
                  <a:lnTo>
                    <a:pt x="146" y="1451"/>
                  </a:lnTo>
                  <a:lnTo>
                    <a:pt x="138" y="1448"/>
                  </a:lnTo>
                  <a:lnTo>
                    <a:pt x="130" y="1443"/>
                  </a:lnTo>
                  <a:lnTo>
                    <a:pt x="122" y="1440"/>
                  </a:lnTo>
                  <a:lnTo>
                    <a:pt x="114" y="1438"/>
                  </a:lnTo>
                  <a:lnTo>
                    <a:pt x="109" y="1419"/>
                  </a:lnTo>
                  <a:lnTo>
                    <a:pt x="106" y="1403"/>
                  </a:lnTo>
                  <a:lnTo>
                    <a:pt x="106" y="1387"/>
                  </a:lnTo>
                  <a:lnTo>
                    <a:pt x="106" y="1371"/>
                  </a:lnTo>
                  <a:lnTo>
                    <a:pt x="109" y="1355"/>
                  </a:lnTo>
                  <a:lnTo>
                    <a:pt x="112" y="1339"/>
                  </a:lnTo>
                  <a:lnTo>
                    <a:pt x="114" y="1321"/>
                  </a:lnTo>
                  <a:lnTo>
                    <a:pt x="120" y="1305"/>
                  </a:lnTo>
                  <a:lnTo>
                    <a:pt x="122" y="1302"/>
                  </a:lnTo>
                  <a:lnTo>
                    <a:pt x="125" y="1299"/>
                  </a:lnTo>
                  <a:lnTo>
                    <a:pt x="128" y="1297"/>
                  </a:lnTo>
                  <a:lnTo>
                    <a:pt x="133" y="1294"/>
                  </a:lnTo>
                  <a:lnTo>
                    <a:pt x="138" y="1291"/>
                  </a:lnTo>
                  <a:lnTo>
                    <a:pt x="141" y="1291"/>
                  </a:lnTo>
                  <a:lnTo>
                    <a:pt x="146" y="1291"/>
                  </a:lnTo>
                  <a:lnTo>
                    <a:pt x="152" y="1291"/>
                  </a:lnTo>
                  <a:lnTo>
                    <a:pt x="152" y="1265"/>
                  </a:lnTo>
                  <a:lnTo>
                    <a:pt x="152" y="1254"/>
                  </a:lnTo>
                  <a:lnTo>
                    <a:pt x="152" y="1244"/>
                  </a:lnTo>
                  <a:lnTo>
                    <a:pt x="152" y="1233"/>
                  </a:lnTo>
                  <a:lnTo>
                    <a:pt x="149" y="1222"/>
                  </a:lnTo>
                  <a:lnTo>
                    <a:pt x="146" y="1193"/>
                  </a:lnTo>
                  <a:lnTo>
                    <a:pt x="144" y="1166"/>
                  </a:lnTo>
                  <a:lnTo>
                    <a:pt x="144" y="1137"/>
                  </a:lnTo>
                  <a:lnTo>
                    <a:pt x="141" y="1108"/>
                  </a:lnTo>
                  <a:lnTo>
                    <a:pt x="133" y="1105"/>
                  </a:lnTo>
                  <a:lnTo>
                    <a:pt x="122" y="1105"/>
                  </a:lnTo>
                  <a:lnTo>
                    <a:pt x="114" y="1103"/>
                  </a:lnTo>
                  <a:lnTo>
                    <a:pt x="104" y="1103"/>
                  </a:lnTo>
                  <a:lnTo>
                    <a:pt x="96" y="1100"/>
                  </a:lnTo>
                  <a:lnTo>
                    <a:pt x="88" y="1100"/>
                  </a:lnTo>
                  <a:lnTo>
                    <a:pt x="80" y="1100"/>
                  </a:lnTo>
                  <a:lnTo>
                    <a:pt x="72" y="1100"/>
                  </a:lnTo>
                  <a:lnTo>
                    <a:pt x="64" y="1097"/>
                  </a:lnTo>
                  <a:lnTo>
                    <a:pt x="56" y="1097"/>
                  </a:lnTo>
                  <a:lnTo>
                    <a:pt x="48" y="1095"/>
                  </a:lnTo>
                  <a:lnTo>
                    <a:pt x="40" y="1092"/>
                  </a:lnTo>
                  <a:lnTo>
                    <a:pt x="32" y="1089"/>
                  </a:lnTo>
                  <a:lnTo>
                    <a:pt x="24" y="1084"/>
                  </a:lnTo>
                  <a:lnTo>
                    <a:pt x="16" y="1079"/>
                  </a:lnTo>
                  <a:lnTo>
                    <a:pt x="8" y="1071"/>
                  </a:lnTo>
                  <a:lnTo>
                    <a:pt x="3" y="1055"/>
                  </a:lnTo>
                  <a:lnTo>
                    <a:pt x="0" y="1042"/>
                  </a:lnTo>
                  <a:lnTo>
                    <a:pt x="0" y="1028"/>
                  </a:lnTo>
                  <a:lnTo>
                    <a:pt x="0" y="1015"/>
                  </a:lnTo>
                  <a:lnTo>
                    <a:pt x="3" y="1002"/>
                  </a:lnTo>
                  <a:lnTo>
                    <a:pt x="3" y="986"/>
                  </a:lnTo>
                  <a:lnTo>
                    <a:pt x="8" y="973"/>
                  </a:lnTo>
                  <a:lnTo>
                    <a:pt x="11" y="957"/>
                  </a:lnTo>
                  <a:lnTo>
                    <a:pt x="13" y="943"/>
                  </a:lnTo>
                  <a:lnTo>
                    <a:pt x="16" y="930"/>
                  </a:lnTo>
                  <a:lnTo>
                    <a:pt x="19" y="917"/>
                  </a:lnTo>
                  <a:lnTo>
                    <a:pt x="24" y="903"/>
                  </a:lnTo>
                  <a:lnTo>
                    <a:pt x="27" y="890"/>
                  </a:lnTo>
                  <a:lnTo>
                    <a:pt x="32" y="877"/>
                  </a:lnTo>
                  <a:lnTo>
                    <a:pt x="35" y="864"/>
                  </a:lnTo>
                  <a:lnTo>
                    <a:pt x="40" y="850"/>
                  </a:lnTo>
                  <a:lnTo>
                    <a:pt x="40" y="850"/>
                  </a:lnTo>
                  <a:lnTo>
                    <a:pt x="37" y="850"/>
                  </a:lnTo>
                  <a:lnTo>
                    <a:pt x="37" y="848"/>
                  </a:lnTo>
                  <a:lnTo>
                    <a:pt x="35" y="848"/>
                  </a:lnTo>
                  <a:lnTo>
                    <a:pt x="32" y="848"/>
                  </a:lnTo>
                  <a:lnTo>
                    <a:pt x="32" y="848"/>
                  </a:lnTo>
                  <a:lnTo>
                    <a:pt x="29" y="848"/>
                  </a:lnTo>
                  <a:lnTo>
                    <a:pt x="29" y="848"/>
                  </a:lnTo>
                  <a:lnTo>
                    <a:pt x="27" y="842"/>
                  </a:lnTo>
                  <a:lnTo>
                    <a:pt x="29" y="834"/>
                  </a:lnTo>
                  <a:lnTo>
                    <a:pt x="24" y="829"/>
                  </a:lnTo>
                  <a:lnTo>
                    <a:pt x="24" y="826"/>
                  </a:lnTo>
                  <a:lnTo>
                    <a:pt x="21" y="821"/>
                  </a:lnTo>
                  <a:lnTo>
                    <a:pt x="24" y="816"/>
                  </a:lnTo>
                  <a:lnTo>
                    <a:pt x="24" y="810"/>
                  </a:lnTo>
                  <a:lnTo>
                    <a:pt x="27" y="808"/>
                  </a:lnTo>
                  <a:lnTo>
                    <a:pt x="29" y="805"/>
                  </a:lnTo>
                  <a:lnTo>
                    <a:pt x="32" y="800"/>
                  </a:lnTo>
                  <a:lnTo>
                    <a:pt x="35" y="797"/>
                  </a:lnTo>
                  <a:lnTo>
                    <a:pt x="37" y="794"/>
                  </a:lnTo>
                  <a:lnTo>
                    <a:pt x="40" y="792"/>
                  </a:lnTo>
                  <a:lnTo>
                    <a:pt x="43" y="792"/>
                  </a:lnTo>
                  <a:lnTo>
                    <a:pt x="56" y="797"/>
                  </a:lnTo>
                  <a:lnTo>
                    <a:pt x="64" y="792"/>
                  </a:lnTo>
                  <a:lnTo>
                    <a:pt x="67" y="784"/>
                  </a:lnTo>
                  <a:lnTo>
                    <a:pt x="72" y="776"/>
                  </a:lnTo>
                  <a:lnTo>
                    <a:pt x="77" y="768"/>
                  </a:lnTo>
                  <a:lnTo>
                    <a:pt x="80" y="757"/>
                  </a:lnTo>
                  <a:lnTo>
                    <a:pt x="85" y="749"/>
                  </a:lnTo>
                  <a:lnTo>
                    <a:pt x="90" y="744"/>
                  </a:lnTo>
                  <a:lnTo>
                    <a:pt x="98" y="739"/>
                  </a:lnTo>
                  <a:lnTo>
                    <a:pt x="101" y="739"/>
                  </a:lnTo>
                  <a:lnTo>
                    <a:pt x="106" y="739"/>
                  </a:lnTo>
                  <a:lnTo>
                    <a:pt x="109" y="739"/>
                  </a:lnTo>
                  <a:lnTo>
                    <a:pt x="112" y="739"/>
                  </a:lnTo>
                  <a:lnTo>
                    <a:pt x="117" y="739"/>
                  </a:lnTo>
                  <a:lnTo>
                    <a:pt x="120" y="741"/>
                  </a:lnTo>
                  <a:lnTo>
                    <a:pt x="125" y="741"/>
                  </a:lnTo>
                  <a:lnTo>
                    <a:pt x="128" y="741"/>
                  </a:lnTo>
                  <a:lnTo>
                    <a:pt x="133" y="744"/>
                  </a:lnTo>
                  <a:lnTo>
                    <a:pt x="136" y="744"/>
                  </a:lnTo>
                  <a:lnTo>
                    <a:pt x="141" y="744"/>
                  </a:lnTo>
                  <a:lnTo>
                    <a:pt x="144" y="747"/>
                  </a:lnTo>
                  <a:lnTo>
                    <a:pt x="149" y="747"/>
                  </a:lnTo>
                  <a:lnTo>
                    <a:pt x="152" y="749"/>
                  </a:lnTo>
                  <a:lnTo>
                    <a:pt x="157" y="749"/>
                  </a:lnTo>
                  <a:lnTo>
                    <a:pt x="160" y="752"/>
                  </a:lnTo>
                  <a:lnTo>
                    <a:pt x="162" y="747"/>
                  </a:lnTo>
                  <a:lnTo>
                    <a:pt x="162" y="741"/>
                  </a:lnTo>
                  <a:lnTo>
                    <a:pt x="162" y="736"/>
                  </a:lnTo>
                  <a:lnTo>
                    <a:pt x="165" y="731"/>
                  </a:lnTo>
                  <a:lnTo>
                    <a:pt x="165" y="725"/>
                  </a:lnTo>
                  <a:lnTo>
                    <a:pt x="168" y="720"/>
                  </a:lnTo>
                  <a:lnTo>
                    <a:pt x="170" y="715"/>
                  </a:lnTo>
                  <a:lnTo>
                    <a:pt x="170" y="709"/>
                  </a:lnTo>
                  <a:lnTo>
                    <a:pt x="176" y="691"/>
                  </a:lnTo>
                  <a:lnTo>
                    <a:pt x="181" y="675"/>
                  </a:lnTo>
                  <a:lnTo>
                    <a:pt x="186" y="656"/>
                  </a:lnTo>
                  <a:lnTo>
                    <a:pt x="192" y="640"/>
                  </a:lnTo>
                  <a:lnTo>
                    <a:pt x="197" y="624"/>
                  </a:lnTo>
                  <a:lnTo>
                    <a:pt x="205" y="608"/>
                  </a:lnTo>
                  <a:lnTo>
                    <a:pt x="210" y="593"/>
                  </a:lnTo>
                  <a:lnTo>
                    <a:pt x="218" y="577"/>
                  </a:lnTo>
                  <a:lnTo>
                    <a:pt x="218" y="574"/>
                  </a:lnTo>
                  <a:lnTo>
                    <a:pt x="221" y="574"/>
                  </a:lnTo>
                  <a:lnTo>
                    <a:pt x="221" y="571"/>
                  </a:lnTo>
                  <a:lnTo>
                    <a:pt x="221" y="571"/>
                  </a:lnTo>
                  <a:lnTo>
                    <a:pt x="218" y="566"/>
                  </a:lnTo>
                  <a:lnTo>
                    <a:pt x="216" y="566"/>
                  </a:lnTo>
                  <a:lnTo>
                    <a:pt x="216" y="566"/>
                  </a:lnTo>
                  <a:lnTo>
                    <a:pt x="216" y="566"/>
                  </a:lnTo>
                  <a:lnTo>
                    <a:pt x="213" y="563"/>
                  </a:lnTo>
                  <a:lnTo>
                    <a:pt x="213" y="563"/>
                  </a:lnTo>
                  <a:lnTo>
                    <a:pt x="213" y="563"/>
                  </a:lnTo>
                  <a:lnTo>
                    <a:pt x="210" y="561"/>
                  </a:lnTo>
                  <a:lnTo>
                    <a:pt x="208" y="561"/>
                  </a:lnTo>
                  <a:lnTo>
                    <a:pt x="208" y="561"/>
                  </a:lnTo>
                  <a:lnTo>
                    <a:pt x="205" y="561"/>
                  </a:lnTo>
                  <a:lnTo>
                    <a:pt x="205" y="558"/>
                  </a:lnTo>
                  <a:lnTo>
                    <a:pt x="202" y="558"/>
                  </a:lnTo>
                  <a:lnTo>
                    <a:pt x="200" y="558"/>
                  </a:lnTo>
                  <a:lnTo>
                    <a:pt x="197" y="558"/>
                  </a:lnTo>
                  <a:lnTo>
                    <a:pt x="194" y="555"/>
                  </a:lnTo>
                  <a:lnTo>
                    <a:pt x="192" y="555"/>
                  </a:lnTo>
                  <a:lnTo>
                    <a:pt x="189" y="555"/>
                  </a:lnTo>
                  <a:lnTo>
                    <a:pt x="189" y="553"/>
                  </a:lnTo>
                  <a:lnTo>
                    <a:pt x="186" y="553"/>
                  </a:lnTo>
                  <a:lnTo>
                    <a:pt x="186" y="550"/>
                  </a:lnTo>
                  <a:lnTo>
                    <a:pt x="186" y="531"/>
                  </a:lnTo>
                  <a:lnTo>
                    <a:pt x="184" y="515"/>
                  </a:lnTo>
                  <a:lnTo>
                    <a:pt x="184" y="500"/>
                  </a:lnTo>
                  <a:lnTo>
                    <a:pt x="184" y="481"/>
                  </a:lnTo>
                  <a:lnTo>
                    <a:pt x="184" y="473"/>
                  </a:lnTo>
                  <a:lnTo>
                    <a:pt x="184" y="462"/>
                  </a:lnTo>
                  <a:lnTo>
                    <a:pt x="184" y="452"/>
                  </a:lnTo>
                  <a:lnTo>
                    <a:pt x="184" y="444"/>
                  </a:lnTo>
                  <a:lnTo>
                    <a:pt x="184" y="438"/>
                  </a:lnTo>
                  <a:lnTo>
                    <a:pt x="184" y="433"/>
                  </a:lnTo>
                  <a:lnTo>
                    <a:pt x="184" y="430"/>
                  </a:lnTo>
                  <a:lnTo>
                    <a:pt x="184" y="425"/>
                  </a:lnTo>
                  <a:lnTo>
                    <a:pt x="186" y="420"/>
                  </a:lnTo>
                  <a:lnTo>
                    <a:pt x="186" y="412"/>
                  </a:lnTo>
                  <a:lnTo>
                    <a:pt x="186" y="407"/>
                  </a:lnTo>
                  <a:lnTo>
                    <a:pt x="189" y="399"/>
                  </a:lnTo>
                  <a:lnTo>
                    <a:pt x="194" y="396"/>
                  </a:lnTo>
                  <a:lnTo>
                    <a:pt x="200" y="391"/>
                  </a:lnTo>
                  <a:lnTo>
                    <a:pt x="205" y="388"/>
                  </a:lnTo>
                  <a:lnTo>
                    <a:pt x="210" y="385"/>
                  </a:lnTo>
                  <a:lnTo>
                    <a:pt x="218" y="383"/>
                  </a:lnTo>
                  <a:lnTo>
                    <a:pt x="223" y="380"/>
                  </a:lnTo>
                  <a:lnTo>
                    <a:pt x="231" y="380"/>
                  </a:lnTo>
                  <a:lnTo>
                    <a:pt x="237" y="377"/>
                  </a:lnTo>
                  <a:lnTo>
                    <a:pt x="239" y="377"/>
                  </a:lnTo>
                  <a:lnTo>
                    <a:pt x="245" y="375"/>
                  </a:lnTo>
                  <a:lnTo>
                    <a:pt x="247" y="375"/>
                  </a:lnTo>
                  <a:lnTo>
                    <a:pt x="250" y="375"/>
                  </a:lnTo>
                  <a:lnTo>
                    <a:pt x="253" y="372"/>
                  </a:lnTo>
                  <a:lnTo>
                    <a:pt x="255" y="372"/>
                  </a:lnTo>
                  <a:lnTo>
                    <a:pt x="258" y="369"/>
                  </a:lnTo>
                  <a:lnTo>
                    <a:pt x="261" y="369"/>
                  </a:lnTo>
                  <a:lnTo>
                    <a:pt x="261" y="364"/>
                  </a:lnTo>
                  <a:lnTo>
                    <a:pt x="261" y="356"/>
                  </a:lnTo>
                  <a:lnTo>
                    <a:pt x="258" y="348"/>
                  </a:lnTo>
                  <a:lnTo>
                    <a:pt x="255" y="343"/>
                  </a:lnTo>
                  <a:lnTo>
                    <a:pt x="255" y="343"/>
                  </a:lnTo>
                  <a:lnTo>
                    <a:pt x="253" y="340"/>
                  </a:lnTo>
                  <a:lnTo>
                    <a:pt x="253" y="340"/>
                  </a:lnTo>
                  <a:lnTo>
                    <a:pt x="250" y="340"/>
                  </a:lnTo>
                  <a:lnTo>
                    <a:pt x="247" y="340"/>
                  </a:lnTo>
                  <a:lnTo>
                    <a:pt x="247" y="340"/>
                  </a:lnTo>
                  <a:lnTo>
                    <a:pt x="245" y="340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9" y="340"/>
                  </a:lnTo>
                  <a:lnTo>
                    <a:pt x="237" y="340"/>
                  </a:lnTo>
                  <a:lnTo>
                    <a:pt x="237" y="340"/>
                  </a:lnTo>
                  <a:lnTo>
                    <a:pt x="234" y="340"/>
                  </a:lnTo>
                  <a:lnTo>
                    <a:pt x="231" y="340"/>
                  </a:lnTo>
                  <a:lnTo>
                    <a:pt x="231" y="340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26" y="340"/>
                  </a:lnTo>
                  <a:lnTo>
                    <a:pt x="223" y="340"/>
                  </a:lnTo>
                  <a:lnTo>
                    <a:pt x="223" y="340"/>
                  </a:lnTo>
                  <a:lnTo>
                    <a:pt x="221" y="340"/>
                  </a:lnTo>
                  <a:lnTo>
                    <a:pt x="218" y="340"/>
                  </a:lnTo>
                  <a:lnTo>
                    <a:pt x="218" y="340"/>
                  </a:lnTo>
                  <a:lnTo>
                    <a:pt x="216" y="340"/>
                  </a:lnTo>
                  <a:lnTo>
                    <a:pt x="208" y="343"/>
                  </a:lnTo>
                  <a:lnTo>
                    <a:pt x="200" y="343"/>
                  </a:lnTo>
                  <a:lnTo>
                    <a:pt x="192" y="345"/>
                  </a:lnTo>
                  <a:lnTo>
                    <a:pt x="184" y="345"/>
                  </a:lnTo>
                  <a:lnTo>
                    <a:pt x="176" y="348"/>
                  </a:lnTo>
                  <a:lnTo>
                    <a:pt x="170" y="348"/>
                  </a:lnTo>
                  <a:lnTo>
                    <a:pt x="162" y="348"/>
                  </a:lnTo>
                  <a:lnTo>
                    <a:pt x="154" y="351"/>
                  </a:lnTo>
                  <a:lnTo>
                    <a:pt x="146" y="351"/>
                  </a:lnTo>
                  <a:lnTo>
                    <a:pt x="138" y="351"/>
                  </a:lnTo>
                  <a:lnTo>
                    <a:pt x="130" y="348"/>
                  </a:lnTo>
                  <a:lnTo>
                    <a:pt x="125" y="348"/>
                  </a:lnTo>
                  <a:lnTo>
                    <a:pt x="117" y="345"/>
                  </a:lnTo>
                  <a:lnTo>
                    <a:pt x="112" y="340"/>
                  </a:lnTo>
                  <a:lnTo>
                    <a:pt x="104" y="337"/>
                  </a:lnTo>
                  <a:lnTo>
                    <a:pt x="98" y="332"/>
                  </a:lnTo>
                  <a:lnTo>
                    <a:pt x="96" y="329"/>
                  </a:lnTo>
                  <a:lnTo>
                    <a:pt x="93" y="327"/>
                  </a:lnTo>
                  <a:lnTo>
                    <a:pt x="90" y="324"/>
                  </a:lnTo>
                  <a:lnTo>
                    <a:pt x="88" y="322"/>
                  </a:lnTo>
                  <a:lnTo>
                    <a:pt x="85" y="319"/>
                  </a:lnTo>
                  <a:lnTo>
                    <a:pt x="85" y="316"/>
                  </a:lnTo>
                  <a:lnTo>
                    <a:pt x="82" y="316"/>
                  </a:lnTo>
                  <a:lnTo>
                    <a:pt x="80" y="314"/>
                  </a:lnTo>
                  <a:lnTo>
                    <a:pt x="77" y="303"/>
                  </a:lnTo>
                  <a:lnTo>
                    <a:pt x="72" y="292"/>
                  </a:lnTo>
                  <a:lnTo>
                    <a:pt x="72" y="282"/>
                  </a:lnTo>
                  <a:lnTo>
                    <a:pt x="69" y="271"/>
                  </a:lnTo>
                  <a:lnTo>
                    <a:pt x="69" y="263"/>
                  </a:lnTo>
                  <a:lnTo>
                    <a:pt x="72" y="252"/>
                  </a:lnTo>
                  <a:lnTo>
                    <a:pt x="72" y="242"/>
                  </a:lnTo>
                  <a:lnTo>
                    <a:pt x="74" y="231"/>
                  </a:lnTo>
                  <a:lnTo>
                    <a:pt x="77" y="226"/>
                  </a:lnTo>
                  <a:lnTo>
                    <a:pt x="80" y="221"/>
                  </a:lnTo>
                  <a:lnTo>
                    <a:pt x="80" y="215"/>
                  </a:lnTo>
                  <a:lnTo>
                    <a:pt x="82" y="213"/>
                  </a:lnTo>
                  <a:lnTo>
                    <a:pt x="85" y="207"/>
                  </a:lnTo>
                  <a:lnTo>
                    <a:pt x="88" y="202"/>
                  </a:lnTo>
                  <a:lnTo>
                    <a:pt x="90" y="199"/>
                  </a:lnTo>
                  <a:lnTo>
                    <a:pt x="96" y="194"/>
                  </a:lnTo>
                  <a:lnTo>
                    <a:pt x="98" y="191"/>
                  </a:lnTo>
                  <a:lnTo>
                    <a:pt x="104" y="189"/>
                  </a:lnTo>
                  <a:lnTo>
                    <a:pt x="106" y="183"/>
                  </a:lnTo>
                  <a:lnTo>
                    <a:pt x="112" y="181"/>
                  </a:lnTo>
                  <a:lnTo>
                    <a:pt x="114" y="178"/>
                  </a:lnTo>
                  <a:lnTo>
                    <a:pt x="120" y="175"/>
                  </a:lnTo>
                  <a:lnTo>
                    <a:pt x="125" y="173"/>
                  </a:lnTo>
                  <a:lnTo>
                    <a:pt x="130" y="170"/>
                  </a:lnTo>
                  <a:lnTo>
                    <a:pt x="136" y="167"/>
                  </a:lnTo>
                  <a:lnTo>
                    <a:pt x="138" y="165"/>
                  </a:lnTo>
                  <a:lnTo>
                    <a:pt x="144" y="162"/>
                  </a:lnTo>
                  <a:lnTo>
                    <a:pt x="149" y="162"/>
                  </a:lnTo>
                  <a:lnTo>
                    <a:pt x="154" y="159"/>
                  </a:lnTo>
                  <a:lnTo>
                    <a:pt x="160" y="157"/>
                  </a:lnTo>
                  <a:lnTo>
                    <a:pt x="165" y="157"/>
                  </a:lnTo>
                  <a:lnTo>
                    <a:pt x="170" y="154"/>
                  </a:lnTo>
                  <a:lnTo>
                    <a:pt x="173" y="154"/>
                  </a:lnTo>
                  <a:lnTo>
                    <a:pt x="173" y="154"/>
                  </a:lnTo>
                  <a:lnTo>
                    <a:pt x="176" y="154"/>
                  </a:lnTo>
                  <a:lnTo>
                    <a:pt x="178" y="154"/>
                  </a:lnTo>
                  <a:lnTo>
                    <a:pt x="178" y="154"/>
                  </a:lnTo>
                  <a:lnTo>
                    <a:pt x="181" y="154"/>
                  </a:lnTo>
                  <a:lnTo>
                    <a:pt x="181" y="151"/>
                  </a:lnTo>
                  <a:lnTo>
                    <a:pt x="184" y="151"/>
                  </a:lnTo>
                  <a:lnTo>
                    <a:pt x="189" y="151"/>
                  </a:lnTo>
                  <a:lnTo>
                    <a:pt x="194" y="151"/>
                  </a:lnTo>
                  <a:lnTo>
                    <a:pt x="197" y="151"/>
                  </a:lnTo>
                  <a:lnTo>
                    <a:pt x="202" y="151"/>
                  </a:lnTo>
                  <a:lnTo>
                    <a:pt x="208" y="154"/>
                  </a:lnTo>
                  <a:lnTo>
                    <a:pt x="213" y="154"/>
                  </a:lnTo>
                  <a:lnTo>
                    <a:pt x="218" y="154"/>
                  </a:lnTo>
                  <a:lnTo>
                    <a:pt x="223" y="157"/>
                  </a:lnTo>
                  <a:lnTo>
                    <a:pt x="229" y="157"/>
                  </a:lnTo>
                  <a:lnTo>
                    <a:pt x="234" y="159"/>
                  </a:lnTo>
                  <a:lnTo>
                    <a:pt x="239" y="162"/>
                  </a:lnTo>
                  <a:lnTo>
                    <a:pt x="245" y="162"/>
                  </a:lnTo>
                  <a:lnTo>
                    <a:pt x="250" y="165"/>
                  </a:lnTo>
                  <a:lnTo>
                    <a:pt x="253" y="167"/>
                  </a:lnTo>
                  <a:lnTo>
                    <a:pt x="258" y="170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3" y="173"/>
                  </a:lnTo>
                  <a:lnTo>
                    <a:pt x="266" y="173"/>
                  </a:lnTo>
                  <a:lnTo>
                    <a:pt x="266" y="173"/>
                  </a:lnTo>
                  <a:lnTo>
                    <a:pt x="269" y="165"/>
                  </a:lnTo>
                  <a:lnTo>
                    <a:pt x="271" y="157"/>
                  </a:lnTo>
                  <a:lnTo>
                    <a:pt x="274" y="151"/>
                  </a:lnTo>
                  <a:lnTo>
                    <a:pt x="277" y="146"/>
                  </a:lnTo>
                  <a:lnTo>
                    <a:pt x="282" y="141"/>
                  </a:lnTo>
                  <a:lnTo>
                    <a:pt x="287" y="138"/>
                  </a:lnTo>
                  <a:lnTo>
                    <a:pt x="295" y="133"/>
                  </a:lnTo>
                  <a:lnTo>
                    <a:pt x="303" y="130"/>
                  </a:lnTo>
                  <a:lnTo>
                    <a:pt x="309" y="130"/>
                  </a:lnTo>
                  <a:lnTo>
                    <a:pt x="311" y="133"/>
                  </a:lnTo>
                  <a:lnTo>
                    <a:pt x="314" y="133"/>
                  </a:lnTo>
                  <a:lnTo>
                    <a:pt x="317" y="133"/>
                  </a:lnTo>
                  <a:lnTo>
                    <a:pt x="319" y="136"/>
                  </a:lnTo>
                  <a:lnTo>
                    <a:pt x="325" y="136"/>
                  </a:lnTo>
                  <a:lnTo>
                    <a:pt x="327" y="138"/>
                  </a:lnTo>
                  <a:lnTo>
                    <a:pt x="330" y="138"/>
                  </a:lnTo>
                  <a:lnTo>
                    <a:pt x="335" y="141"/>
                  </a:lnTo>
                  <a:lnTo>
                    <a:pt x="341" y="143"/>
                  </a:lnTo>
                  <a:lnTo>
                    <a:pt x="343" y="143"/>
                  </a:lnTo>
                  <a:lnTo>
                    <a:pt x="349" y="146"/>
                  </a:lnTo>
                  <a:lnTo>
                    <a:pt x="354" y="149"/>
                  </a:lnTo>
                  <a:lnTo>
                    <a:pt x="359" y="151"/>
                  </a:lnTo>
                  <a:lnTo>
                    <a:pt x="362" y="154"/>
                  </a:lnTo>
                  <a:lnTo>
                    <a:pt x="367" y="154"/>
                  </a:lnTo>
                  <a:lnTo>
                    <a:pt x="372" y="157"/>
                  </a:lnTo>
                  <a:lnTo>
                    <a:pt x="375" y="159"/>
                  </a:lnTo>
                  <a:lnTo>
                    <a:pt x="380" y="162"/>
                  </a:lnTo>
                  <a:lnTo>
                    <a:pt x="386" y="162"/>
                  </a:lnTo>
                  <a:lnTo>
                    <a:pt x="388" y="165"/>
                  </a:lnTo>
                  <a:lnTo>
                    <a:pt x="394" y="167"/>
                  </a:lnTo>
                  <a:lnTo>
                    <a:pt x="399" y="167"/>
                  </a:lnTo>
                  <a:lnTo>
                    <a:pt x="402" y="170"/>
                  </a:lnTo>
                  <a:lnTo>
                    <a:pt x="404" y="159"/>
                  </a:lnTo>
                  <a:lnTo>
                    <a:pt x="407" y="146"/>
                  </a:lnTo>
                  <a:lnTo>
                    <a:pt x="407" y="133"/>
                  </a:lnTo>
                  <a:lnTo>
                    <a:pt x="407" y="120"/>
                  </a:lnTo>
                  <a:lnTo>
                    <a:pt x="407" y="106"/>
                  </a:lnTo>
                  <a:lnTo>
                    <a:pt x="410" y="93"/>
                  </a:lnTo>
                  <a:lnTo>
                    <a:pt x="412" y="80"/>
                  </a:lnTo>
                  <a:lnTo>
                    <a:pt x="415" y="69"/>
                  </a:lnTo>
                  <a:lnTo>
                    <a:pt x="436" y="58"/>
                  </a:lnTo>
                  <a:lnTo>
                    <a:pt x="436" y="58"/>
                  </a:lnTo>
                  <a:lnTo>
                    <a:pt x="436" y="58"/>
                  </a:lnTo>
                  <a:lnTo>
                    <a:pt x="436" y="58"/>
                  </a:lnTo>
                  <a:lnTo>
                    <a:pt x="436" y="58"/>
                  </a:lnTo>
                  <a:lnTo>
                    <a:pt x="442" y="53"/>
                  </a:lnTo>
                  <a:lnTo>
                    <a:pt x="447" y="50"/>
                  </a:lnTo>
                  <a:lnTo>
                    <a:pt x="452" y="48"/>
                  </a:lnTo>
                  <a:lnTo>
                    <a:pt x="458" y="45"/>
                  </a:lnTo>
                  <a:lnTo>
                    <a:pt x="463" y="40"/>
                  </a:lnTo>
                  <a:lnTo>
                    <a:pt x="471" y="37"/>
                  </a:lnTo>
                  <a:lnTo>
                    <a:pt x="476" y="35"/>
                  </a:lnTo>
                  <a:lnTo>
                    <a:pt x="482" y="32"/>
                  </a:lnTo>
                  <a:lnTo>
                    <a:pt x="487" y="32"/>
                  </a:lnTo>
                  <a:lnTo>
                    <a:pt x="490" y="29"/>
                  </a:lnTo>
                  <a:lnTo>
                    <a:pt x="492" y="27"/>
                  </a:lnTo>
                  <a:lnTo>
                    <a:pt x="498" y="27"/>
                  </a:lnTo>
                  <a:lnTo>
                    <a:pt x="500" y="24"/>
                  </a:lnTo>
                  <a:lnTo>
                    <a:pt x="506" y="24"/>
                  </a:lnTo>
                  <a:lnTo>
                    <a:pt x="508" y="21"/>
                  </a:lnTo>
                  <a:lnTo>
                    <a:pt x="511" y="21"/>
                  </a:lnTo>
                  <a:lnTo>
                    <a:pt x="529" y="11"/>
                  </a:lnTo>
                  <a:lnTo>
                    <a:pt x="559" y="0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6650" y="3119"/>
              <a:ext cx="77" cy="74"/>
            </a:xfrm>
            <a:custGeom>
              <a:rect b="b" l="l" r="r" t="t"/>
              <a:pathLst>
                <a:path extrusionOk="0" h="74" w="77">
                  <a:moveTo>
                    <a:pt x="5" y="0"/>
                  </a:moveTo>
                  <a:lnTo>
                    <a:pt x="8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6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24" y="3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0" y="8"/>
                  </a:lnTo>
                  <a:lnTo>
                    <a:pt x="45" y="11"/>
                  </a:lnTo>
                  <a:lnTo>
                    <a:pt x="51" y="13"/>
                  </a:lnTo>
                  <a:lnTo>
                    <a:pt x="53" y="16"/>
                  </a:lnTo>
                  <a:lnTo>
                    <a:pt x="56" y="19"/>
                  </a:lnTo>
                  <a:lnTo>
                    <a:pt x="66" y="45"/>
                  </a:lnTo>
                  <a:lnTo>
                    <a:pt x="66" y="48"/>
                  </a:lnTo>
                  <a:lnTo>
                    <a:pt x="66" y="48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72" y="50"/>
                  </a:lnTo>
                  <a:lnTo>
                    <a:pt x="72" y="50"/>
                  </a:lnTo>
                  <a:lnTo>
                    <a:pt x="72" y="50"/>
                  </a:lnTo>
                  <a:lnTo>
                    <a:pt x="74" y="50"/>
                  </a:lnTo>
                  <a:lnTo>
                    <a:pt x="77" y="69"/>
                  </a:lnTo>
                  <a:lnTo>
                    <a:pt x="0" y="74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6740" y="3172"/>
              <a:ext cx="8" cy="16"/>
            </a:xfrm>
            <a:custGeom>
              <a:rect b="b" l="l" r="r" t="t"/>
              <a:pathLst>
                <a:path extrusionOk="0" h="16" w="8">
                  <a:moveTo>
                    <a:pt x="6" y="0"/>
                  </a:move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16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3" y="16"/>
                  </a:lnTo>
                  <a:lnTo>
                    <a:pt x="0" y="16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6533" y="3199"/>
              <a:ext cx="378" cy="154"/>
            </a:xfrm>
            <a:custGeom>
              <a:rect b="b" l="l" r="r" t="t"/>
              <a:pathLst>
                <a:path extrusionOk="0" h="154" w="378">
                  <a:moveTo>
                    <a:pt x="261" y="5"/>
                  </a:moveTo>
                  <a:lnTo>
                    <a:pt x="266" y="5"/>
                  </a:lnTo>
                  <a:lnTo>
                    <a:pt x="271" y="5"/>
                  </a:lnTo>
                  <a:lnTo>
                    <a:pt x="277" y="8"/>
                  </a:lnTo>
                  <a:lnTo>
                    <a:pt x="285" y="8"/>
                  </a:lnTo>
                  <a:lnTo>
                    <a:pt x="290" y="8"/>
                  </a:lnTo>
                  <a:lnTo>
                    <a:pt x="295" y="10"/>
                  </a:lnTo>
                  <a:lnTo>
                    <a:pt x="301" y="10"/>
                  </a:lnTo>
                  <a:lnTo>
                    <a:pt x="306" y="10"/>
                  </a:lnTo>
                  <a:lnTo>
                    <a:pt x="311" y="10"/>
                  </a:lnTo>
                  <a:lnTo>
                    <a:pt x="317" y="13"/>
                  </a:lnTo>
                  <a:lnTo>
                    <a:pt x="324" y="13"/>
                  </a:lnTo>
                  <a:lnTo>
                    <a:pt x="330" y="13"/>
                  </a:lnTo>
                  <a:lnTo>
                    <a:pt x="335" y="16"/>
                  </a:lnTo>
                  <a:lnTo>
                    <a:pt x="340" y="16"/>
                  </a:lnTo>
                  <a:lnTo>
                    <a:pt x="346" y="18"/>
                  </a:lnTo>
                  <a:lnTo>
                    <a:pt x="351" y="18"/>
                  </a:lnTo>
                  <a:lnTo>
                    <a:pt x="354" y="21"/>
                  </a:lnTo>
                  <a:lnTo>
                    <a:pt x="354" y="21"/>
                  </a:lnTo>
                  <a:lnTo>
                    <a:pt x="356" y="21"/>
                  </a:lnTo>
                  <a:lnTo>
                    <a:pt x="356" y="21"/>
                  </a:lnTo>
                  <a:lnTo>
                    <a:pt x="354" y="24"/>
                  </a:lnTo>
                  <a:lnTo>
                    <a:pt x="351" y="24"/>
                  </a:lnTo>
                  <a:lnTo>
                    <a:pt x="348" y="26"/>
                  </a:lnTo>
                  <a:lnTo>
                    <a:pt x="348" y="29"/>
                  </a:lnTo>
                  <a:lnTo>
                    <a:pt x="348" y="29"/>
                  </a:lnTo>
                  <a:lnTo>
                    <a:pt x="348" y="29"/>
                  </a:lnTo>
                  <a:lnTo>
                    <a:pt x="348" y="32"/>
                  </a:lnTo>
                  <a:lnTo>
                    <a:pt x="348" y="32"/>
                  </a:lnTo>
                  <a:lnTo>
                    <a:pt x="354" y="32"/>
                  </a:lnTo>
                  <a:lnTo>
                    <a:pt x="356" y="34"/>
                  </a:lnTo>
                  <a:lnTo>
                    <a:pt x="362" y="34"/>
                  </a:lnTo>
                  <a:lnTo>
                    <a:pt x="364" y="37"/>
                  </a:lnTo>
                  <a:lnTo>
                    <a:pt x="367" y="37"/>
                  </a:lnTo>
                  <a:lnTo>
                    <a:pt x="372" y="40"/>
                  </a:lnTo>
                  <a:lnTo>
                    <a:pt x="375" y="45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8" y="50"/>
                  </a:lnTo>
                  <a:lnTo>
                    <a:pt x="354" y="40"/>
                  </a:lnTo>
                  <a:lnTo>
                    <a:pt x="351" y="42"/>
                  </a:lnTo>
                  <a:lnTo>
                    <a:pt x="351" y="45"/>
                  </a:lnTo>
                  <a:lnTo>
                    <a:pt x="348" y="45"/>
                  </a:lnTo>
                  <a:lnTo>
                    <a:pt x="348" y="48"/>
                  </a:lnTo>
                  <a:lnTo>
                    <a:pt x="348" y="50"/>
                  </a:lnTo>
                  <a:lnTo>
                    <a:pt x="348" y="50"/>
                  </a:lnTo>
                  <a:lnTo>
                    <a:pt x="351" y="50"/>
                  </a:lnTo>
                  <a:lnTo>
                    <a:pt x="351" y="50"/>
                  </a:lnTo>
                  <a:lnTo>
                    <a:pt x="378" y="63"/>
                  </a:lnTo>
                  <a:lnTo>
                    <a:pt x="378" y="63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69"/>
                  </a:lnTo>
                  <a:lnTo>
                    <a:pt x="348" y="61"/>
                  </a:lnTo>
                  <a:lnTo>
                    <a:pt x="348" y="61"/>
                  </a:lnTo>
                  <a:lnTo>
                    <a:pt x="346" y="63"/>
                  </a:lnTo>
                  <a:lnTo>
                    <a:pt x="346" y="63"/>
                  </a:lnTo>
                  <a:lnTo>
                    <a:pt x="346" y="66"/>
                  </a:lnTo>
                  <a:lnTo>
                    <a:pt x="348" y="69"/>
                  </a:lnTo>
                  <a:lnTo>
                    <a:pt x="375" y="82"/>
                  </a:lnTo>
                  <a:lnTo>
                    <a:pt x="375" y="82"/>
                  </a:lnTo>
                  <a:lnTo>
                    <a:pt x="375" y="82"/>
                  </a:lnTo>
                  <a:lnTo>
                    <a:pt x="375" y="85"/>
                  </a:lnTo>
                  <a:lnTo>
                    <a:pt x="375" y="85"/>
                  </a:lnTo>
                  <a:lnTo>
                    <a:pt x="370" y="85"/>
                  </a:lnTo>
                  <a:lnTo>
                    <a:pt x="367" y="82"/>
                  </a:lnTo>
                  <a:lnTo>
                    <a:pt x="362" y="79"/>
                  </a:lnTo>
                  <a:lnTo>
                    <a:pt x="356" y="79"/>
                  </a:lnTo>
                  <a:lnTo>
                    <a:pt x="354" y="77"/>
                  </a:lnTo>
                  <a:lnTo>
                    <a:pt x="348" y="77"/>
                  </a:lnTo>
                  <a:lnTo>
                    <a:pt x="346" y="74"/>
                  </a:lnTo>
                  <a:lnTo>
                    <a:pt x="340" y="77"/>
                  </a:lnTo>
                  <a:lnTo>
                    <a:pt x="340" y="77"/>
                  </a:lnTo>
                  <a:lnTo>
                    <a:pt x="340" y="79"/>
                  </a:lnTo>
                  <a:lnTo>
                    <a:pt x="340" y="82"/>
                  </a:lnTo>
                  <a:lnTo>
                    <a:pt x="340" y="85"/>
                  </a:lnTo>
                  <a:lnTo>
                    <a:pt x="372" y="101"/>
                  </a:lnTo>
                  <a:lnTo>
                    <a:pt x="372" y="101"/>
                  </a:lnTo>
                  <a:lnTo>
                    <a:pt x="372" y="101"/>
                  </a:lnTo>
                  <a:lnTo>
                    <a:pt x="375" y="101"/>
                  </a:lnTo>
                  <a:lnTo>
                    <a:pt x="375" y="101"/>
                  </a:lnTo>
                  <a:lnTo>
                    <a:pt x="370" y="101"/>
                  </a:lnTo>
                  <a:lnTo>
                    <a:pt x="364" y="98"/>
                  </a:lnTo>
                  <a:lnTo>
                    <a:pt x="362" y="98"/>
                  </a:lnTo>
                  <a:lnTo>
                    <a:pt x="356" y="95"/>
                  </a:lnTo>
                  <a:lnTo>
                    <a:pt x="351" y="93"/>
                  </a:lnTo>
                  <a:lnTo>
                    <a:pt x="346" y="93"/>
                  </a:lnTo>
                  <a:lnTo>
                    <a:pt x="343" y="93"/>
                  </a:lnTo>
                  <a:lnTo>
                    <a:pt x="338" y="93"/>
                  </a:lnTo>
                  <a:lnTo>
                    <a:pt x="335" y="93"/>
                  </a:lnTo>
                  <a:lnTo>
                    <a:pt x="335" y="93"/>
                  </a:lnTo>
                  <a:lnTo>
                    <a:pt x="335" y="93"/>
                  </a:lnTo>
                  <a:lnTo>
                    <a:pt x="335" y="93"/>
                  </a:lnTo>
                  <a:lnTo>
                    <a:pt x="335" y="95"/>
                  </a:lnTo>
                  <a:lnTo>
                    <a:pt x="335" y="95"/>
                  </a:lnTo>
                  <a:lnTo>
                    <a:pt x="335" y="98"/>
                  </a:lnTo>
                  <a:lnTo>
                    <a:pt x="335" y="101"/>
                  </a:lnTo>
                  <a:lnTo>
                    <a:pt x="372" y="117"/>
                  </a:lnTo>
                  <a:lnTo>
                    <a:pt x="372" y="117"/>
                  </a:lnTo>
                  <a:lnTo>
                    <a:pt x="375" y="119"/>
                  </a:lnTo>
                  <a:lnTo>
                    <a:pt x="375" y="119"/>
                  </a:lnTo>
                  <a:lnTo>
                    <a:pt x="372" y="122"/>
                  </a:lnTo>
                  <a:lnTo>
                    <a:pt x="340" y="114"/>
                  </a:lnTo>
                  <a:lnTo>
                    <a:pt x="340" y="114"/>
                  </a:lnTo>
                  <a:lnTo>
                    <a:pt x="340" y="114"/>
                  </a:lnTo>
                  <a:lnTo>
                    <a:pt x="338" y="117"/>
                  </a:lnTo>
                  <a:lnTo>
                    <a:pt x="338" y="117"/>
                  </a:lnTo>
                  <a:lnTo>
                    <a:pt x="340" y="122"/>
                  </a:lnTo>
                  <a:lnTo>
                    <a:pt x="372" y="135"/>
                  </a:lnTo>
                  <a:lnTo>
                    <a:pt x="370" y="135"/>
                  </a:lnTo>
                  <a:lnTo>
                    <a:pt x="367" y="135"/>
                  </a:lnTo>
                  <a:lnTo>
                    <a:pt x="364" y="133"/>
                  </a:lnTo>
                  <a:lnTo>
                    <a:pt x="362" y="133"/>
                  </a:lnTo>
                  <a:lnTo>
                    <a:pt x="356" y="133"/>
                  </a:lnTo>
                  <a:lnTo>
                    <a:pt x="354" y="133"/>
                  </a:lnTo>
                  <a:lnTo>
                    <a:pt x="351" y="133"/>
                  </a:lnTo>
                  <a:lnTo>
                    <a:pt x="348" y="135"/>
                  </a:lnTo>
                  <a:lnTo>
                    <a:pt x="348" y="135"/>
                  </a:lnTo>
                  <a:lnTo>
                    <a:pt x="348" y="138"/>
                  </a:lnTo>
                  <a:lnTo>
                    <a:pt x="348" y="141"/>
                  </a:lnTo>
                  <a:lnTo>
                    <a:pt x="348" y="141"/>
                  </a:lnTo>
                  <a:lnTo>
                    <a:pt x="351" y="143"/>
                  </a:lnTo>
                  <a:lnTo>
                    <a:pt x="354" y="143"/>
                  </a:lnTo>
                  <a:lnTo>
                    <a:pt x="356" y="146"/>
                  </a:lnTo>
                  <a:lnTo>
                    <a:pt x="362" y="146"/>
                  </a:lnTo>
                  <a:lnTo>
                    <a:pt x="364" y="146"/>
                  </a:lnTo>
                  <a:lnTo>
                    <a:pt x="367" y="148"/>
                  </a:lnTo>
                  <a:lnTo>
                    <a:pt x="370" y="151"/>
                  </a:lnTo>
                  <a:lnTo>
                    <a:pt x="372" y="154"/>
                  </a:lnTo>
                  <a:lnTo>
                    <a:pt x="370" y="154"/>
                  </a:lnTo>
                  <a:lnTo>
                    <a:pt x="370" y="154"/>
                  </a:lnTo>
                  <a:lnTo>
                    <a:pt x="367" y="154"/>
                  </a:lnTo>
                  <a:lnTo>
                    <a:pt x="367" y="154"/>
                  </a:lnTo>
                  <a:lnTo>
                    <a:pt x="364" y="154"/>
                  </a:lnTo>
                  <a:lnTo>
                    <a:pt x="364" y="154"/>
                  </a:lnTo>
                  <a:lnTo>
                    <a:pt x="362" y="154"/>
                  </a:lnTo>
                  <a:lnTo>
                    <a:pt x="362" y="154"/>
                  </a:lnTo>
                  <a:lnTo>
                    <a:pt x="356" y="148"/>
                  </a:lnTo>
                  <a:lnTo>
                    <a:pt x="346" y="146"/>
                  </a:lnTo>
                  <a:lnTo>
                    <a:pt x="335" y="146"/>
                  </a:lnTo>
                  <a:lnTo>
                    <a:pt x="327" y="143"/>
                  </a:lnTo>
                  <a:lnTo>
                    <a:pt x="317" y="141"/>
                  </a:lnTo>
                  <a:lnTo>
                    <a:pt x="309" y="138"/>
                  </a:lnTo>
                  <a:lnTo>
                    <a:pt x="298" y="135"/>
                  </a:lnTo>
                  <a:lnTo>
                    <a:pt x="287" y="133"/>
                  </a:lnTo>
                  <a:lnTo>
                    <a:pt x="277" y="130"/>
                  </a:lnTo>
                  <a:lnTo>
                    <a:pt x="269" y="130"/>
                  </a:lnTo>
                  <a:lnTo>
                    <a:pt x="258" y="127"/>
                  </a:lnTo>
                  <a:lnTo>
                    <a:pt x="247" y="125"/>
                  </a:lnTo>
                  <a:lnTo>
                    <a:pt x="239" y="125"/>
                  </a:lnTo>
                  <a:lnTo>
                    <a:pt x="229" y="122"/>
                  </a:lnTo>
                  <a:lnTo>
                    <a:pt x="218" y="122"/>
                  </a:lnTo>
                  <a:lnTo>
                    <a:pt x="207" y="119"/>
                  </a:lnTo>
                  <a:lnTo>
                    <a:pt x="199" y="119"/>
                  </a:lnTo>
                  <a:lnTo>
                    <a:pt x="194" y="119"/>
                  </a:lnTo>
                  <a:lnTo>
                    <a:pt x="189" y="119"/>
                  </a:lnTo>
                  <a:lnTo>
                    <a:pt x="183" y="119"/>
                  </a:lnTo>
                  <a:lnTo>
                    <a:pt x="178" y="117"/>
                  </a:lnTo>
                  <a:lnTo>
                    <a:pt x="173" y="117"/>
                  </a:lnTo>
                  <a:lnTo>
                    <a:pt x="168" y="117"/>
                  </a:lnTo>
                  <a:lnTo>
                    <a:pt x="162" y="117"/>
                  </a:lnTo>
                  <a:lnTo>
                    <a:pt x="157" y="117"/>
                  </a:lnTo>
                  <a:lnTo>
                    <a:pt x="152" y="117"/>
                  </a:lnTo>
                  <a:lnTo>
                    <a:pt x="146" y="117"/>
                  </a:lnTo>
                  <a:lnTo>
                    <a:pt x="141" y="117"/>
                  </a:lnTo>
                  <a:lnTo>
                    <a:pt x="136" y="117"/>
                  </a:lnTo>
                  <a:lnTo>
                    <a:pt x="130" y="119"/>
                  </a:lnTo>
                  <a:lnTo>
                    <a:pt x="125" y="119"/>
                  </a:lnTo>
                  <a:lnTo>
                    <a:pt x="117" y="119"/>
                  </a:lnTo>
                  <a:lnTo>
                    <a:pt x="112" y="119"/>
                  </a:lnTo>
                  <a:lnTo>
                    <a:pt x="106" y="122"/>
                  </a:lnTo>
                  <a:lnTo>
                    <a:pt x="101" y="122"/>
                  </a:lnTo>
                  <a:lnTo>
                    <a:pt x="96" y="122"/>
                  </a:lnTo>
                  <a:lnTo>
                    <a:pt x="90" y="125"/>
                  </a:lnTo>
                  <a:lnTo>
                    <a:pt x="85" y="125"/>
                  </a:lnTo>
                  <a:lnTo>
                    <a:pt x="80" y="127"/>
                  </a:lnTo>
                  <a:lnTo>
                    <a:pt x="74" y="127"/>
                  </a:lnTo>
                  <a:lnTo>
                    <a:pt x="69" y="130"/>
                  </a:lnTo>
                  <a:lnTo>
                    <a:pt x="64" y="130"/>
                  </a:lnTo>
                  <a:lnTo>
                    <a:pt x="61" y="133"/>
                  </a:lnTo>
                  <a:lnTo>
                    <a:pt x="58" y="133"/>
                  </a:lnTo>
                  <a:lnTo>
                    <a:pt x="53" y="133"/>
                  </a:lnTo>
                  <a:lnTo>
                    <a:pt x="50" y="135"/>
                  </a:lnTo>
                  <a:lnTo>
                    <a:pt x="48" y="135"/>
                  </a:lnTo>
                  <a:lnTo>
                    <a:pt x="45" y="138"/>
                  </a:lnTo>
                  <a:lnTo>
                    <a:pt x="42" y="141"/>
                  </a:lnTo>
                  <a:lnTo>
                    <a:pt x="37" y="141"/>
                  </a:lnTo>
                  <a:lnTo>
                    <a:pt x="34" y="143"/>
                  </a:lnTo>
                  <a:lnTo>
                    <a:pt x="32" y="143"/>
                  </a:lnTo>
                  <a:lnTo>
                    <a:pt x="29" y="146"/>
                  </a:lnTo>
                  <a:lnTo>
                    <a:pt x="26" y="146"/>
                  </a:lnTo>
                  <a:lnTo>
                    <a:pt x="24" y="148"/>
                  </a:lnTo>
                  <a:lnTo>
                    <a:pt x="19" y="148"/>
                  </a:lnTo>
                  <a:lnTo>
                    <a:pt x="16" y="148"/>
                  </a:lnTo>
                  <a:lnTo>
                    <a:pt x="11" y="146"/>
                  </a:lnTo>
                  <a:lnTo>
                    <a:pt x="11" y="146"/>
                  </a:lnTo>
                  <a:lnTo>
                    <a:pt x="11" y="146"/>
                  </a:lnTo>
                  <a:lnTo>
                    <a:pt x="13" y="143"/>
                  </a:lnTo>
                  <a:lnTo>
                    <a:pt x="13" y="143"/>
                  </a:lnTo>
                  <a:lnTo>
                    <a:pt x="16" y="143"/>
                  </a:lnTo>
                  <a:lnTo>
                    <a:pt x="19" y="141"/>
                  </a:lnTo>
                  <a:lnTo>
                    <a:pt x="21" y="141"/>
                  </a:lnTo>
                  <a:lnTo>
                    <a:pt x="21" y="138"/>
                  </a:lnTo>
                  <a:lnTo>
                    <a:pt x="21" y="135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1" y="130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13" y="130"/>
                  </a:lnTo>
                  <a:lnTo>
                    <a:pt x="11" y="130"/>
                  </a:lnTo>
                  <a:lnTo>
                    <a:pt x="8" y="130"/>
                  </a:lnTo>
                  <a:lnTo>
                    <a:pt x="8" y="133"/>
                  </a:lnTo>
                  <a:lnTo>
                    <a:pt x="5" y="133"/>
                  </a:lnTo>
                  <a:lnTo>
                    <a:pt x="5" y="135"/>
                  </a:lnTo>
                  <a:lnTo>
                    <a:pt x="3" y="135"/>
                  </a:lnTo>
                  <a:lnTo>
                    <a:pt x="0" y="138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0" y="133"/>
                  </a:lnTo>
                  <a:lnTo>
                    <a:pt x="0" y="130"/>
                  </a:lnTo>
                  <a:lnTo>
                    <a:pt x="3" y="127"/>
                  </a:lnTo>
                  <a:lnTo>
                    <a:pt x="5" y="125"/>
                  </a:lnTo>
                  <a:lnTo>
                    <a:pt x="8" y="125"/>
                  </a:lnTo>
                  <a:lnTo>
                    <a:pt x="13" y="122"/>
                  </a:lnTo>
                  <a:lnTo>
                    <a:pt x="16" y="122"/>
                  </a:lnTo>
                  <a:lnTo>
                    <a:pt x="21" y="119"/>
                  </a:lnTo>
                  <a:lnTo>
                    <a:pt x="24" y="117"/>
                  </a:lnTo>
                  <a:lnTo>
                    <a:pt x="26" y="114"/>
                  </a:lnTo>
                  <a:lnTo>
                    <a:pt x="26" y="114"/>
                  </a:lnTo>
                  <a:lnTo>
                    <a:pt x="26" y="111"/>
                  </a:lnTo>
                  <a:lnTo>
                    <a:pt x="26" y="111"/>
                  </a:lnTo>
                  <a:lnTo>
                    <a:pt x="26" y="111"/>
                  </a:lnTo>
                  <a:lnTo>
                    <a:pt x="26" y="109"/>
                  </a:lnTo>
                  <a:lnTo>
                    <a:pt x="24" y="109"/>
                  </a:lnTo>
                  <a:lnTo>
                    <a:pt x="24" y="106"/>
                  </a:lnTo>
                  <a:lnTo>
                    <a:pt x="21" y="106"/>
                  </a:lnTo>
                  <a:lnTo>
                    <a:pt x="8" y="109"/>
                  </a:lnTo>
                  <a:lnTo>
                    <a:pt x="8" y="111"/>
                  </a:lnTo>
                  <a:lnTo>
                    <a:pt x="5" y="114"/>
                  </a:lnTo>
                  <a:lnTo>
                    <a:pt x="3" y="114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0" y="109"/>
                  </a:lnTo>
                  <a:lnTo>
                    <a:pt x="0" y="106"/>
                  </a:lnTo>
                  <a:lnTo>
                    <a:pt x="3" y="103"/>
                  </a:lnTo>
                  <a:lnTo>
                    <a:pt x="3" y="101"/>
                  </a:lnTo>
                  <a:lnTo>
                    <a:pt x="5" y="98"/>
                  </a:lnTo>
                  <a:lnTo>
                    <a:pt x="8" y="98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3" y="93"/>
                  </a:lnTo>
                  <a:lnTo>
                    <a:pt x="16" y="93"/>
                  </a:lnTo>
                  <a:lnTo>
                    <a:pt x="19" y="93"/>
                  </a:lnTo>
                  <a:lnTo>
                    <a:pt x="19" y="93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4" y="90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2"/>
                  </a:lnTo>
                  <a:lnTo>
                    <a:pt x="21" y="82"/>
                  </a:lnTo>
                  <a:lnTo>
                    <a:pt x="21" y="79"/>
                  </a:lnTo>
                  <a:lnTo>
                    <a:pt x="19" y="79"/>
                  </a:lnTo>
                  <a:lnTo>
                    <a:pt x="16" y="79"/>
                  </a:lnTo>
                  <a:lnTo>
                    <a:pt x="16" y="79"/>
                  </a:lnTo>
                  <a:lnTo>
                    <a:pt x="13" y="79"/>
                  </a:lnTo>
                  <a:lnTo>
                    <a:pt x="11" y="82"/>
                  </a:lnTo>
                  <a:lnTo>
                    <a:pt x="8" y="82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3" y="87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77"/>
                  </a:lnTo>
                  <a:lnTo>
                    <a:pt x="0" y="74"/>
                  </a:lnTo>
                  <a:lnTo>
                    <a:pt x="5" y="71"/>
                  </a:lnTo>
                  <a:lnTo>
                    <a:pt x="8" y="71"/>
                  </a:lnTo>
                  <a:lnTo>
                    <a:pt x="11" y="69"/>
                  </a:lnTo>
                  <a:lnTo>
                    <a:pt x="16" y="69"/>
                  </a:lnTo>
                  <a:lnTo>
                    <a:pt x="19" y="66"/>
                  </a:lnTo>
                  <a:lnTo>
                    <a:pt x="24" y="63"/>
                  </a:lnTo>
                  <a:lnTo>
                    <a:pt x="24" y="61"/>
                  </a:lnTo>
                  <a:lnTo>
                    <a:pt x="24" y="55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6" y="55"/>
                  </a:lnTo>
                  <a:lnTo>
                    <a:pt x="13" y="55"/>
                  </a:lnTo>
                  <a:lnTo>
                    <a:pt x="13" y="55"/>
                  </a:lnTo>
                  <a:lnTo>
                    <a:pt x="11" y="55"/>
                  </a:lnTo>
                  <a:lnTo>
                    <a:pt x="8" y="58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3" y="61"/>
                  </a:lnTo>
                  <a:lnTo>
                    <a:pt x="3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3" y="55"/>
                  </a:lnTo>
                  <a:lnTo>
                    <a:pt x="5" y="55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6" y="48"/>
                  </a:lnTo>
                  <a:lnTo>
                    <a:pt x="19" y="48"/>
                  </a:lnTo>
                  <a:lnTo>
                    <a:pt x="21" y="45"/>
                  </a:lnTo>
                  <a:lnTo>
                    <a:pt x="24" y="45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6" y="37"/>
                  </a:lnTo>
                  <a:lnTo>
                    <a:pt x="26" y="37"/>
                  </a:lnTo>
                  <a:lnTo>
                    <a:pt x="26" y="34"/>
                  </a:lnTo>
                  <a:lnTo>
                    <a:pt x="24" y="34"/>
                  </a:lnTo>
                  <a:lnTo>
                    <a:pt x="21" y="34"/>
                  </a:lnTo>
                  <a:lnTo>
                    <a:pt x="19" y="34"/>
                  </a:lnTo>
                  <a:lnTo>
                    <a:pt x="16" y="34"/>
                  </a:lnTo>
                  <a:lnTo>
                    <a:pt x="13" y="37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5" y="40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0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11" y="34"/>
                  </a:lnTo>
                  <a:lnTo>
                    <a:pt x="16" y="32"/>
                  </a:lnTo>
                  <a:lnTo>
                    <a:pt x="21" y="29"/>
                  </a:lnTo>
                  <a:lnTo>
                    <a:pt x="26" y="26"/>
                  </a:lnTo>
                  <a:lnTo>
                    <a:pt x="32" y="24"/>
                  </a:lnTo>
                  <a:lnTo>
                    <a:pt x="37" y="21"/>
                  </a:lnTo>
                  <a:lnTo>
                    <a:pt x="42" y="21"/>
                  </a:lnTo>
                  <a:lnTo>
                    <a:pt x="50" y="18"/>
                  </a:lnTo>
                  <a:lnTo>
                    <a:pt x="56" y="16"/>
                  </a:lnTo>
                  <a:lnTo>
                    <a:pt x="61" y="16"/>
                  </a:lnTo>
                  <a:lnTo>
                    <a:pt x="69" y="13"/>
                  </a:lnTo>
                  <a:lnTo>
                    <a:pt x="74" y="13"/>
                  </a:lnTo>
                  <a:lnTo>
                    <a:pt x="80" y="10"/>
                  </a:lnTo>
                  <a:lnTo>
                    <a:pt x="88" y="10"/>
                  </a:lnTo>
                  <a:lnTo>
                    <a:pt x="93" y="8"/>
                  </a:lnTo>
                  <a:lnTo>
                    <a:pt x="98" y="8"/>
                  </a:lnTo>
                  <a:lnTo>
                    <a:pt x="104" y="8"/>
                  </a:lnTo>
                  <a:lnTo>
                    <a:pt x="109" y="5"/>
                  </a:lnTo>
                  <a:lnTo>
                    <a:pt x="114" y="5"/>
                  </a:lnTo>
                  <a:lnTo>
                    <a:pt x="122" y="2"/>
                  </a:lnTo>
                  <a:lnTo>
                    <a:pt x="128" y="2"/>
                  </a:lnTo>
                  <a:lnTo>
                    <a:pt x="136" y="2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9" y="0"/>
                  </a:lnTo>
                  <a:lnTo>
                    <a:pt x="157" y="0"/>
                  </a:lnTo>
                  <a:lnTo>
                    <a:pt x="162" y="0"/>
                  </a:lnTo>
                  <a:lnTo>
                    <a:pt x="170" y="0"/>
                  </a:lnTo>
                  <a:lnTo>
                    <a:pt x="178" y="0"/>
                  </a:lnTo>
                  <a:lnTo>
                    <a:pt x="186" y="0"/>
                  </a:lnTo>
                  <a:lnTo>
                    <a:pt x="194" y="0"/>
                  </a:lnTo>
                  <a:lnTo>
                    <a:pt x="202" y="0"/>
                  </a:lnTo>
                  <a:lnTo>
                    <a:pt x="210" y="0"/>
                  </a:lnTo>
                  <a:lnTo>
                    <a:pt x="218" y="0"/>
                  </a:lnTo>
                  <a:lnTo>
                    <a:pt x="226" y="0"/>
                  </a:lnTo>
                  <a:lnTo>
                    <a:pt x="234" y="2"/>
                  </a:lnTo>
                  <a:lnTo>
                    <a:pt x="242" y="2"/>
                  </a:lnTo>
                  <a:lnTo>
                    <a:pt x="247" y="2"/>
                  </a:lnTo>
                  <a:lnTo>
                    <a:pt x="255" y="5"/>
                  </a:lnTo>
                  <a:lnTo>
                    <a:pt x="261" y="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6541" y="3329"/>
              <a:ext cx="351" cy="56"/>
            </a:xfrm>
            <a:custGeom>
              <a:rect b="b" l="l" r="r" t="t"/>
              <a:pathLst>
                <a:path extrusionOk="0" h="56" w="351">
                  <a:moveTo>
                    <a:pt x="157" y="0"/>
                  </a:moveTo>
                  <a:lnTo>
                    <a:pt x="162" y="3"/>
                  </a:lnTo>
                  <a:lnTo>
                    <a:pt x="167" y="3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86" y="3"/>
                  </a:lnTo>
                  <a:lnTo>
                    <a:pt x="191" y="3"/>
                  </a:lnTo>
                  <a:lnTo>
                    <a:pt x="197" y="3"/>
                  </a:lnTo>
                  <a:lnTo>
                    <a:pt x="205" y="5"/>
                  </a:lnTo>
                  <a:lnTo>
                    <a:pt x="210" y="5"/>
                  </a:lnTo>
                  <a:lnTo>
                    <a:pt x="215" y="5"/>
                  </a:lnTo>
                  <a:lnTo>
                    <a:pt x="223" y="5"/>
                  </a:lnTo>
                  <a:lnTo>
                    <a:pt x="229" y="5"/>
                  </a:lnTo>
                  <a:lnTo>
                    <a:pt x="234" y="8"/>
                  </a:lnTo>
                  <a:lnTo>
                    <a:pt x="239" y="8"/>
                  </a:lnTo>
                  <a:lnTo>
                    <a:pt x="247" y="11"/>
                  </a:lnTo>
                  <a:lnTo>
                    <a:pt x="253" y="11"/>
                  </a:lnTo>
                  <a:lnTo>
                    <a:pt x="258" y="11"/>
                  </a:lnTo>
                  <a:lnTo>
                    <a:pt x="266" y="13"/>
                  </a:lnTo>
                  <a:lnTo>
                    <a:pt x="271" y="13"/>
                  </a:lnTo>
                  <a:lnTo>
                    <a:pt x="277" y="16"/>
                  </a:lnTo>
                  <a:lnTo>
                    <a:pt x="285" y="16"/>
                  </a:lnTo>
                  <a:lnTo>
                    <a:pt x="290" y="18"/>
                  </a:lnTo>
                  <a:lnTo>
                    <a:pt x="298" y="21"/>
                  </a:lnTo>
                  <a:lnTo>
                    <a:pt x="303" y="21"/>
                  </a:lnTo>
                  <a:lnTo>
                    <a:pt x="309" y="24"/>
                  </a:lnTo>
                  <a:lnTo>
                    <a:pt x="316" y="26"/>
                  </a:lnTo>
                  <a:lnTo>
                    <a:pt x="322" y="26"/>
                  </a:lnTo>
                  <a:lnTo>
                    <a:pt x="327" y="29"/>
                  </a:lnTo>
                  <a:lnTo>
                    <a:pt x="335" y="32"/>
                  </a:lnTo>
                  <a:lnTo>
                    <a:pt x="340" y="34"/>
                  </a:lnTo>
                  <a:lnTo>
                    <a:pt x="346" y="37"/>
                  </a:lnTo>
                  <a:lnTo>
                    <a:pt x="351" y="40"/>
                  </a:lnTo>
                  <a:lnTo>
                    <a:pt x="351" y="42"/>
                  </a:lnTo>
                  <a:lnTo>
                    <a:pt x="348" y="42"/>
                  </a:lnTo>
                  <a:lnTo>
                    <a:pt x="346" y="45"/>
                  </a:lnTo>
                  <a:lnTo>
                    <a:pt x="343" y="45"/>
                  </a:lnTo>
                  <a:lnTo>
                    <a:pt x="340" y="48"/>
                  </a:lnTo>
                  <a:lnTo>
                    <a:pt x="338" y="48"/>
                  </a:lnTo>
                  <a:lnTo>
                    <a:pt x="335" y="48"/>
                  </a:lnTo>
                  <a:lnTo>
                    <a:pt x="332" y="50"/>
                  </a:lnTo>
                  <a:lnTo>
                    <a:pt x="327" y="48"/>
                  </a:lnTo>
                  <a:lnTo>
                    <a:pt x="322" y="45"/>
                  </a:lnTo>
                  <a:lnTo>
                    <a:pt x="316" y="42"/>
                  </a:lnTo>
                  <a:lnTo>
                    <a:pt x="311" y="42"/>
                  </a:lnTo>
                  <a:lnTo>
                    <a:pt x="306" y="40"/>
                  </a:lnTo>
                  <a:lnTo>
                    <a:pt x="301" y="37"/>
                  </a:lnTo>
                  <a:lnTo>
                    <a:pt x="295" y="34"/>
                  </a:lnTo>
                  <a:lnTo>
                    <a:pt x="290" y="32"/>
                  </a:lnTo>
                  <a:lnTo>
                    <a:pt x="285" y="32"/>
                  </a:lnTo>
                  <a:lnTo>
                    <a:pt x="279" y="29"/>
                  </a:lnTo>
                  <a:lnTo>
                    <a:pt x="274" y="26"/>
                  </a:lnTo>
                  <a:lnTo>
                    <a:pt x="266" y="26"/>
                  </a:lnTo>
                  <a:lnTo>
                    <a:pt x="261" y="24"/>
                  </a:lnTo>
                  <a:lnTo>
                    <a:pt x="255" y="24"/>
                  </a:lnTo>
                  <a:lnTo>
                    <a:pt x="250" y="21"/>
                  </a:lnTo>
                  <a:lnTo>
                    <a:pt x="245" y="21"/>
                  </a:lnTo>
                  <a:lnTo>
                    <a:pt x="239" y="21"/>
                  </a:lnTo>
                  <a:lnTo>
                    <a:pt x="237" y="18"/>
                  </a:lnTo>
                  <a:lnTo>
                    <a:pt x="231" y="18"/>
                  </a:lnTo>
                  <a:lnTo>
                    <a:pt x="226" y="18"/>
                  </a:lnTo>
                  <a:lnTo>
                    <a:pt x="223" y="16"/>
                  </a:lnTo>
                  <a:lnTo>
                    <a:pt x="218" y="16"/>
                  </a:lnTo>
                  <a:lnTo>
                    <a:pt x="215" y="16"/>
                  </a:lnTo>
                  <a:lnTo>
                    <a:pt x="210" y="16"/>
                  </a:lnTo>
                  <a:lnTo>
                    <a:pt x="205" y="16"/>
                  </a:lnTo>
                  <a:lnTo>
                    <a:pt x="202" y="16"/>
                  </a:lnTo>
                  <a:lnTo>
                    <a:pt x="197" y="16"/>
                  </a:lnTo>
                  <a:lnTo>
                    <a:pt x="194" y="16"/>
                  </a:lnTo>
                  <a:lnTo>
                    <a:pt x="189" y="16"/>
                  </a:lnTo>
                  <a:lnTo>
                    <a:pt x="183" y="16"/>
                  </a:lnTo>
                  <a:lnTo>
                    <a:pt x="181" y="16"/>
                  </a:lnTo>
                  <a:lnTo>
                    <a:pt x="175" y="16"/>
                  </a:lnTo>
                  <a:lnTo>
                    <a:pt x="173" y="16"/>
                  </a:lnTo>
                  <a:lnTo>
                    <a:pt x="170" y="16"/>
                  </a:lnTo>
                  <a:lnTo>
                    <a:pt x="165" y="16"/>
                  </a:lnTo>
                  <a:lnTo>
                    <a:pt x="162" y="16"/>
                  </a:lnTo>
                  <a:lnTo>
                    <a:pt x="160" y="16"/>
                  </a:lnTo>
                  <a:lnTo>
                    <a:pt x="154" y="16"/>
                  </a:lnTo>
                  <a:lnTo>
                    <a:pt x="152" y="16"/>
                  </a:lnTo>
                  <a:lnTo>
                    <a:pt x="149" y="16"/>
                  </a:lnTo>
                  <a:lnTo>
                    <a:pt x="144" y="16"/>
                  </a:lnTo>
                  <a:lnTo>
                    <a:pt x="141" y="16"/>
                  </a:lnTo>
                  <a:lnTo>
                    <a:pt x="138" y="16"/>
                  </a:lnTo>
                  <a:lnTo>
                    <a:pt x="133" y="16"/>
                  </a:lnTo>
                  <a:lnTo>
                    <a:pt x="130" y="18"/>
                  </a:lnTo>
                  <a:lnTo>
                    <a:pt x="128" y="18"/>
                  </a:lnTo>
                  <a:lnTo>
                    <a:pt x="125" y="18"/>
                  </a:lnTo>
                  <a:lnTo>
                    <a:pt x="122" y="18"/>
                  </a:lnTo>
                  <a:lnTo>
                    <a:pt x="117" y="18"/>
                  </a:lnTo>
                  <a:lnTo>
                    <a:pt x="114" y="18"/>
                  </a:lnTo>
                  <a:lnTo>
                    <a:pt x="109" y="21"/>
                  </a:lnTo>
                  <a:lnTo>
                    <a:pt x="106" y="21"/>
                  </a:lnTo>
                  <a:lnTo>
                    <a:pt x="101" y="21"/>
                  </a:lnTo>
                  <a:lnTo>
                    <a:pt x="98" y="24"/>
                  </a:lnTo>
                  <a:lnTo>
                    <a:pt x="93" y="24"/>
                  </a:lnTo>
                  <a:lnTo>
                    <a:pt x="90" y="24"/>
                  </a:lnTo>
                  <a:lnTo>
                    <a:pt x="88" y="24"/>
                  </a:lnTo>
                  <a:lnTo>
                    <a:pt x="82" y="26"/>
                  </a:lnTo>
                  <a:lnTo>
                    <a:pt x="80" y="26"/>
                  </a:lnTo>
                  <a:lnTo>
                    <a:pt x="77" y="26"/>
                  </a:lnTo>
                  <a:lnTo>
                    <a:pt x="74" y="26"/>
                  </a:lnTo>
                  <a:lnTo>
                    <a:pt x="72" y="29"/>
                  </a:lnTo>
                  <a:lnTo>
                    <a:pt x="72" y="29"/>
                  </a:lnTo>
                  <a:lnTo>
                    <a:pt x="69" y="32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0" y="34"/>
                  </a:lnTo>
                  <a:lnTo>
                    <a:pt x="45" y="37"/>
                  </a:lnTo>
                  <a:lnTo>
                    <a:pt x="40" y="40"/>
                  </a:lnTo>
                  <a:lnTo>
                    <a:pt x="34" y="42"/>
                  </a:lnTo>
                  <a:lnTo>
                    <a:pt x="32" y="45"/>
                  </a:lnTo>
                  <a:lnTo>
                    <a:pt x="26" y="48"/>
                  </a:lnTo>
                  <a:lnTo>
                    <a:pt x="24" y="50"/>
                  </a:lnTo>
                  <a:lnTo>
                    <a:pt x="21" y="50"/>
                  </a:lnTo>
                  <a:lnTo>
                    <a:pt x="18" y="53"/>
                  </a:lnTo>
                  <a:lnTo>
                    <a:pt x="18" y="56"/>
                  </a:lnTo>
                  <a:lnTo>
                    <a:pt x="0" y="48"/>
                  </a:lnTo>
                  <a:lnTo>
                    <a:pt x="0" y="45"/>
                  </a:lnTo>
                  <a:lnTo>
                    <a:pt x="3" y="45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1" y="37"/>
                  </a:lnTo>
                  <a:lnTo>
                    <a:pt x="13" y="37"/>
                  </a:lnTo>
                  <a:lnTo>
                    <a:pt x="13" y="34"/>
                  </a:lnTo>
                  <a:lnTo>
                    <a:pt x="16" y="34"/>
                  </a:lnTo>
                  <a:lnTo>
                    <a:pt x="18" y="34"/>
                  </a:lnTo>
                  <a:lnTo>
                    <a:pt x="18" y="32"/>
                  </a:lnTo>
                  <a:lnTo>
                    <a:pt x="21" y="32"/>
                  </a:lnTo>
                  <a:lnTo>
                    <a:pt x="21" y="32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6" y="26"/>
                  </a:lnTo>
                  <a:lnTo>
                    <a:pt x="29" y="26"/>
                  </a:lnTo>
                  <a:lnTo>
                    <a:pt x="32" y="26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4"/>
                  </a:lnTo>
                  <a:lnTo>
                    <a:pt x="40" y="21"/>
                  </a:lnTo>
                  <a:lnTo>
                    <a:pt x="40" y="21"/>
                  </a:lnTo>
                  <a:lnTo>
                    <a:pt x="48" y="18"/>
                  </a:lnTo>
                  <a:lnTo>
                    <a:pt x="53" y="16"/>
                  </a:lnTo>
                  <a:lnTo>
                    <a:pt x="61" y="13"/>
                  </a:lnTo>
                  <a:lnTo>
                    <a:pt x="69" y="11"/>
                  </a:lnTo>
                  <a:lnTo>
                    <a:pt x="74" y="11"/>
                  </a:lnTo>
                  <a:lnTo>
                    <a:pt x="82" y="8"/>
                  </a:lnTo>
                  <a:lnTo>
                    <a:pt x="90" y="5"/>
                  </a:lnTo>
                  <a:lnTo>
                    <a:pt x="98" y="5"/>
                  </a:lnTo>
                  <a:lnTo>
                    <a:pt x="104" y="5"/>
                  </a:lnTo>
                  <a:lnTo>
                    <a:pt x="112" y="3"/>
                  </a:lnTo>
                  <a:lnTo>
                    <a:pt x="120" y="3"/>
                  </a:lnTo>
                  <a:lnTo>
                    <a:pt x="128" y="3"/>
                  </a:lnTo>
                  <a:lnTo>
                    <a:pt x="136" y="3"/>
                  </a:lnTo>
                  <a:lnTo>
                    <a:pt x="141" y="3"/>
                  </a:lnTo>
                  <a:lnTo>
                    <a:pt x="149" y="0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AA3B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6485" y="3358"/>
              <a:ext cx="428" cy="819"/>
            </a:xfrm>
            <a:custGeom>
              <a:rect b="b" l="l" r="r" t="t"/>
              <a:pathLst>
                <a:path extrusionOk="0" h="819" w="428">
                  <a:moveTo>
                    <a:pt x="210" y="0"/>
                  </a:moveTo>
                  <a:lnTo>
                    <a:pt x="216" y="0"/>
                  </a:lnTo>
                  <a:lnTo>
                    <a:pt x="221" y="0"/>
                  </a:lnTo>
                  <a:lnTo>
                    <a:pt x="223" y="0"/>
                  </a:lnTo>
                  <a:lnTo>
                    <a:pt x="229" y="0"/>
                  </a:lnTo>
                  <a:lnTo>
                    <a:pt x="234" y="0"/>
                  </a:lnTo>
                  <a:lnTo>
                    <a:pt x="239" y="0"/>
                  </a:lnTo>
                  <a:lnTo>
                    <a:pt x="242" y="0"/>
                  </a:lnTo>
                  <a:lnTo>
                    <a:pt x="247" y="0"/>
                  </a:lnTo>
                  <a:lnTo>
                    <a:pt x="253" y="0"/>
                  </a:lnTo>
                  <a:lnTo>
                    <a:pt x="255" y="0"/>
                  </a:lnTo>
                  <a:lnTo>
                    <a:pt x="261" y="3"/>
                  </a:lnTo>
                  <a:lnTo>
                    <a:pt x="266" y="3"/>
                  </a:lnTo>
                  <a:lnTo>
                    <a:pt x="271" y="3"/>
                  </a:lnTo>
                  <a:lnTo>
                    <a:pt x="274" y="3"/>
                  </a:lnTo>
                  <a:lnTo>
                    <a:pt x="279" y="3"/>
                  </a:lnTo>
                  <a:lnTo>
                    <a:pt x="285" y="5"/>
                  </a:lnTo>
                  <a:lnTo>
                    <a:pt x="290" y="5"/>
                  </a:lnTo>
                  <a:lnTo>
                    <a:pt x="295" y="5"/>
                  </a:lnTo>
                  <a:lnTo>
                    <a:pt x="303" y="5"/>
                  </a:lnTo>
                  <a:lnTo>
                    <a:pt x="309" y="8"/>
                  </a:lnTo>
                  <a:lnTo>
                    <a:pt x="314" y="11"/>
                  </a:lnTo>
                  <a:lnTo>
                    <a:pt x="319" y="11"/>
                  </a:lnTo>
                  <a:lnTo>
                    <a:pt x="325" y="13"/>
                  </a:lnTo>
                  <a:lnTo>
                    <a:pt x="330" y="16"/>
                  </a:lnTo>
                  <a:lnTo>
                    <a:pt x="335" y="16"/>
                  </a:lnTo>
                  <a:lnTo>
                    <a:pt x="341" y="19"/>
                  </a:lnTo>
                  <a:lnTo>
                    <a:pt x="349" y="21"/>
                  </a:lnTo>
                  <a:lnTo>
                    <a:pt x="354" y="24"/>
                  </a:lnTo>
                  <a:lnTo>
                    <a:pt x="357" y="27"/>
                  </a:lnTo>
                  <a:lnTo>
                    <a:pt x="365" y="29"/>
                  </a:lnTo>
                  <a:lnTo>
                    <a:pt x="367" y="32"/>
                  </a:lnTo>
                  <a:lnTo>
                    <a:pt x="372" y="35"/>
                  </a:lnTo>
                  <a:lnTo>
                    <a:pt x="372" y="35"/>
                  </a:lnTo>
                  <a:lnTo>
                    <a:pt x="372" y="37"/>
                  </a:lnTo>
                  <a:lnTo>
                    <a:pt x="375" y="37"/>
                  </a:lnTo>
                  <a:lnTo>
                    <a:pt x="375" y="40"/>
                  </a:lnTo>
                  <a:lnTo>
                    <a:pt x="357" y="35"/>
                  </a:lnTo>
                  <a:lnTo>
                    <a:pt x="357" y="35"/>
                  </a:lnTo>
                  <a:lnTo>
                    <a:pt x="357" y="35"/>
                  </a:lnTo>
                  <a:lnTo>
                    <a:pt x="357" y="35"/>
                  </a:lnTo>
                  <a:lnTo>
                    <a:pt x="354" y="35"/>
                  </a:lnTo>
                  <a:lnTo>
                    <a:pt x="354" y="35"/>
                  </a:lnTo>
                  <a:lnTo>
                    <a:pt x="351" y="37"/>
                  </a:lnTo>
                  <a:lnTo>
                    <a:pt x="351" y="37"/>
                  </a:lnTo>
                  <a:lnTo>
                    <a:pt x="351" y="40"/>
                  </a:lnTo>
                  <a:lnTo>
                    <a:pt x="351" y="40"/>
                  </a:lnTo>
                  <a:lnTo>
                    <a:pt x="351" y="43"/>
                  </a:lnTo>
                  <a:lnTo>
                    <a:pt x="351" y="43"/>
                  </a:lnTo>
                  <a:lnTo>
                    <a:pt x="351" y="43"/>
                  </a:lnTo>
                  <a:lnTo>
                    <a:pt x="380" y="56"/>
                  </a:lnTo>
                  <a:lnTo>
                    <a:pt x="383" y="59"/>
                  </a:lnTo>
                  <a:lnTo>
                    <a:pt x="383" y="61"/>
                  </a:lnTo>
                  <a:lnTo>
                    <a:pt x="383" y="61"/>
                  </a:lnTo>
                  <a:lnTo>
                    <a:pt x="383" y="64"/>
                  </a:lnTo>
                  <a:lnTo>
                    <a:pt x="380" y="64"/>
                  </a:lnTo>
                  <a:lnTo>
                    <a:pt x="375" y="61"/>
                  </a:lnTo>
                  <a:lnTo>
                    <a:pt x="372" y="59"/>
                  </a:lnTo>
                  <a:lnTo>
                    <a:pt x="370" y="59"/>
                  </a:lnTo>
                  <a:lnTo>
                    <a:pt x="365" y="56"/>
                  </a:lnTo>
                  <a:lnTo>
                    <a:pt x="362" y="56"/>
                  </a:lnTo>
                  <a:lnTo>
                    <a:pt x="359" y="53"/>
                  </a:lnTo>
                  <a:lnTo>
                    <a:pt x="354" y="53"/>
                  </a:lnTo>
                  <a:lnTo>
                    <a:pt x="354" y="56"/>
                  </a:lnTo>
                  <a:lnTo>
                    <a:pt x="351" y="56"/>
                  </a:lnTo>
                  <a:lnTo>
                    <a:pt x="351" y="59"/>
                  </a:lnTo>
                  <a:lnTo>
                    <a:pt x="351" y="59"/>
                  </a:lnTo>
                  <a:lnTo>
                    <a:pt x="351" y="61"/>
                  </a:lnTo>
                  <a:lnTo>
                    <a:pt x="351" y="61"/>
                  </a:lnTo>
                  <a:lnTo>
                    <a:pt x="351" y="61"/>
                  </a:lnTo>
                  <a:lnTo>
                    <a:pt x="351" y="64"/>
                  </a:lnTo>
                  <a:lnTo>
                    <a:pt x="386" y="80"/>
                  </a:lnTo>
                  <a:lnTo>
                    <a:pt x="386" y="80"/>
                  </a:lnTo>
                  <a:lnTo>
                    <a:pt x="388" y="80"/>
                  </a:lnTo>
                  <a:lnTo>
                    <a:pt x="388" y="80"/>
                  </a:lnTo>
                  <a:lnTo>
                    <a:pt x="388" y="80"/>
                  </a:lnTo>
                  <a:lnTo>
                    <a:pt x="391" y="88"/>
                  </a:lnTo>
                  <a:lnTo>
                    <a:pt x="357" y="77"/>
                  </a:lnTo>
                  <a:lnTo>
                    <a:pt x="357" y="77"/>
                  </a:lnTo>
                  <a:lnTo>
                    <a:pt x="357" y="80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7" y="88"/>
                  </a:lnTo>
                  <a:lnTo>
                    <a:pt x="359" y="88"/>
                  </a:lnTo>
                  <a:lnTo>
                    <a:pt x="362" y="88"/>
                  </a:lnTo>
                  <a:lnTo>
                    <a:pt x="365" y="90"/>
                  </a:lnTo>
                  <a:lnTo>
                    <a:pt x="367" y="90"/>
                  </a:lnTo>
                  <a:lnTo>
                    <a:pt x="370" y="93"/>
                  </a:lnTo>
                  <a:lnTo>
                    <a:pt x="372" y="93"/>
                  </a:lnTo>
                  <a:lnTo>
                    <a:pt x="378" y="96"/>
                  </a:lnTo>
                  <a:lnTo>
                    <a:pt x="380" y="98"/>
                  </a:lnTo>
                  <a:lnTo>
                    <a:pt x="380" y="98"/>
                  </a:lnTo>
                  <a:lnTo>
                    <a:pt x="383" y="101"/>
                  </a:lnTo>
                  <a:lnTo>
                    <a:pt x="386" y="101"/>
                  </a:lnTo>
                  <a:lnTo>
                    <a:pt x="388" y="104"/>
                  </a:lnTo>
                  <a:lnTo>
                    <a:pt x="391" y="104"/>
                  </a:lnTo>
                  <a:lnTo>
                    <a:pt x="394" y="106"/>
                  </a:lnTo>
                  <a:lnTo>
                    <a:pt x="394" y="109"/>
                  </a:lnTo>
                  <a:lnTo>
                    <a:pt x="396" y="112"/>
                  </a:lnTo>
                  <a:lnTo>
                    <a:pt x="396" y="112"/>
                  </a:lnTo>
                  <a:lnTo>
                    <a:pt x="396" y="112"/>
                  </a:lnTo>
                  <a:lnTo>
                    <a:pt x="394" y="112"/>
                  </a:lnTo>
                  <a:lnTo>
                    <a:pt x="394" y="112"/>
                  </a:lnTo>
                  <a:lnTo>
                    <a:pt x="367" y="104"/>
                  </a:lnTo>
                  <a:lnTo>
                    <a:pt x="365" y="104"/>
                  </a:lnTo>
                  <a:lnTo>
                    <a:pt x="362" y="106"/>
                  </a:lnTo>
                  <a:lnTo>
                    <a:pt x="362" y="109"/>
                  </a:lnTo>
                  <a:lnTo>
                    <a:pt x="362" y="109"/>
                  </a:lnTo>
                  <a:lnTo>
                    <a:pt x="365" y="112"/>
                  </a:lnTo>
                  <a:lnTo>
                    <a:pt x="365" y="114"/>
                  </a:lnTo>
                  <a:lnTo>
                    <a:pt x="365" y="114"/>
                  </a:lnTo>
                  <a:lnTo>
                    <a:pt x="367" y="117"/>
                  </a:lnTo>
                  <a:lnTo>
                    <a:pt x="367" y="117"/>
                  </a:lnTo>
                  <a:lnTo>
                    <a:pt x="375" y="117"/>
                  </a:lnTo>
                  <a:lnTo>
                    <a:pt x="396" y="130"/>
                  </a:lnTo>
                  <a:lnTo>
                    <a:pt x="396" y="130"/>
                  </a:lnTo>
                  <a:lnTo>
                    <a:pt x="399" y="133"/>
                  </a:lnTo>
                  <a:lnTo>
                    <a:pt x="399" y="133"/>
                  </a:lnTo>
                  <a:lnTo>
                    <a:pt x="399" y="136"/>
                  </a:lnTo>
                  <a:lnTo>
                    <a:pt x="396" y="133"/>
                  </a:lnTo>
                  <a:lnTo>
                    <a:pt x="394" y="130"/>
                  </a:lnTo>
                  <a:lnTo>
                    <a:pt x="388" y="130"/>
                  </a:lnTo>
                  <a:lnTo>
                    <a:pt x="386" y="130"/>
                  </a:lnTo>
                  <a:lnTo>
                    <a:pt x="383" y="128"/>
                  </a:lnTo>
                  <a:lnTo>
                    <a:pt x="380" y="128"/>
                  </a:lnTo>
                  <a:lnTo>
                    <a:pt x="378" y="128"/>
                  </a:lnTo>
                  <a:lnTo>
                    <a:pt x="372" y="128"/>
                  </a:lnTo>
                  <a:lnTo>
                    <a:pt x="372" y="128"/>
                  </a:lnTo>
                  <a:lnTo>
                    <a:pt x="370" y="130"/>
                  </a:lnTo>
                  <a:lnTo>
                    <a:pt x="370" y="130"/>
                  </a:lnTo>
                  <a:lnTo>
                    <a:pt x="370" y="133"/>
                  </a:lnTo>
                  <a:lnTo>
                    <a:pt x="370" y="133"/>
                  </a:lnTo>
                  <a:lnTo>
                    <a:pt x="370" y="133"/>
                  </a:lnTo>
                  <a:lnTo>
                    <a:pt x="370" y="136"/>
                  </a:lnTo>
                  <a:lnTo>
                    <a:pt x="370" y="136"/>
                  </a:lnTo>
                  <a:lnTo>
                    <a:pt x="372" y="138"/>
                  </a:lnTo>
                  <a:lnTo>
                    <a:pt x="378" y="138"/>
                  </a:lnTo>
                  <a:lnTo>
                    <a:pt x="383" y="141"/>
                  </a:lnTo>
                  <a:lnTo>
                    <a:pt x="386" y="144"/>
                  </a:lnTo>
                  <a:lnTo>
                    <a:pt x="391" y="146"/>
                  </a:lnTo>
                  <a:lnTo>
                    <a:pt x="396" y="149"/>
                  </a:lnTo>
                  <a:lnTo>
                    <a:pt x="399" y="152"/>
                  </a:lnTo>
                  <a:lnTo>
                    <a:pt x="402" y="154"/>
                  </a:lnTo>
                  <a:lnTo>
                    <a:pt x="402" y="157"/>
                  </a:lnTo>
                  <a:lnTo>
                    <a:pt x="402" y="160"/>
                  </a:lnTo>
                  <a:lnTo>
                    <a:pt x="402" y="160"/>
                  </a:lnTo>
                  <a:lnTo>
                    <a:pt x="404" y="162"/>
                  </a:lnTo>
                  <a:lnTo>
                    <a:pt x="375" y="149"/>
                  </a:lnTo>
                  <a:lnTo>
                    <a:pt x="375" y="149"/>
                  </a:lnTo>
                  <a:lnTo>
                    <a:pt x="372" y="152"/>
                  </a:lnTo>
                  <a:lnTo>
                    <a:pt x="372" y="152"/>
                  </a:lnTo>
                  <a:lnTo>
                    <a:pt x="372" y="154"/>
                  </a:lnTo>
                  <a:lnTo>
                    <a:pt x="370" y="160"/>
                  </a:lnTo>
                  <a:lnTo>
                    <a:pt x="372" y="160"/>
                  </a:lnTo>
                  <a:lnTo>
                    <a:pt x="372" y="160"/>
                  </a:lnTo>
                  <a:lnTo>
                    <a:pt x="372" y="162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8" y="162"/>
                  </a:lnTo>
                  <a:lnTo>
                    <a:pt x="378" y="162"/>
                  </a:lnTo>
                  <a:lnTo>
                    <a:pt x="383" y="162"/>
                  </a:lnTo>
                  <a:lnTo>
                    <a:pt x="386" y="165"/>
                  </a:lnTo>
                  <a:lnTo>
                    <a:pt x="388" y="168"/>
                  </a:lnTo>
                  <a:lnTo>
                    <a:pt x="394" y="170"/>
                  </a:lnTo>
                  <a:lnTo>
                    <a:pt x="396" y="173"/>
                  </a:lnTo>
                  <a:lnTo>
                    <a:pt x="399" y="175"/>
                  </a:lnTo>
                  <a:lnTo>
                    <a:pt x="404" y="178"/>
                  </a:lnTo>
                  <a:lnTo>
                    <a:pt x="407" y="183"/>
                  </a:lnTo>
                  <a:lnTo>
                    <a:pt x="407" y="191"/>
                  </a:lnTo>
                  <a:lnTo>
                    <a:pt x="404" y="191"/>
                  </a:lnTo>
                  <a:lnTo>
                    <a:pt x="399" y="189"/>
                  </a:lnTo>
                  <a:lnTo>
                    <a:pt x="394" y="186"/>
                  </a:lnTo>
                  <a:lnTo>
                    <a:pt x="391" y="186"/>
                  </a:lnTo>
                  <a:lnTo>
                    <a:pt x="386" y="183"/>
                  </a:lnTo>
                  <a:lnTo>
                    <a:pt x="380" y="181"/>
                  </a:lnTo>
                  <a:lnTo>
                    <a:pt x="378" y="181"/>
                  </a:lnTo>
                  <a:lnTo>
                    <a:pt x="372" y="183"/>
                  </a:lnTo>
                  <a:lnTo>
                    <a:pt x="372" y="183"/>
                  </a:lnTo>
                  <a:lnTo>
                    <a:pt x="372" y="186"/>
                  </a:lnTo>
                  <a:lnTo>
                    <a:pt x="370" y="186"/>
                  </a:lnTo>
                  <a:lnTo>
                    <a:pt x="370" y="189"/>
                  </a:lnTo>
                  <a:lnTo>
                    <a:pt x="370" y="189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5" y="191"/>
                  </a:lnTo>
                  <a:lnTo>
                    <a:pt x="378" y="191"/>
                  </a:lnTo>
                  <a:lnTo>
                    <a:pt x="380" y="191"/>
                  </a:lnTo>
                  <a:lnTo>
                    <a:pt x="383" y="194"/>
                  </a:lnTo>
                  <a:lnTo>
                    <a:pt x="386" y="194"/>
                  </a:lnTo>
                  <a:lnTo>
                    <a:pt x="388" y="197"/>
                  </a:lnTo>
                  <a:lnTo>
                    <a:pt x="391" y="197"/>
                  </a:lnTo>
                  <a:lnTo>
                    <a:pt x="396" y="199"/>
                  </a:lnTo>
                  <a:lnTo>
                    <a:pt x="396" y="199"/>
                  </a:lnTo>
                  <a:lnTo>
                    <a:pt x="399" y="202"/>
                  </a:lnTo>
                  <a:lnTo>
                    <a:pt x="402" y="202"/>
                  </a:lnTo>
                  <a:lnTo>
                    <a:pt x="404" y="205"/>
                  </a:lnTo>
                  <a:lnTo>
                    <a:pt x="407" y="205"/>
                  </a:lnTo>
                  <a:lnTo>
                    <a:pt x="410" y="207"/>
                  </a:lnTo>
                  <a:lnTo>
                    <a:pt x="410" y="207"/>
                  </a:lnTo>
                  <a:lnTo>
                    <a:pt x="410" y="210"/>
                  </a:lnTo>
                  <a:lnTo>
                    <a:pt x="410" y="213"/>
                  </a:lnTo>
                  <a:lnTo>
                    <a:pt x="410" y="215"/>
                  </a:lnTo>
                  <a:lnTo>
                    <a:pt x="412" y="218"/>
                  </a:lnTo>
                  <a:lnTo>
                    <a:pt x="412" y="221"/>
                  </a:lnTo>
                  <a:lnTo>
                    <a:pt x="407" y="218"/>
                  </a:lnTo>
                  <a:lnTo>
                    <a:pt x="404" y="218"/>
                  </a:lnTo>
                  <a:lnTo>
                    <a:pt x="402" y="215"/>
                  </a:lnTo>
                  <a:lnTo>
                    <a:pt x="399" y="215"/>
                  </a:lnTo>
                  <a:lnTo>
                    <a:pt x="394" y="213"/>
                  </a:lnTo>
                  <a:lnTo>
                    <a:pt x="391" y="210"/>
                  </a:lnTo>
                  <a:lnTo>
                    <a:pt x="388" y="210"/>
                  </a:lnTo>
                  <a:lnTo>
                    <a:pt x="383" y="210"/>
                  </a:lnTo>
                  <a:lnTo>
                    <a:pt x="383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3"/>
                  </a:lnTo>
                  <a:lnTo>
                    <a:pt x="380" y="213"/>
                  </a:lnTo>
                  <a:lnTo>
                    <a:pt x="380" y="215"/>
                  </a:lnTo>
                  <a:lnTo>
                    <a:pt x="380" y="218"/>
                  </a:lnTo>
                  <a:lnTo>
                    <a:pt x="380" y="221"/>
                  </a:lnTo>
                  <a:lnTo>
                    <a:pt x="380" y="221"/>
                  </a:lnTo>
                  <a:lnTo>
                    <a:pt x="380" y="221"/>
                  </a:lnTo>
                  <a:lnTo>
                    <a:pt x="383" y="223"/>
                  </a:lnTo>
                  <a:lnTo>
                    <a:pt x="383" y="223"/>
                  </a:lnTo>
                  <a:lnTo>
                    <a:pt x="388" y="223"/>
                  </a:lnTo>
                  <a:lnTo>
                    <a:pt x="391" y="223"/>
                  </a:lnTo>
                  <a:lnTo>
                    <a:pt x="396" y="226"/>
                  </a:lnTo>
                  <a:lnTo>
                    <a:pt x="399" y="226"/>
                  </a:lnTo>
                  <a:lnTo>
                    <a:pt x="402" y="229"/>
                  </a:lnTo>
                  <a:lnTo>
                    <a:pt x="404" y="231"/>
                  </a:lnTo>
                  <a:lnTo>
                    <a:pt x="410" y="234"/>
                  </a:lnTo>
                  <a:lnTo>
                    <a:pt x="412" y="237"/>
                  </a:lnTo>
                  <a:lnTo>
                    <a:pt x="412" y="239"/>
                  </a:lnTo>
                  <a:lnTo>
                    <a:pt x="415" y="242"/>
                  </a:lnTo>
                  <a:lnTo>
                    <a:pt x="415" y="245"/>
                  </a:lnTo>
                  <a:lnTo>
                    <a:pt x="415" y="245"/>
                  </a:lnTo>
                  <a:lnTo>
                    <a:pt x="412" y="245"/>
                  </a:lnTo>
                  <a:lnTo>
                    <a:pt x="407" y="245"/>
                  </a:lnTo>
                  <a:lnTo>
                    <a:pt x="404" y="242"/>
                  </a:lnTo>
                  <a:lnTo>
                    <a:pt x="402" y="242"/>
                  </a:lnTo>
                  <a:lnTo>
                    <a:pt x="396" y="239"/>
                  </a:lnTo>
                  <a:lnTo>
                    <a:pt x="394" y="239"/>
                  </a:lnTo>
                  <a:lnTo>
                    <a:pt x="388" y="239"/>
                  </a:lnTo>
                  <a:lnTo>
                    <a:pt x="386" y="242"/>
                  </a:lnTo>
                  <a:lnTo>
                    <a:pt x="386" y="242"/>
                  </a:lnTo>
                  <a:lnTo>
                    <a:pt x="386" y="242"/>
                  </a:lnTo>
                  <a:lnTo>
                    <a:pt x="383" y="242"/>
                  </a:lnTo>
                  <a:lnTo>
                    <a:pt x="383" y="242"/>
                  </a:lnTo>
                  <a:lnTo>
                    <a:pt x="383" y="247"/>
                  </a:lnTo>
                  <a:lnTo>
                    <a:pt x="383" y="247"/>
                  </a:lnTo>
                  <a:lnTo>
                    <a:pt x="386" y="250"/>
                  </a:lnTo>
                  <a:lnTo>
                    <a:pt x="386" y="250"/>
                  </a:lnTo>
                  <a:lnTo>
                    <a:pt x="388" y="253"/>
                  </a:lnTo>
                  <a:lnTo>
                    <a:pt x="391" y="250"/>
                  </a:lnTo>
                  <a:lnTo>
                    <a:pt x="396" y="253"/>
                  </a:lnTo>
                  <a:lnTo>
                    <a:pt x="399" y="253"/>
                  </a:lnTo>
                  <a:lnTo>
                    <a:pt x="402" y="255"/>
                  </a:lnTo>
                  <a:lnTo>
                    <a:pt x="407" y="255"/>
                  </a:lnTo>
                  <a:lnTo>
                    <a:pt x="410" y="258"/>
                  </a:lnTo>
                  <a:lnTo>
                    <a:pt x="412" y="261"/>
                  </a:lnTo>
                  <a:lnTo>
                    <a:pt x="415" y="261"/>
                  </a:lnTo>
                  <a:lnTo>
                    <a:pt x="415" y="268"/>
                  </a:lnTo>
                  <a:lnTo>
                    <a:pt x="412" y="268"/>
                  </a:lnTo>
                  <a:lnTo>
                    <a:pt x="410" y="268"/>
                  </a:lnTo>
                  <a:lnTo>
                    <a:pt x="407" y="268"/>
                  </a:lnTo>
                  <a:lnTo>
                    <a:pt x="404" y="266"/>
                  </a:lnTo>
                  <a:lnTo>
                    <a:pt x="399" y="266"/>
                  </a:lnTo>
                  <a:lnTo>
                    <a:pt x="396" y="266"/>
                  </a:lnTo>
                  <a:lnTo>
                    <a:pt x="394" y="266"/>
                  </a:lnTo>
                  <a:lnTo>
                    <a:pt x="391" y="268"/>
                  </a:lnTo>
                  <a:lnTo>
                    <a:pt x="391" y="268"/>
                  </a:lnTo>
                  <a:lnTo>
                    <a:pt x="388" y="271"/>
                  </a:lnTo>
                  <a:lnTo>
                    <a:pt x="388" y="274"/>
                  </a:lnTo>
                  <a:lnTo>
                    <a:pt x="388" y="274"/>
                  </a:lnTo>
                  <a:lnTo>
                    <a:pt x="418" y="284"/>
                  </a:lnTo>
                  <a:lnTo>
                    <a:pt x="418" y="287"/>
                  </a:lnTo>
                  <a:lnTo>
                    <a:pt x="418" y="290"/>
                  </a:lnTo>
                  <a:lnTo>
                    <a:pt x="420" y="292"/>
                  </a:lnTo>
                  <a:lnTo>
                    <a:pt x="420" y="298"/>
                  </a:lnTo>
                  <a:lnTo>
                    <a:pt x="415" y="298"/>
                  </a:lnTo>
                  <a:lnTo>
                    <a:pt x="412" y="295"/>
                  </a:lnTo>
                  <a:lnTo>
                    <a:pt x="410" y="295"/>
                  </a:lnTo>
                  <a:lnTo>
                    <a:pt x="404" y="292"/>
                  </a:lnTo>
                  <a:lnTo>
                    <a:pt x="402" y="292"/>
                  </a:lnTo>
                  <a:lnTo>
                    <a:pt x="399" y="292"/>
                  </a:lnTo>
                  <a:lnTo>
                    <a:pt x="394" y="292"/>
                  </a:lnTo>
                  <a:lnTo>
                    <a:pt x="391" y="292"/>
                  </a:lnTo>
                  <a:lnTo>
                    <a:pt x="391" y="292"/>
                  </a:lnTo>
                  <a:lnTo>
                    <a:pt x="388" y="295"/>
                  </a:lnTo>
                  <a:lnTo>
                    <a:pt x="388" y="295"/>
                  </a:lnTo>
                  <a:lnTo>
                    <a:pt x="388" y="298"/>
                  </a:lnTo>
                  <a:lnTo>
                    <a:pt x="388" y="298"/>
                  </a:lnTo>
                  <a:lnTo>
                    <a:pt x="388" y="298"/>
                  </a:lnTo>
                  <a:lnTo>
                    <a:pt x="388" y="298"/>
                  </a:lnTo>
                  <a:lnTo>
                    <a:pt x="388" y="298"/>
                  </a:lnTo>
                  <a:lnTo>
                    <a:pt x="388" y="298"/>
                  </a:lnTo>
                  <a:lnTo>
                    <a:pt x="388" y="300"/>
                  </a:lnTo>
                  <a:lnTo>
                    <a:pt x="388" y="300"/>
                  </a:lnTo>
                  <a:lnTo>
                    <a:pt x="388" y="300"/>
                  </a:lnTo>
                  <a:lnTo>
                    <a:pt x="394" y="300"/>
                  </a:lnTo>
                  <a:lnTo>
                    <a:pt x="396" y="303"/>
                  </a:lnTo>
                  <a:lnTo>
                    <a:pt x="402" y="303"/>
                  </a:lnTo>
                  <a:lnTo>
                    <a:pt x="404" y="306"/>
                  </a:lnTo>
                  <a:lnTo>
                    <a:pt x="410" y="306"/>
                  </a:lnTo>
                  <a:lnTo>
                    <a:pt x="412" y="308"/>
                  </a:lnTo>
                  <a:lnTo>
                    <a:pt x="418" y="311"/>
                  </a:lnTo>
                  <a:lnTo>
                    <a:pt x="420" y="314"/>
                  </a:lnTo>
                  <a:lnTo>
                    <a:pt x="420" y="314"/>
                  </a:lnTo>
                  <a:lnTo>
                    <a:pt x="420" y="316"/>
                  </a:lnTo>
                  <a:lnTo>
                    <a:pt x="420" y="316"/>
                  </a:lnTo>
                  <a:lnTo>
                    <a:pt x="420" y="316"/>
                  </a:lnTo>
                  <a:lnTo>
                    <a:pt x="394" y="311"/>
                  </a:lnTo>
                  <a:lnTo>
                    <a:pt x="394" y="314"/>
                  </a:lnTo>
                  <a:lnTo>
                    <a:pt x="391" y="314"/>
                  </a:lnTo>
                  <a:lnTo>
                    <a:pt x="391" y="314"/>
                  </a:lnTo>
                  <a:lnTo>
                    <a:pt x="391" y="316"/>
                  </a:lnTo>
                  <a:lnTo>
                    <a:pt x="394" y="319"/>
                  </a:lnTo>
                  <a:lnTo>
                    <a:pt x="396" y="322"/>
                  </a:lnTo>
                  <a:lnTo>
                    <a:pt x="399" y="324"/>
                  </a:lnTo>
                  <a:lnTo>
                    <a:pt x="404" y="324"/>
                  </a:lnTo>
                  <a:lnTo>
                    <a:pt x="407" y="327"/>
                  </a:lnTo>
                  <a:lnTo>
                    <a:pt x="412" y="327"/>
                  </a:lnTo>
                  <a:lnTo>
                    <a:pt x="415" y="330"/>
                  </a:lnTo>
                  <a:lnTo>
                    <a:pt x="420" y="332"/>
                  </a:lnTo>
                  <a:lnTo>
                    <a:pt x="420" y="332"/>
                  </a:lnTo>
                  <a:lnTo>
                    <a:pt x="423" y="335"/>
                  </a:lnTo>
                  <a:lnTo>
                    <a:pt x="423" y="340"/>
                  </a:lnTo>
                  <a:lnTo>
                    <a:pt x="423" y="343"/>
                  </a:lnTo>
                  <a:lnTo>
                    <a:pt x="391" y="332"/>
                  </a:lnTo>
                  <a:lnTo>
                    <a:pt x="388" y="335"/>
                  </a:lnTo>
                  <a:lnTo>
                    <a:pt x="388" y="338"/>
                  </a:lnTo>
                  <a:lnTo>
                    <a:pt x="386" y="340"/>
                  </a:lnTo>
                  <a:lnTo>
                    <a:pt x="386" y="343"/>
                  </a:lnTo>
                  <a:lnTo>
                    <a:pt x="386" y="343"/>
                  </a:lnTo>
                  <a:lnTo>
                    <a:pt x="388" y="343"/>
                  </a:lnTo>
                  <a:lnTo>
                    <a:pt x="388" y="343"/>
                  </a:lnTo>
                  <a:lnTo>
                    <a:pt x="388" y="346"/>
                  </a:lnTo>
                  <a:lnTo>
                    <a:pt x="388" y="346"/>
                  </a:lnTo>
                  <a:lnTo>
                    <a:pt x="391" y="346"/>
                  </a:lnTo>
                  <a:lnTo>
                    <a:pt x="391" y="346"/>
                  </a:lnTo>
                  <a:lnTo>
                    <a:pt x="391" y="343"/>
                  </a:lnTo>
                  <a:lnTo>
                    <a:pt x="396" y="346"/>
                  </a:lnTo>
                  <a:lnTo>
                    <a:pt x="402" y="346"/>
                  </a:lnTo>
                  <a:lnTo>
                    <a:pt x="407" y="348"/>
                  </a:lnTo>
                  <a:lnTo>
                    <a:pt x="410" y="351"/>
                  </a:lnTo>
                  <a:lnTo>
                    <a:pt x="415" y="354"/>
                  </a:lnTo>
                  <a:lnTo>
                    <a:pt x="418" y="356"/>
                  </a:lnTo>
                  <a:lnTo>
                    <a:pt x="420" y="359"/>
                  </a:lnTo>
                  <a:lnTo>
                    <a:pt x="423" y="361"/>
                  </a:lnTo>
                  <a:lnTo>
                    <a:pt x="423" y="367"/>
                  </a:lnTo>
                  <a:lnTo>
                    <a:pt x="426" y="369"/>
                  </a:lnTo>
                  <a:lnTo>
                    <a:pt x="426" y="372"/>
                  </a:lnTo>
                  <a:lnTo>
                    <a:pt x="426" y="375"/>
                  </a:lnTo>
                  <a:lnTo>
                    <a:pt x="423" y="375"/>
                  </a:lnTo>
                  <a:lnTo>
                    <a:pt x="420" y="375"/>
                  </a:lnTo>
                  <a:lnTo>
                    <a:pt x="420" y="372"/>
                  </a:lnTo>
                  <a:lnTo>
                    <a:pt x="418" y="369"/>
                  </a:lnTo>
                  <a:lnTo>
                    <a:pt x="415" y="369"/>
                  </a:lnTo>
                  <a:lnTo>
                    <a:pt x="412" y="369"/>
                  </a:lnTo>
                  <a:lnTo>
                    <a:pt x="410" y="367"/>
                  </a:lnTo>
                  <a:lnTo>
                    <a:pt x="407" y="367"/>
                  </a:lnTo>
                  <a:lnTo>
                    <a:pt x="404" y="364"/>
                  </a:lnTo>
                  <a:lnTo>
                    <a:pt x="402" y="364"/>
                  </a:lnTo>
                  <a:lnTo>
                    <a:pt x="399" y="364"/>
                  </a:lnTo>
                  <a:lnTo>
                    <a:pt x="396" y="364"/>
                  </a:lnTo>
                  <a:lnTo>
                    <a:pt x="394" y="364"/>
                  </a:lnTo>
                  <a:lnTo>
                    <a:pt x="394" y="367"/>
                  </a:lnTo>
                  <a:lnTo>
                    <a:pt x="391" y="367"/>
                  </a:lnTo>
                  <a:lnTo>
                    <a:pt x="391" y="369"/>
                  </a:lnTo>
                  <a:lnTo>
                    <a:pt x="391" y="369"/>
                  </a:lnTo>
                  <a:lnTo>
                    <a:pt x="391" y="372"/>
                  </a:lnTo>
                  <a:lnTo>
                    <a:pt x="391" y="375"/>
                  </a:lnTo>
                  <a:lnTo>
                    <a:pt x="391" y="375"/>
                  </a:lnTo>
                  <a:lnTo>
                    <a:pt x="391" y="375"/>
                  </a:lnTo>
                  <a:lnTo>
                    <a:pt x="391" y="377"/>
                  </a:lnTo>
                  <a:lnTo>
                    <a:pt x="394" y="377"/>
                  </a:lnTo>
                  <a:lnTo>
                    <a:pt x="394" y="377"/>
                  </a:lnTo>
                  <a:lnTo>
                    <a:pt x="399" y="375"/>
                  </a:lnTo>
                  <a:lnTo>
                    <a:pt x="423" y="391"/>
                  </a:lnTo>
                  <a:lnTo>
                    <a:pt x="426" y="401"/>
                  </a:lnTo>
                  <a:lnTo>
                    <a:pt x="402" y="399"/>
                  </a:lnTo>
                  <a:lnTo>
                    <a:pt x="399" y="399"/>
                  </a:lnTo>
                  <a:lnTo>
                    <a:pt x="399" y="401"/>
                  </a:lnTo>
                  <a:lnTo>
                    <a:pt x="396" y="401"/>
                  </a:lnTo>
                  <a:lnTo>
                    <a:pt x="396" y="401"/>
                  </a:lnTo>
                  <a:lnTo>
                    <a:pt x="396" y="407"/>
                  </a:lnTo>
                  <a:lnTo>
                    <a:pt x="426" y="420"/>
                  </a:lnTo>
                  <a:lnTo>
                    <a:pt x="426" y="420"/>
                  </a:lnTo>
                  <a:lnTo>
                    <a:pt x="426" y="423"/>
                  </a:lnTo>
                  <a:lnTo>
                    <a:pt x="426" y="428"/>
                  </a:lnTo>
                  <a:lnTo>
                    <a:pt x="426" y="431"/>
                  </a:lnTo>
                  <a:lnTo>
                    <a:pt x="402" y="425"/>
                  </a:lnTo>
                  <a:lnTo>
                    <a:pt x="399" y="428"/>
                  </a:lnTo>
                  <a:lnTo>
                    <a:pt x="399" y="428"/>
                  </a:lnTo>
                  <a:lnTo>
                    <a:pt x="396" y="431"/>
                  </a:lnTo>
                  <a:lnTo>
                    <a:pt x="396" y="431"/>
                  </a:lnTo>
                  <a:lnTo>
                    <a:pt x="399" y="436"/>
                  </a:lnTo>
                  <a:lnTo>
                    <a:pt x="402" y="436"/>
                  </a:lnTo>
                  <a:lnTo>
                    <a:pt x="404" y="439"/>
                  </a:lnTo>
                  <a:lnTo>
                    <a:pt x="407" y="439"/>
                  </a:lnTo>
                  <a:lnTo>
                    <a:pt x="412" y="439"/>
                  </a:lnTo>
                  <a:lnTo>
                    <a:pt x="415" y="441"/>
                  </a:lnTo>
                  <a:lnTo>
                    <a:pt x="418" y="441"/>
                  </a:lnTo>
                  <a:lnTo>
                    <a:pt x="420" y="444"/>
                  </a:lnTo>
                  <a:lnTo>
                    <a:pt x="423" y="444"/>
                  </a:lnTo>
                  <a:lnTo>
                    <a:pt x="426" y="444"/>
                  </a:lnTo>
                  <a:lnTo>
                    <a:pt x="426" y="447"/>
                  </a:lnTo>
                  <a:lnTo>
                    <a:pt x="426" y="447"/>
                  </a:lnTo>
                  <a:lnTo>
                    <a:pt x="428" y="447"/>
                  </a:lnTo>
                  <a:lnTo>
                    <a:pt x="428" y="447"/>
                  </a:lnTo>
                  <a:lnTo>
                    <a:pt x="428" y="449"/>
                  </a:lnTo>
                  <a:lnTo>
                    <a:pt x="428" y="449"/>
                  </a:lnTo>
                  <a:lnTo>
                    <a:pt x="426" y="449"/>
                  </a:lnTo>
                  <a:lnTo>
                    <a:pt x="428" y="452"/>
                  </a:lnTo>
                  <a:lnTo>
                    <a:pt x="428" y="454"/>
                  </a:lnTo>
                  <a:lnTo>
                    <a:pt x="428" y="457"/>
                  </a:lnTo>
                  <a:lnTo>
                    <a:pt x="426" y="460"/>
                  </a:lnTo>
                  <a:lnTo>
                    <a:pt x="423" y="460"/>
                  </a:lnTo>
                  <a:lnTo>
                    <a:pt x="420" y="457"/>
                  </a:lnTo>
                  <a:lnTo>
                    <a:pt x="418" y="457"/>
                  </a:lnTo>
                  <a:lnTo>
                    <a:pt x="412" y="457"/>
                  </a:lnTo>
                  <a:lnTo>
                    <a:pt x="410" y="454"/>
                  </a:lnTo>
                  <a:lnTo>
                    <a:pt x="407" y="454"/>
                  </a:lnTo>
                  <a:lnTo>
                    <a:pt x="402" y="454"/>
                  </a:lnTo>
                  <a:lnTo>
                    <a:pt x="399" y="457"/>
                  </a:lnTo>
                  <a:lnTo>
                    <a:pt x="399" y="460"/>
                  </a:lnTo>
                  <a:lnTo>
                    <a:pt x="399" y="462"/>
                  </a:lnTo>
                  <a:lnTo>
                    <a:pt x="399" y="462"/>
                  </a:lnTo>
                  <a:lnTo>
                    <a:pt x="399" y="465"/>
                  </a:lnTo>
                  <a:lnTo>
                    <a:pt x="399" y="465"/>
                  </a:lnTo>
                  <a:lnTo>
                    <a:pt x="402" y="468"/>
                  </a:lnTo>
                  <a:lnTo>
                    <a:pt x="402" y="468"/>
                  </a:lnTo>
                  <a:lnTo>
                    <a:pt x="402" y="468"/>
                  </a:lnTo>
                  <a:lnTo>
                    <a:pt x="404" y="468"/>
                  </a:lnTo>
                  <a:lnTo>
                    <a:pt x="410" y="468"/>
                  </a:lnTo>
                  <a:lnTo>
                    <a:pt x="412" y="468"/>
                  </a:lnTo>
                  <a:lnTo>
                    <a:pt x="415" y="468"/>
                  </a:lnTo>
                  <a:lnTo>
                    <a:pt x="418" y="470"/>
                  </a:lnTo>
                  <a:lnTo>
                    <a:pt x="420" y="470"/>
                  </a:lnTo>
                  <a:lnTo>
                    <a:pt x="423" y="473"/>
                  </a:lnTo>
                  <a:lnTo>
                    <a:pt x="426" y="476"/>
                  </a:lnTo>
                  <a:lnTo>
                    <a:pt x="428" y="489"/>
                  </a:lnTo>
                  <a:lnTo>
                    <a:pt x="396" y="486"/>
                  </a:lnTo>
                  <a:lnTo>
                    <a:pt x="394" y="486"/>
                  </a:lnTo>
                  <a:lnTo>
                    <a:pt x="394" y="489"/>
                  </a:lnTo>
                  <a:lnTo>
                    <a:pt x="394" y="492"/>
                  </a:lnTo>
                  <a:lnTo>
                    <a:pt x="394" y="492"/>
                  </a:lnTo>
                  <a:lnTo>
                    <a:pt x="396" y="494"/>
                  </a:lnTo>
                  <a:lnTo>
                    <a:pt x="399" y="497"/>
                  </a:lnTo>
                  <a:lnTo>
                    <a:pt x="404" y="497"/>
                  </a:lnTo>
                  <a:lnTo>
                    <a:pt x="407" y="500"/>
                  </a:lnTo>
                  <a:lnTo>
                    <a:pt x="412" y="500"/>
                  </a:lnTo>
                  <a:lnTo>
                    <a:pt x="415" y="502"/>
                  </a:lnTo>
                  <a:lnTo>
                    <a:pt x="420" y="502"/>
                  </a:lnTo>
                  <a:lnTo>
                    <a:pt x="423" y="505"/>
                  </a:lnTo>
                  <a:lnTo>
                    <a:pt x="423" y="505"/>
                  </a:lnTo>
                  <a:lnTo>
                    <a:pt x="426" y="505"/>
                  </a:lnTo>
                  <a:lnTo>
                    <a:pt x="426" y="505"/>
                  </a:lnTo>
                  <a:lnTo>
                    <a:pt x="426" y="505"/>
                  </a:lnTo>
                  <a:lnTo>
                    <a:pt x="428" y="508"/>
                  </a:lnTo>
                  <a:lnTo>
                    <a:pt x="428" y="510"/>
                  </a:lnTo>
                  <a:lnTo>
                    <a:pt x="428" y="513"/>
                  </a:lnTo>
                  <a:lnTo>
                    <a:pt x="428" y="518"/>
                  </a:lnTo>
                  <a:lnTo>
                    <a:pt x="396" y="510"/>
                  </a:lnTo>
                  <a:lnTo>
                    <a:pt x="394" y="510"/>
                  </a:lnTo>
                  <a:lnTo>
                    <a:pt x="391" y="513"/>
                  </a:lnTo>
                  <a:lnTo>
                    <a:pt x="391" y="516"/>
                  </a:lnTo>
                  <a:lnTo>
                    <a:pt x="391" y="516"/>
                  </a:lnTo>
                  <a:lnTo>
                    <a:pt x="394" y="518"/>
                  </a:lnTo>
                  <a:lnTo>
                    <a:pt x="428" y="529"/>
                  </a:lnTo>
                  <a:lnTo>
                    <a:pt x="428" y="542"/>
                  </a:lnTo>
                  <a:lnTo>
                    <a:pt x="396" y="537"/>
                  </a:lnTo>
                  <a:lnTo>
                    <a:pt x="391" y="540"/>
                  </a:lnTo>
                  <a:lnTo>
                    <a:pt x="391" y="540"/>
                  </a:lnTo>
                  <a:lnTo>
                    <a:pt x="391" y="542"/>
                  </a:lnTo>
                  <a:lnTo>
                    <a:pt x="391" y="545"/>
                  </a:lnTo>
                  <a:lnTo>
                    <a:pt x="391" y="547"/>
                  </a:lnTo>
                  <a:lnTo>
                    <a:pt x="396" y="547"/>
                  </a:lnTo>
                  <a:lnTo>
                    <a:pt x="402" y="550"/>
                  </a:lnTo>
                  <a:lnTo>
                    <a:pt x="407" y="550"/>
                  </a:lnTo>
                  <a:lnTo>
                    <a:pt x="412" y="553"/>
                  </a:lnTo>
                  <a:lnTo>
                    <a:pt x="415" y="553"/>
                  </a:lnTo>
                  <a:lnTo>
                    <a:pt x="420" y="555"/>
                  </a:lnTo>
                  <a:lnTo>
                    <a:pt x="426" y="558"/>
                  </a:lnTo>
                  <a:lnTo>
                    <a:pt x="428" y="561"/>
                  </a:lnTo>
                  <a:lnTo>
                    <a:pt x="428" y="569"/>
                  </a:lnTo>
                  <a:lnTo>
                    <a:pt x="426" y="569"/>
                  </a:lnTo>
                  <a:lnTo>
                    <a:pt x="423" y="569"/>
                  </a:lnTo>
                  <a:lnTo>
                    <a:pt x="418" y="569"/>
                  </a:lnTo>
                  <a:lnTo>
                    <a:pt x="415" y="569"/>
                  </a:lnTo>
                  <a:lnTo>
                    <a:pt x="410" y="569"/>
                  </a:lnTo>
                  <a:lnTo>
                    <a:pt x="407" y="566"/>
                  </a:lnTo>
                  <a:lnTo>
                    <a:pt x="404" y="566"/>
                  </a:lnTo>
                  <a:lnTo>
                    <a:pt x="399" y="566"/>
                  </a:lnTo>
                  <a:lnTo>
                    <a:pt x="394" y="566"/>
                  </a:lnTo>
                  <a:lnTo>
                    <a:pt x="394" y="566"/>
                  </a:lnTo>
                  <a:lnTo>
                    <a:pt x="394" y="569"/>
                  </a:lnTo>
                  <a:lnTo>
                    <a:pt x="394" y="569"/>
                  </a:lnTo>
                  <a:lnTo>
                    <a:pt x="391" y="569"/>
                  </a:lnTo>
                  <a:lnTo>
                    <a:pt x="394" y="574"/>
                  </a:lnTo>
                  <a:lnTo>
                    <a:pt x="426" y="582"/>
                  </a:lnTo>
                  <a:lnTo>
                    <a:pt x="426" y="585"/>
                  </a:lnTo>
                  <a:lnTo>
                    <a:pt x="426" y="587"/>
                  </a:lnTo>
                  <a:lnTo>
                    <a:pt x="426" y="587"/>
                  </a:lnTo>
                  <a:lnTo>
                    <a:pt x="426" y="590"/>
                  </a:lnTo>
                  <a:lnTo>
                    <a:pt x="396" y="590"/>
                  </a:lnTo>
                  <a:lnTo>
                    <a:pt x="394" y="590"/>
                  </a:lnTo>
                  <a:lnTo>
                    <a:pt x="391" y="590"/>
                  </a:lnTo>
                  <a:lnTo>
                    <a:pt x="391" y="593"/>
                  </a:lnTo>
                  <a:lnTo>
                    <a:pt x="388" y="593"/>
                  </a:lnTo>
                  <a:lnTo>
                    <a:pt x="388" y="595"/>
                  </a:lnTo>
                  <a:lnTo>
                    <a:pt x="388" y="595"/>
                  </a:lnTo>
                  <a:lnTo>
                    <a:pt x="388" y="595"/>
                  </a:lnTo>
                  <a:lnTo>
                    <a:pt x="388" y="598"/>
                  </a:lnTo>
                  <a:lnTo>
                    <a:pt x="394" y="598"/>
                  </a:lnTo>
                  <a:lnTo>
                    <a:pt x="396" y="601"/>
                  </a:lnTo>
                  <a:lnTo>
                    <a:pt x="402" y="603"/>
                  </a:lnTo>
                  <a:lnTo>
                    <a:pt x="407" y="603"/>
                  </a:lnTo>
                  <a:lnTo>
                    <a:pt x="412" y="603"/>
                  </a:lnTo>
                  <a:lnTo>
                    <a:pt x="418" y="603"/>
                  </a:lnTo>
                  <a:lnTo>
                    <a:pt x="420" y="603"/>
                  </a:lnTo>
                  <a:lnTo>
                    <a:pt x="426" y="606"/>
                  </a:lnTo>
                  <a:lnTo>
                    <a:pt x="426" y="617"/>
                  </a:lnTo>
                  <a:lnTo>
                    <a:pt x="423" y="619"/>
                  </a:lnTo>
                  <a:lnTo>
                    <a:pt x="420" y="622"/>
                  </a:lnTo>
                  <a:lnTo>
                    <a:pt x="415" y="622"/>
                  </a:lnTo>
                  <a:lnTo>
                    <a:pt x="412" y="622"/>
                  </a:lnTo>
                  <a:lnTo>
                    <a:pt x="407" y="622"/>
                  </a:lnTo>
                  <a:lnTo>
                    <a:pt x="404" y="622"/>
                  </a:lnTo>
                  <a:lnTo>
                    <a:pt x="399" y="622"/>
                  </a:lnTo>
                  <a:lnTo>
                    <a:pt x="396" y="622"/>
                  </a:lnTo>
                  <a:lnTo>
                    <a:pt x="396" y="622"/>
                  </a:lnTo>
                  <a:lnTo>
                    <a:pt x="396" y="625"/>
                  </a:lnTo>
                  <a:lnTo>
                    <a:pt x="394" y="625"/>
                  </a:lnTo>
                  <a:lnTo>
                    <a:pt x="394" y="625"/>
                  </a:lnTo>
                  <a:lnTo>
                    <a:pt x="396" y="630"/>
                  </a:lnTo>
                  <a:lnTo>
                    <a:pt x="396" y="630"/>
                  </a:lnTo>
                  <a:lnTo>
                    <a:pt x="399" y="630"/>
                  </a:lnTo>
                  <a:lnTo>
                    <a:pt x="399" y="630"/>
                  </a:lnTo>
                  <a:lnTo>
                    <a:pt x="402" y="633"/>
                  </a:lnTo>
                  <a:lnTo>
                    <a:pt x="404" y="633"/>
                  </a:lnTo>
                  <a:lnTo>
                    <a:pt x="404" y="633"/>
                  </a:lnTo>
                  <a:lnTo>
                    <a:pt x="407" y="633"/>
                  </a:lnTo>
                  <a:lnTo>
                    <a:pt x="407" y="633"/>
                  </a:lnTo>
                  <a:lnTo>
                    <a:pt x="410" y="633"/>
                  </a:lnTo>
                  <a:lnTo>
                    <a:pt x="412" y="633"/>
                  </a:lnTo>
                  <a:lnTo>
                    <a:pt x="415" y="633"/>
                  </a:lnTo>
                  <a:lnTo>
                    <a:pt x="415" y="633"/>
                  </a:lnTo>
                  <a:lnTo>
                    <a:pt x="418" y="633"/>
                  </a:lnTo>
                  <a:lnTo>
                    <a:pt x="420" y="633"/>
                  </a:lnTo>
                  <a:lnTo>
                    <a:pt x="423" y="633"/>
                  </a:lnTo>
                  <a:lnTo>
                    <a:pt x="426" y="633"/>
                  </a:lnTo>
                  <a:lnTo>
                    <a:pt x="426" y="635"/>
                  </a:lnTo>
                  <a:lnTo>
                    <a:pt x="426" y="638"/>
                  </a:lnTo>
                  <a:lnTo>
                    <a:pt x="426" y="640"/>
                  </a:lnTo>
                  <a:lnTo>
                    <a:pt x="426" y="643"/>
                  </a:lnTo>
                  <a:lnTo>
                    <a:pt x="394" y="648"/>
                  </a:lnTo>
                  <a:lnTo>
                    <a:pt x="391" y="654"/>
                  </a:lnTo>
                  <a:lnTo>
                    <a:pt x="394" y="659"/>
                  </a:lnTo>
                  <a:lnTo>
                    <a:pt x="420" y="656"/>
                  </a:lnTo>
                  <a:lnTo>
                    <a:pt x="420" y="656"/>
                  </a:lnTo>
                  <a:lnTo>
                    <a:pt x="420" y="656"/>
                  </a:lnTo>
                  <a:lnTo>
                    <a:pt x="420" y="659"/>
                  </a:lnTo>
                  <a:lnTo>
                    <a:pt x="420" y="659"/>
                  </a:lnTo>
                  <a:lnTo>
                    <a:pt x="426" y="664"/>
                  </a:lnTo>
                  <a:lnTo>
                    <a:pt x="426" y="672"/>
                  </a:lnTo>
                  <a:lnTo>
                    <a:pt x="420" y="675"/>
                  </a:lnTo>
                  <a:lnTo>
                    <a:pt x="418" y="675"/>
                  </a:lnTo>
                  <a:lnTo>
                    <a:pt x="415" y="678"/>
                  </a:lnTo>
                  <a:lnTo>
                    <a:pt x="410" y="678"/>
                  </a:lnTo>
                  <a:lnTo>
                    <a:pt x="407" y="678"/>
                  </a:lnTo>
                  <a:lnTo>
                    <a:pt x="402" y="678"/>
                  </a:lnTo>
                  <a:lnTo>
                    <a:pt x="399" y="678"/>
                  </a:lnTo>
                  <a:lnTo>
                    <a:pt x="396" y="678"/>
                  </a:lnTo>
                  <a:lnTo>
                    <a:pt x="394" y="680"/>
                  </a:lnTo>
                  <a:lnTo>
                    <a:pt x="394" y="680"/>
                  </a:lnTo>
                  <a:lnTo>
                    <a:pt x="394" y="683"/>
                  </a:lnTo>
                  <a:lnTo>
                    <a:pt x="394" y="683"/>
                  </a:lnTo>
                  <a:lnTo>
                    <a:pt x="394" y="686"/>
                  </a:lnTo>
                  <a:lnTo>
                    <a:pt x="394" y="686"/>
                  </a:lnTo>
                  <a:lnTo>
                    <a:pt x="396" y="688"/>
                  </a:lnTo>
                  <a:lnTo>
                    <a:pt x="396" y="688"/>
                  </a:lnTo>
                  <a:lnTo>
                    <a:pt x="420" y="688"/>
                  </a:lnTo>
                  <a:lnTo>
                    <a:pt x="420" y="704"/>
                  </a:lnTo>
                  <a:lnTo>
                    <a:pt x="399" y="710"/>
                  </a:lnTo>
                  <a:lnTo>
                    <a:pt x="394" y="710"/>
                  </a:lnTo>
                  <a:lnTo>
                    <a:pt x="394" y="712"/>
                  </a:lnTo>
                  <a:lnTo>
                    <a:pt x="391" y="718"/>
                  </a:lnTo>
                  <a:lnTo>
                    <a:pt x="394" y="720"/>
                  </a:lnTo>
                  <a:lnTo>
                    <a:pt x="418" y="718"/>
                  </a:lnTo>
                  <a:lnTo>
                    <a:pt x="418" y="720"/>
                  </a:lnTo>
                  <a:lnTo>
                    <a:pt x="420" y="723"/>
                  </a:lnTo>
                  <a:lnTo>
                    <a:pt x="418" y="726"/>
                  </a:lnTo>
                  <a:lnTo>
                    <a:pt x="420" y="728"/>
                  </a:lnTo>
                  <a:lnTo>
                    <a:pt x="415" y="731"/>
                  </a:lnTo>
                  <a:lnTo>
                    <a:pt x="412" y="731"/>
                  </a:lnTo>
                  <a:lnTo>
                    <a:pt x="410" y="733"/>
                  </a:lnTo>
                  <a:lnTo>
                    <a:pt x="404" y="733"/>
                  </a:lnTo>
                  <a:lnTo>
                    <a:pt x="402" y="733"/>
                  </a:lnTo>
                  <a:lnTo>
                    <a:pt x="399" y="736"/>
                  </a:lnTo>
                  <a:lnTo>
                    <a:pt x="394" y="736"/>
                  </a:lnTo>
                  <a:lnTo>
                    <a:pt x="391" y="736"/>
                  </a:lnTo>
                  <a:lnTo>
                    <a:pt x="391" y="747"/>
                  </a:lnTo>
                  <a:lnTo>
                    <a:pt x="418" y="744"/>
                  </a:lnTo>
                  <a:lnTo>
                    <a:pt x="418" y="747"/>
                  </a:lnTo>
                  <a:lnTo>
                    <a:pt x="415" y="749"/>
                  </a:lnTo>
                  <a:lnTo>
                    <a:pt x="415" y="749"/>
                  </a:lnTo>
                  <a:lnTo>
                    <a:pt x="415" y="752"/>
                  </a:lnTo>
                  <a:lnTo>
                    <a:pt x="388" y="760"/>
                  </a:lnTo>
                  <a:lnTo>
                    <a:pt x="388" y="763"/>
                  </a:lnTo>
                  <a:lnTo>
                    <a:pt x="388" y="765"/>
                  </a:lnTo>
                  <a:lnTo>
                    <a:pt x="391" y="768"/>
                  </a:lnTo>
                  <a:lnTo>
                    <a:pt x="394" y="768"/>
                  </a:lnTo>
                  <a:lnTo>
                    <a:pt x="396" y="768"/>
                  </a:lnTo>
                  <a:lnTo>
                    <a:pt x="399" y="768"/>
                  </a:lnTo>
                  <a:lnTo>
                    <a:pt x="402" y="768"/>
                  </a:lnTo>
                  <a:lnTo>
                    <a:pt x="404" y="768"/>
                  </a:lnTo>
                  <a:lnTo>
                    <a:pt x="404" y="768"/>
                  </a:lnTo>
                  <a:lnTo>
                    <a:pt x="407" y="765"/>
                  </a:lnTo>
                  <a:lnTo>
                    <a:pt x="410" y="765"/>
                  </a:lnTo>
                  <a:lnTo>
                    <a:pt x="410" y="765"/>
                  </a:lnTo>
                  <a:lnTo>
                    <a:pt x="412" y="768"/>
                  </a:lnTo>
                  <a:lnTo>
                    <a:pt x="410" y="768"/>
                  </a:lnTo>
                  <a:lnTo>
                    <a:pt x="410" y="768"/>
                  </a:lnTo>
                  <a:lnTo>
                    <a:pt x="410" y="771"/>
                  </a:lnTo>
                  <a:lnTo>
                    <a:pt x="407" y="771"/>
                  </a:lnTo>
                  <a:lnTo>
                    <a:pt x="404" y="771"/>
                  </a:lnTo>
                  <a:lnTo>
                    <a:pt x="404" y="771"/>
                  </a:lnTo>
                  <a:lnTo>
                    <a:pt x="404" y="771"/>
                  </a:lnTo>
                  <a:lnTo>
                    <a:pt x="402" y="771"/>
                  </a:lnTo>
                  <a:lnTo>
                    <a:pt x="399" y="771"/>
                  </a:lnTo>
                  <a:lnTo>
                    <a:pt x="396" y="773"/>
                  </a:lnTo>
                  <a:lnTo>
                    <a:pt x="394" y="773"/>
                  </a:lnTo>
                  <a:lnTo>
                    <a:pt x="394" y="773"/>
                  </a:lnTo>
                  <a:lnTo>
                    <a:pt x="391" y="773"/>
                  </a:lnTo>
                  <a:lnTo>
                    <a:pt x="391" y="776"/>
                  </a:lnTo>
                  <a:lnTo>
                    <a:pt x="391" y="779"/>
                  </a:lnTo>
                  <a:lnTo>
                    <a:pt x="391" y="781"/>
                  </a:lnTo>
                  <a:lnTo>
                    <a:pt x="394" y="781"/>
                  </a:lnTo>
                  <a:lnTo>
                    <a:pt x="396" y="781"/>
                  </a:lnTo>
                  <a:lnTo>
                    <a:pt x="399" y="781"/>
                  </a:lnTo>
                  <a:lnTo>
                    <a:pt x="394" y="787"/>
                  </a:lnTo>
                  <a:lnTo>
                    <a:pt x="388" y="789"/>
                  </a:lnTo>
                  <a:lnTo>
                    <a:pt x="383" y="792"/>
                  </a:lnTo>
                  <a:lnTo>
                    <a:pt x="375" y="795"/>
                  </a:lnTo>
                  <a:lnTo>
                    <a:pt x="370" y="797"/>
                  </a:lnTo>
                  <a:lnTo>
                    <a:pt x="362" y="797"/>
                  </a:lnTo>
                  <a:lnTo>
                    <a:pt x="357" y="800"/>
                  </a:lnTo>
                  <a:lnTo>
                    <a:pt x="351" y="800"/>
                  </a:lnTo>
                  <a:lnTo>
                    <a:pt x="346" y="800"/>
                  </a:lnTo>
                  <a:lnTo>
                    <a:pt x="343" y="803"/>
                  </a:lnTo>
                  <a:lnTo>
                    <a:pt x="338" y="803"/>
                  </a:lnTo>
                  <a:lnTo>
                    <a:pt x="333" y="803"/>
                  </a:lnTo>
                  <a:lnTo>
                    <a:pt x="330" y="805"/>
                  </a:lnTo>
                  <a:lnTo>
                    <a:pt x="325" y="805"/>
                  </a:lnTo>
                  <a:lnTo>
                    <a:pt x="322" y="805"/>
                  </a:lnTo>
                  <a:lnTo>
                    <a:pt x="317" y="808"/>
                  </a:lnTo>
                  <a:lnTo>
                    <a:pt x="311" y="808"/>
                  </a:lnTo>
                  <a:lnTo>
                    <a:pt x="309" y="808"/>
                  </a:lnTo>
                  <a:lnTo>
                    <a:pt x="303" y="811"/>
                  </a:lnTo>
                  <a:lnTo>
                    <a:pt x="301" y="811"/>
                  </a:lnTo>
                  <a:lnTo>
                    <a:pt x="295" y="811"/>
                  </a:lnTo>
                  <a:lnTo>
                    <a:pt x="293" y="811"/>
                  </a:lnTo>
                  <a:lnTo>
                    <a:pt x="287" y="813"/>
                  </a:lnTo>
                  <a:lnTo>
                    <a:pt x="282" y="813"/>
                  </a:lnTo>
                  <a:lnTo>
                    <a:pt x="279" y="813"/>
                  </a:lnTo>
                  <a:lnTo>
                    <a:pt x="271" y="813"/>
                  </a:lnTo>
                  <a:lnTo>
                    <a:pt x="269" y="813"/>
                  </a:lnTo>
                  <a:lnTo>
                    <a:pt x="263" y="816"/>
                  </a:lnTo>
                  <a:lnTo>
                    <a:pt x="258" y="816"/>
                  </a:lnTo>
                  <a:lnTo>
                    <a:pt x="253" y="816"/>
                  </a:lnTo>
                  <a:lnTo>
                    <a:pt x="247" y="816"/>
                  </a:lnTo>
                  <a:lnTo>
                    <a:pt x="242" y="816"/>
                  </a:lnTo>
                  <a:lnTo>
                    <a:pt x="237" y="816"/>
                  </a:lnTo>
                  <a:lnTo>
                    <a:pt x="231" y="819"/>
                  </a:lnTo>
                  <a:lnTo>
                    <a:pt x="226" y="819"/>
                  </a:lnTo>
                  <a:lnTo>
                    <a:pt x="221" y="819"/>
                  </a:lnTo>
                  <a:lnTo>
                    <a:pt x="216" y="819"/>
                  </a:lnTo>
                  <a:lnTo>
                    <a:pt x="213" y="819"/>
                  </a:lnTo>
                  <a:lnTo>
                    <a:pt x="208" y="816"/>
                  </a:lnTo>
                  <a:lnTo>
                    <a:pt x="202" y="816"/>
                  </a:lnTo>
                  <a:lnTo>
                    <a:pt x="197" y="816"/>
                  </a:lnTo>
                  <a:lnTo>
                    <a:pt x="192" y="816"/>
                  </a:lnTo>
                  <a:lnTo>
                    <a:pt x="189" y="816"/>
                  </a:lnTo>
                  <a:lnTo>
                    <a:pt x="184" y="816"/>
                  </a:lnTo>
                  <a:lnTo>
                    <a:pt x="181" y="816"/>
                  </a:lnTo>
                  <a:lnTo>
                    <a:pt x="176" y="816"/>
                  </a:lnTo>
                  <a:lnTo>
                    <a:pt x="170" y="813"/>
                  </a:lnTo>
                  <a:lnTo>
                    <a:pt x="168" y="813"/>
                  </a:lnTo>
                  <a:lnTo>
                    <a:pt x="162" y="813"/>
                  </a:lnTo>
                  <a:lnTo>
                    <a:pt x="160" y="813"/>
                  </a:lnTo>
                  <a:lnTo>
                    <a:pt x="154" y="811"/>
                  </a:lnTo>
                  <a:lnTo>
                    <a:pt x="152" y="811"/>
                  </a:lnTo>
                  <a:lnTo>
                    <a:pt x="146" y="811"/>
                  </a:lnTo>
                  <a:lnTo>
                    <a:pt x="141" y="811"/>
                  </a:lnTo>
                  <a:lnTo>
                    <a:pt x="138" y="811"/>
                  </a:lnTo>
                  <a:lnTo>
                    <a:pt x="133" y="808"/>
                  </a:lnTo>
                  <a:lnTo>
                    <a:pt x="128" y="808"/>
                  </a:lnTo>
                  <a:lnTo>
                    <a:pt x="125" y="808"/>
                  </a:lnTo>
                  <a:lnTo>
                    <a:pt x="120" y="808"/>
                  </a:lnTo>
                  <a:lnTo>
                    <a:pt x="117" y="805"/>
                  </a:lnTo>
                  <a:lnTo>
                    <a:pt x="112" y="805"/>
                  </a:lnTo>
                  <a:lnTo>
                    <a:pt x="109" y="805"/>
                  </a:lnTo>
                  <a:lnTo>
                    <a:pt x="104" y="805"/>
                  </a:lnTo>
                  <a:lnTo>
                    <a:pt x="101" y="803"/>
                  </a:lnTo>
                  <a:lnTo>
                    <a:pt x="96" y="803"/>
                  </a:lnTo>
                  <a:lnTo>
                    <a:pt x="93" y="803"/>
                  </a:lnTo>
                  <a:lnTo>
                    <a:pt x="88" y="800"/>
                  </a:lnTo>
                  <a:lnTo>
                    <a:pt x="85" y="800"/>
                  </a:lnTo>
                  <a:lnTo>
                    <a:pt x="80" y="800"/>
                  </a:lnTo>
                  <a:lnTo>
                    <a:pt x="77" y="797"/>
                  </a:lnTo>
                  <a:lnTo>
                    <a:pt x="72" y="797"/>
                  </a:lnTo>
                  <a:lnTo>
                    <a:pt x="69" y="795"/>
                  </a:lnTo>
                  <a:lnTo>
                    <a:pt x="67" y="795"/>
                  </a:lnTo>
                  <a:lnTo>
                    <a:pt x="64" y="795"/>
                  </a:lnTo>
                  <a:lnTo>
                    <a:pt x="59" y="792"/>
                  </a:lnTo>
                  <a:lnTo>
                    <a:pt x="56" y="792"/>
                  </a:lnTo>
                  <a:lnTo>
                    <a:pt x="53" y="789"/>
                  </a:lnTo>
                  <a:lnTo>
                    <a:pt x="51" y="789"/>
                  </a:lnTo>
                  <a:lnTo>
                    <a:pt x="48" y="787"/>
                  </a:lnTo>
                  <a:lnTo>
                    <a:pt x="43" y="787"/>
                  </a:lnTo>
                  <a:lnTo>
                    <a:pt x="40" y="787"/>
                  </a:lnTo>
                  <a:lnTo>
                    <a:pt x="37" y="784"/>
                  </a:lnTo>
                  <a:lnTo>
                    <a:pt x="35" y="784"/>
                  </a:lnTo>
                  <a:lnTo>
                    <a:pt x="32" y="781"/>
                  </a:lnTo>
                  <a:lnTo>
                    <a:pt x="27" y="781"/>
                  </a:lnTo>
                  <a:lnTo>
                    <a:pt x="24" y="779"/>
                  </a:lnTo>
                  <a:lnTo>
                    <a:pt x="21" y="779"/>
                  </a:lnTo>
                  <a:lnTo>
                    <a:pt x="16" y="776"/>
                  </a:lnTo>
                  <a:lnTo>
                    <a:pt x="16" y="765"/>
                  </a:lnTo>
                  <a:lnTo>
                    <a:pt x="40" y="771"/>
                  </a:lnTo>
                  <a:lnTo>
                    <a:pt x="45" y="768"/>
                  </a:lnTo>
                  <a:lnTo>
                    <a:pt x="45" y="765"/>
                  </a:lnTo>
                  <a:lnTo>
                    <a:pt x="43" y="763"/>
                  </a:lnTo>
                  <a:lnTo>
                    <a:pt x="43" y="760"/>
                  </a:lnTo>
                  <a:lnTo>
                    <a:pt x="19" y="752"/>
                  </a:lnTo>
                  <a:lnTo>
                    <a:pt x="19" y="749"/>
                  </a:lnTo>
                  <a:lnTo>
                    <a:pt x="19" y="747"/>
                  </a:lnTo>
                  <a:lnTo>
                    <a:pt x="19" y="744"/>
                  </a:lnTo>
                  <a:lnTo>
                    <a:pt x="19" y="741"/>
                  </a:lnTo>
                  <a:lnTo>
                    <a:pt x="21" y="741"/>
                  </a:lnTo>
                  <a:lnTo>
                    <a:pt x="24" y="741"/>
                  </a:lnTo>
                  <a:lnTo>
                    <a:pt x="27" y="741"/>
                  </a:lnTo>
                  <a:lnTo>
                    <a:pt x="29" y="741"/>
                  </a:lnTo>
                  <a:lnTo>
                    <a:pt x="32" y="741"/>
                  </a:lnTo>
                  <a:lnTo>
                    <a:pt x="32" y="741"/>
                  </a:lnTo>
                  <a:lnTo>
                    <a:pt x="35" y="741"/>
                  </a:lnTo>
                  <a:lnTo>
                    <a:pt x="37" y="741"/>
                  </a:lnTo>
                  <a:lnTo>
                    <a:pt x="40" y="736"/>
                  </a:lnTo>
                  <a:lnTo>
                    <a:pt x="40" y="733"/>
                  </a:lnTo>
                  <a:lnTo>
                    <a:pt x="37" y="731"/>
                  </a:lnTo>
                  <a:lnTo>
                    <a:pt x="37" y="731"/>
                  </a:lnTo>
                  <a:lnTo>
                    <a:pt x="16" y="726"/>
                  </a:lnTo>
                  <a:lnTo>
                    <a:pt x="13" y="710"/>
                  </a:lnTo>
                  <a:lnTo>
                    <a:pt x="32" y="712"/>
                  </a:lnTo>
                  <a:lnTo>
                    <a:pt x="35" y="710"/>
                  </a:lnTo>
                  <a:lnTo>
                    <a:pt x="37" y="707"/>
                  </a:lnTo>
                  <a:lnTo>
                    <a:pt x="37" y="704"/>
                  </a:lnTo>
                  <a:lnTo>
                    <a:pt x="35" y="702"/>
                  </a:lnTo>
                  <a:lnTo>
                    <a:pt x="13" y="702"/>
                  </a:lnTo>
                  <a:lnTo>
                    <a:pt x="11" y="696"/>
                  </a:lnTo>
                  <a:lnTo>
                    <a:pt x="11" y="694"/>
                  </a:lnTo>
                  <a:lnTo>
                    <a:pt x="11" y="688"/>
                  </a:lnTo>
                  <a:lnTo>
                    <a:pt x="11" y="686"/>
                  </a:lnTo>
                  <a:lnTo>
                    <a:pt x="32" y="688"/>
                  </a:lnTo>
                  <a:lnTo>
                    <a:pt x="32" y="678"/>
                  </a:lnTo>
                  <a:lnTo>
                    <a:pt x="29" y="678"/>
                  </a:lnTo>
                  <a:lnTo>
                    <a:pt x="27" y="678"/>
                  </a:lnTo>
                  <a:lnTo>
                    <a:pt x="24" y="675"/>
                  </a:lnTo>
                  <a:lnTo>
                    <a:pt x="21" y="675"/>
                  </a:lnTo>
                  <a:lnTo>
                    <a:pt x="19" y="675"/>
                  </a:lnTo>
                  <a:lnTo>
                    <a:pt x="16" y="675"/>
                  </a:lnTo>
                  <a:lnTo>
                    <a:pt x="13" y="675"/>
                  </a:lnTo>
                  <a:lnTo>
                    <a:pt x="11" y="675"/>
                  </a:lnTo>
                  <a:lnTo>
                    <a:pt x="8" y="672"/>
                  </a:lnTo>
                  <a:lnTo>
                    <a:pt x="8" y="667"/>
                  </a:lnTo>
                  <a:lnTo>
                    <a:pt x="8" y="664"/>
                  </a:lnTo>
                  <a:lnTo>
                    <a:pt x="8" y="662"/>
                  </a:lnTo>
                  <a:lnTo>
                    <a:pt x="24" y="662"/>
                  </a:lnTo>
                  <a:lnTo>
                    <a:pt x="29" y="662"/>
                  </a:lnTo>
                  <a:lnTo>
                    <a:pt x="29" y="659"/>
                  </a:lnTo>
                  <a:lnTo>
                    <a:pt x="29" y="654"/>
                  </a:lnTo>
                  <a:lnTo>
                    <a:pt x="27" y="654"/>
                  </a:lnTo>
                  <a:lnTo>
                    <a:pt x="8" y="648"/>
                  </a:lnTo>
                  <a:lnTo>
                    <a:pt x="5" y="638"/>
                  </a:lnTo>
                  <a:lnTo>
                    <a:pt x="8" y="638"/>
                  </a:lnTo>
                  <a:lnTo>
                    <a:pt x="11" y="638"/>
                  </a:lnTo>
                  <a:lnTo>
                    <a:pt x="13" y="638"/>
                  </a:lnTo>
                  <a:lnTo>
                    <a:pt x="16" y="640"/>
                  </a:lnTo>
                  <a:lnTo>
                    <a:pt x="19" y="640"/>
                  </a:lnTo>
                  <a:lnTo>
                    <a:pt x="21" y="640"/>
                  </a:lnTo>
                  <a:lnTo>
                    <a:pt x="24" y="638"/>
                  </a:lnTo>
                  <a:lnTo>
                    <a:pt x="27" y="638"/>
                  </a:lnTo>
                  <a:lnTo>
                    <a:pt x="29" y="635"/>
                  </a:lnTo>
                  <a:lnTo>
                    <a:pt x="29" y="630"/>
                  </a:lnTo>
                  <a:lnTo>
                    <a:pt x="27" y="627"/>
                  </a:lnTo>
                  <a:lnTo>
                    <a:pt x="24" y="627"/>
                  </a:lnTo>
                  <a:lnTo>
                    <a:pt x="5" y="625"/>
                  </a:lnTo>
                  <a:lnTo>
                    <a:pt x="5" y="622"/>
                  </a:lnTo>
                  <a:lnTo>
                    <a:pt x="5" y="617"/>
                  </a:lnTo>
                  <a:lnTo>
                    <a:pt x="5" y="614"/>
                  </a:lnTo>
                  <a:lnTo>
                    <a:pt x="3" y="611"/>
                  </a:lnTo>
                  <a:lnTo>
                    <a:pt x="24" y="614"/>
                  </a:lnTo>
                  <a:lnTo>
                    <a:pt x="27" y="611"/>
                  </a:lnTo>
                  <a:lnTo>
                    <a:pt x="29" y="606"/>
                  </a:lnTo>
                  <a:lnTo>
                    <a:pt x="27" y="603"/>
                  </a:lnTo>
                  <a:lnTo>
                    <a:pt x="24" y="603"/>
                  </a:lnTo>
                  <a:lnTo>
                    <a:pt x="3" y="601"/>
                  </a:lnTo>
                  <a:lnTo>
                    <a:pt x="3" y="582"/>
                  </a:lnTo>
                  <a:lnTo>
                    <a:pt x="5" y="582"/>
                  </a:lnTo>
                  <a:lnTo>
                    <a:pt x="8" y="582"/>
                  </a:lnTo>
                  <a:lnTo>
                    <a:pt x="11" y="582"/>
                  </a:lnTo>
                  <a:lnTo>
                    <a:pt x="13" y="582"/>
                  </a:lnTo>
                  <a:lnTo>
                    <a:pt x="16" y="582"/>
                  </a:lnTo>
                  <a:lnTo>
                    <a:pt x="19" y="585"/>
                  </a:lnTo>
                  <a:lnTo>
                    <a:pt x="24" y="585"/>
                  </a:lnTo>
                  <a:lnTo>
                    <a:pt x="27" y="585"/>
                  </a:lnTo>
                  <a:lnTo>
                    <a:pt x="29" y="582"/>
                  </a:lnTo>
                  <a:lnTo>
                    <a:pt x="29" y="579"/>
                  </a:lnTo>
                  <a:lnTo>
                    <a:pt x="29" y="577"/>
                  </a:lnTo>
                  <a:lnTo>
                    <a:pt x="29" y="574"/>
                  </a:lnTo>
                  <a:lnTo>
                    <a:pt x="27" y="574"/>
                  </a:lnTo>
                  <a:lnTo>
                    <a:pt x="24" y="571"/>
                  </a:lnTo>
                  <a:lnTo>
                    <a:pt x="19" y="571"/>
                  </a:lnTo>
                  <a:lnTo>
                    <a:pt x="16" y="571"/>
                  </a:lnTo>
                  <a:lnTo>
                    <a:pt x="13" y="571"/>
                  </a:lnTo>
                  <a:lnTo>
                    <a:pt x="11" y="571"/>
                  </a:lnTo>
                  <a:lnTo>
                    <a:pt x="8" y="569"/>
                  </a:lnTo>
                  <a:lnTo>
                    <a:pt x="3" y="569"/>
                  </a:lnTo>
                  <a:lnTo>
                    <a:pt x="3" y="566"/>
                  </a:lnTo>
                  <a:lnTo>
                    <a:pt x="3" y="563"/>
                  </a:lnTo>
                  <a:lnTo>
                    <a:pt x="3" y="561"/>
                  </a:lnTo>
                  <a:lnTo>
                    <a:pt x="3" y="558"/>
                  </a:lnTo>
                  <a:lnTo>
                    <a:pt x="27" y="561"/>
                  </a:lnTo>
                  <a:lnTo>
                    <a:pt x="29" y="558"/>
                  </a:lnTo>
                  <a:lnTo>
                    <a:pt x="29" y="555"/>
                  </a:lnTo>
                  <a:lnTo>
                    <a:pt x="29" y="553"/>
                  </a:lnTo>
                  <a:lnTo>
                    <a:pt x="29" y="547"/>
                  </a:lnTo>
                  <a:lnTo>
                    <a:pt x="27" y="547"/>
                  </a:lnTo>
                  <a:lnTo>
                    <a:pt x="24" y="545"/>
                  </a:lnTo>
                  <a:lnTo>
                    <a:pt x="19" y="545"/>
                  </a:lnTo>
                  <a:lnTo>
                    <a:pt x="16" y="545"/>
                  </a:lnTo>
                  <a:lnTo>
                    <a:pt x="11" y="545"/>
                  </a:lnTo>
                  <a:lnTo>
                    <a:pt x="8" y="545"/>
                  </a:lnTo>
                  <a:lnTo>
                    <a:pt x="5" y="545"/>
                  </a:lnTo>
                  <a:lnTo>
                    <a:pt x="0" y="545"/>
                  </a:lnTo>
                  <a:lnTo>
                    <a:pt x="0" y="532"/>
                  </a:lnTo>
                  <a:lnTo>
                    <a:pt x="3" y="532"/>
                  </a:lnTo>
                  <a:lnTo>
                    <a:pt x="5" y="532"/>
                  </a:lnTo>
                  <a:lnTo>
                    <a:pt x="8" y="532"/>
                  </a:lnTo>
                  <a:lnTo>
                    <a:pt x="13" y="532"/>
                  </a:lnTo>
                  <a:lnTo>
                    <a:pt x="16" y="532"/>
                  </a:lnTo>
                  <a:lnTo>
                    <a:pt x="21" y="532"/>
                  </a:lnTo>
                  <a:lnTo>
                    <a:pt x="24" y="532"/>
                  </a:lnTo>
                  <a:lnTo>
                    <a:pt x="29" y="532"/>
                  </a:lnTo>
                  <a:lnTo>
                    <a:pt x="29" y="524"/>
                  </a:lnTo>
                  <a:lnTo>
                    <a:pt x="27" y="521"/>
                  </a:lnTo>
                  <a:lnTo>
                    <a:pt x="21" y="518"/>
                  </a:lnTo>
                  <a:lnTo>
                    <a:pt x="19" y="518"/>
                  </a:lnTo>
                  <a:lnTo>
                    <a:pt x="16" y="518"/>
                  </a:lnTo>
                  <a:lnTo>
                    <a:pt x="11" y="518"/>
                  </a:lnTo>
                  <a:lnTo>
                    <a:pt x="8" y="518"/>
                  </a:lnTo>
                  <a:lnTo>
                    <a:pt x="5" y="518"/>
                  </a:lnTo>
                  <a:lnTo>
                    <a:pt x="0" y="518"/>
                  </a:lnTo>
                  <a:lnTo>
                    <a:pt x="0" y="502"/>
                  </a:lnTo>
                  <a:lnTo>
                    <a:pt x="3" y="502"/>
                  </a:lnTo>
                  <a:lnTo>
                    <a:pt x="8" y="502"/>
                  </a:lnTo>
                  <a:lnTo>
                    <a:pt x="11" y="502"/>
                  </a:lnTo>
                  <a:lnTo>
                    <a:pt x="13" y="502"/>
                  </a:lnTo>
                  <a:lnTo>
                    <a:pt x="16" y="502"/>
                  </a:lnTo>
                  <a:lnTo>
                    <a:pt x="19" y="502"/>
                  </a:lnTo>
                  <a:lnTo>
                    <a:pt x="21" y="500"/>
                  </a:lnTo>
                  <a:lnTo>
                    <a:pt x="24" y="500"/>
                  </a:lnTo>
                  <a:lnTo>
                    <a:pt x="27" y="497"/>
                  </a:lnTo>
                  <a:lnTo>
                    <a:pt x="27" y="494"/>
                  </a:lnTo>
                  <a:lnTo>
                    <a:pt x="24" y="492"/>
                  </a:lnTo>
                  <a:lnTo>
                    <a:pt x="21" y="489"/>
                  </a:lnTo>
                  <a:lnTo>
                    <a:pt x="0" y="486"/>
                  </a:lnTo>
                  <a:lnTo>
                    <a:pt x="0" y="470"/>
                  </a:lnTo>
                  <a:lnTo>
                    <a:pt x="24" y="470"/>
                  </a:lnTo>
                  <a:lnTo>
                    <a:pt x="24" y="468"/>
                  </a:lnTo>
                  <a:lnTo>
                    <a:pt x="27" y="465"/>
                  </a:lnTo>
                  <a:lnTo>
                    <a:pt x="27" y="462"/>
                  </a:lnTo>
                  <a:lnTo>
                    <a:pt x="27" y="460"/>
                  </a:lnTo>
                  <a:lnTo>
                    <a:pt x="24" y="457"/>
                  </a:lnTo>
                  <a:lnTo>
                    <a:pt x="21" y="457"/>
                  </a:lnTo>
                  <a:lnTo>
                    <a:pt x="19" y="457"/>
                  </a:lnTo>
                  <a:lnTo>
                    <a:pt x="16" y="457"/>
                  </a:lnTo>
                  <a:lnTo>
                    <a:pt x="11" y="457"/>
                  </a:lnTo>
                  <a:lnTo>
                    <a:pt x="8" y="457"/>
                  </a:lnTo>
                  <a:lnTo>
                    <a:pt x="5" y="457"/>
                  </a:lnTo>
                  <a:lnTo>
                    <a:pt x="3" y="457"/>
                  </a:lnTo>
                  <a:lnTo>
                    <a:pt x="0" y="441"/>
                  </a:lnTo>
                  <a:lnTo>
                    <a:pt x="3" y="441"/>
                  </a:lnTo>
                  <a:lnTo>
                    <a:pt x="5" y="439"/>
                  </a:lnTo>
                  <a:lnTo>
                    <a:pt x="8" y="439"/>
                  </a:lnTo>
                  <a:lnTo>
                    <a:pt x="13" y="439"/>
                  </a:lnTo>
                  <a:lnTo>
                    <a:pt x="16" y="439"/>
                  </a:lnTo>
                  <a:lnTo>
                    <a:pt x="19" y="439"/>
                  </a:lnTo>
                  <a:lnTo>
                    <a:pt x="21" y="439"/>
                  </a:lnTo>
                  <a:lnTo>
                    <a:pt x="24" y="439"/>
                  </a:lnTo>
                  <a:lnTo>
                    <a:pt x="27" y="436"/>
                  </a:lnTo>
                  <a:lnTo>
                    <a:pt x="27" y="433"/>
                  </a:lnTo>
                  <a:lnTo>
                    <a:pt x="24" y="431"/>
                  </a:lnTo>
                  <a:lnTo>
                    <a:pt x="24" y="431"/>
                  </a:lnTo>
                  <a:lnTo>
                    <a:pt x="21" y="428"/>
                  </a:lnTo>
                  <a:lnTo>
                    <a:pt x="19" y="428"/>
                  </a:lnTo>
                  <a:lnTo>
                    <a:pt x="16" y="425"/>
                  </a:lnTo>
                  <a:lnTo>
                    <a:pt x="13" y="425"/>
                  </a:lnTo>
                  <a:lnTo>
                    <a:pt x="11" y="425"/>
                  </a:lnTo>
                  <a:lnTo>
                    <a:pt x="8" y="425"/>
                  </a:lnTo>
                  <a:lnTo>
                    <a:pt x="5" y="425"/>
                  </a:lnTo>
                  <a:lnTo>
                    <a:pt x="3" y="425"/>
                  </a:lnTo>
                  <a:lnTo>
                    <a:pt x="3" y="409"/>
                  </a:lnTo>
                  <a:lnTo>
                    <a:pt x="5" y="409"/>
                  </a:lnTo>
                  <a:lnTo>
                    <a:pt x="8" y="409"/>
                  </a:lnTo>
                  <a:lnTo>
                    <a:pt x="11" y="409"/>
                  </a:lnTo>
                  <a:lnTo>
                    <a:pt x="13" y="409"/>
                  </a:lnTo>
                  <a:lnTo>
                    <a:pt x="16" y="409"/>
                  </a:lnTo>
                  <a:lnTo>
                    <a:pt x="19" y="409"/>
                  </a:lnTo>
                  <a:lnTo>
                    <a:pt x="24" y="409"/>
                  </a:lnTo>
                  <a:lnTo>
                    <a:pt x="27" y="409"/>
                  </a:lnTo>
                  <a:lnTo>
                    <a:pt x="27" y="407"/>
                  </a:lnTo>
                  <a:lnTo>
                    <a:pt x="27" y="404"/>
                  </a:lnTo>
                  <a:lnTo>
                    <a:pt x="27" y="401"/>
                  </a:lnTo>
                  <a:lnTo>
                    <a:pt x="27" y="399"/>
                  </a:lnTo>
                  <a:lnTo>
                    <a:pt x="24" y="399"/>
                  </a:lnTo>
                  <a:lnTo>
                    <a:pt x="21" y="399"/>
                  </a:lnTo>
                  <a:lnTo>
                    <a:pt x="19" y="399"/>
                  </a:lnTo>
                  <a:lnTo>
                    <a:pt x="16" y="396"/>
                  </a:lnTo>
                  <a:lnTo>
                    <a:pt x="13" y="396"/>
                  </a:lnTo>
                  <a:lnTo>
                    <a:pt x="8" y="396"/>
                  </a:lnTo>
                  <a:lnTo>
                    <a:pt x="8" y="396"/>
                  </a:lnTo>
                  <a:lnTo>
                    <a:pt x="3" y="396"/>
                  </a:lnTo>
                  <a:lnTo>
                    <a:pt x="3" y="396"/>
                  </a:lnTo>
                  <a:lnTo>
                    <a:pt x="3" y="391"/>
                  </a:lnTo>
                  <a:lnTo>
                    <a:pt x="3" y="388"/>
                  </a:lnTo>
                  <a:lnTo>
                    <a:pt x="3" y="385"/>
                  </a:lnTo>
                  <a:lnTo>
                    <a:pt x="29" y="385"/>
                  </a:lnTo>
                  <a:lnTo>
                    <a:pt x="27" y="377"/>
                  </a:lnTo>
                  <a:lnTo>
                    <a:pt x="5" y="375"/>
                  </a:lnTo>
                  <a:lnTo>
                    <a:pt x="8" y="359"/>
                  </a:lnTo>
                  <a:lnTo>
                    <a:pt x="11" y="359"/>
                  </a:lnTo>
                  <a:lnTo>
                    <a:pt x="13" y="359"/>
                  </a:lnTo>
                  <a:lnTo>
                    <a:pt x="13" y="359"/>
                  </a:lnTo>
                  <a:lnTo>
                    <a:pt x="16" y="359"/>
                  </a:lnTo>
                  <a:lnTo>
                    <a:pt x="19" y="359"/>
                  </a:lnTo>
                  <a:lnTo>
                    <a:pt x="19" y="359"/>
                  </a:lnTo>
                  <a:lnTo>
                    <a:pt x="21" y="361"/>
                  </a:lnTo>
                  <a:lnTo>
                    <a:pt x="24" y="361"/>
                  </a:lnTo>
                  <a:lnTo>
                    <a:pt x="27" y="359"/>
                  </a:lnTo>
                  <a:lnTo>
                    <a:pt x="29" y="356"/>
                  </a:lnTo>
                  <a:lnTo>
                    <a:pt x="29" y="354"/>
                  </a:lnTo>
                  <a:lnTo>
                    <a:pt x="29" y="351"/>
                  </a:lnTo>
                  <a:lnTo>
                    <a:pt x="29" y="348"/>
                  </a:lnTo>
                  <a:lnTo>
                    <a:pt x="27" y="348"/>
                  </a:lnTo>
                  <a:lnTo>
                    <a:pt x="27" y="346"/>
                  </a:lnTo>
                  <a:lnTo>
                    <a:pt x="24" y="346"/>
                  </a:lnTo>
                  <a:lnTo>
                    <a:pt x="21" y="346"/>
                  </a:lnTo>
                  <a:lnTo>
                    <a:pt x="21" y="346"/>
                  </a:lnTo>
                  <a:lnTo>
                    <a:pt x="19" y="346"/>
                  </a:lnTo>
                  <a:lnTo>
                    <a:pt x="16" y="346"/>
                  </a:lnTo>
                  <a:lnTo>
                    <a:pt x="13" y="346"/>
                  </a:lnTo>
                  <a:lnTo>
                    <a:pt x="13" y="346"/>
                  </a:lnTo>
                  <a:lnTo>
                    <a:pt x="11" y="346"/>
                  </a:lnTo>
                  <a:lnTo>
                    <a:pt x="8" y="343"/>
                  </a:lnTo>
                  <a:lnTo>
                    <a:pt x="8" y="330"/>
                  </a:lnTo>
                  <a:lnTo>
                    <a:pt x="24" y="330"/>
                  </a:lnTo>
                  <a:lnTo>
                    <a:pt x="29" y="330"/>
                  </a:lnTo>
                  <a:lnTo>
                    <a:pt x="32" y="330"/>
                  </a:lnTo>
                  <a:lnTo>
                    <a:pt x="32" y="327"/>
                  </a:lnTo>
                  <a:lnTo>
                    <a:pt x="35" y="324"/>
                  </a:lnTo>
                  <a:lnTo>
                    <a:pt x="32" y="322"/>
                  </a:lnTo>
                  <a:lnTo>
                    <a:pt x="32" y="319"/>
                  </a:lnTo>
                  <a:lnTo>
                    <a:pt x="32" y="319"/>
                  </a:lnTo>
                  <a:lnTo>
                    <a:pt x="29" y="316"/>
                  </a:lnTo>
                  <a:lnTo>
                    <a:pt x="11" y="316"/>
                  </a:lnTo>
                  <a:lnTo>
                    <a:pt x="11" y="303"/>
                  </a:lnTo>
                  <a:lnTo>
                    <a:pt x="13" y="300"/>
                  </a:lnTo>
                  <a:lnTo>
                    <a:pt x="16" y="300"/>
                  </a:lnTo>
                  <a:lnTo>
                    <a:pt x="19" y="300"/>
                  </a:lnTo>
                  <a:lnTo>
                    <a:pt x="21" y="298"/>
                  </a:lnTo>
                  <a:lnTo>
                    <a:pt x="24" y="298"/>
                  </a:lnTo>
                  <a:lnTo>
                    <a:pt x="27" y="298"/>
                  </a:lnTo>
                  <a:lnTo>
                    <a:pt x="29" y="298"/>
                  </a:lnTo>
                  <a:lnTo>
                    <a:pt x="32" y="298"/>
                  </a:lnTo>
                  <a:lnTo>
                    <a:pt x="35" y="298"/>
                  </a:lnTo>
                  <a:lnTo>
                    <a:pt x="35" y="295"/>
                  </a:lnTo>
                  <a:lnTo>
                    <a:pt x="35" y="292"/>
                  </a:lnTo>
                  <a:lnTo>
                    <a:pt x="35" y="290"/>
                  </a:lnTo>
                  <a:lnTo>
                    <a:pt x="35" y="290"/>
                  </a:lnTo>
                  <a:lnTo>
                    <a:pt x="32" y="287"/>
                  </a:lnTo>
                  <a:lnTo>
                    <a:pt x="29" y="287"/>
                  </a:lnTo>
                  <a:lnTo>
                    <a:pt x="24" y="290"/>
                  </a:lnTo>
                  <a:lnTo>
                    <a:pt x="21" y="290"/>
                  </a:lnTo>
                  <a:lnTo>
                    <a:pt x="19" y="290"/>
                  </a:lnTo>
                  <a:lnTo>
                    <a:pt x="16" y="290"/>
                  </a:lnTo>
                  <a:lnTo>
                    <a:pt x="13" y="290"/>
                  </a:lnTo>
                  <a:lnTo>
                    <a:pt x="13" y="290"/>
                  </a:lnTo>
                  <a:lnTo>
                    <a:pt x="13" y="287"/>
                  </a:lnTo>
                  <a:lnTo>
                    <a:pt x="13" y="284"/>
                  </a:lnTo>
                  <a:lnTo>
                    <a:pt x="16" y="284"/>
                  </a:lnTo>
                  <a:lnTo>
                    <a:pt x="16" y="282"/>
                  </a:lnTo>
                  <a:lnTo>
                    <a:pt x="21" y="282"/>
                  </a:lnTo>
                  <a:lnTo>
                    <a:pt x="24" y="282"/>
                  </a:lnTo>
                  <a:lnTo>
                    <a:pt x="27" y="279"/>
                  </a:lnTo>
                  <a:lnTo>
                    <a:pt x="29" y="279"/>
                  </a:lnTo>
                  <a:lnTo>
                    <a:pt x="32" y="279"/>
                  </a:lnTo>
                  <a:lnTo>
                    <a:pt x="37" y="279"/>
                  </a:lnTo>
                  <a:lnTo>
                    <a:pt x="37" y="276"/>
                  </a:lnTo>
                  <a:lnTo>
                    <a:pt x="40" y="274"/>
                  </a:lnTo>
                  <a:lnTo>
                    <a:pt x="40" y="271"/>
                  </a:lnTo>
                  <a:lnTo>
                    <a:pt x="40" y="271"/>
                  </a:lnTo>
                  <a:lnTo>
                    <a:pt x="40" y="268"/>
                  </a:lnTo>
                  <a:lnTo>
                    <a:pt x="37" y="266"/>
                  </a:lnTo>
                  <a:lnTo>
                    <a:pt x="35" y="266"/>
                  </a:lnTo>
                  <a:lnTo>
                    <a:pt x="32" y="266"/>
                  </a:lnTo>
                  <a:lnTo>
                    <a:pt x="29" y="266"/>
                  </a:lnTo>
                  <a:lnTo>
                    <a:pt x="24" y="266"/>
                  </a:lnTo>
                  <a:lnTo>
                    <a:pt x="21" y="266"/>
                  </a:lnTo>
                  <a:lnTo>
                    <a:pt x="19" y="268"/>
                  </a:lnTo>
                  <a:lnTo>
                    <a:pt x="16" y="268"/>
                  </a:lnTo>
                  <a:lnTo>
                    <a:pt x="16" y="266"/>
                  </a:lnTo>
                  <a:lnTo>
                    <a:pt x="16" y="263"/>
                  </a:lnTo>
                  <a:lnTo>
                    <a:pt x="16" y="263"/>
                  </a:lnTo>
                  <a:lnTo>
                    <a:pt x="16" y="261"/>
                  </a:lnTo>
                  <a:lnTo>
                    <a:pt x="21" y="258"/>
                  </a:lnTo>
                  <a:lnTo>
                    <a:pt x="24" y="258"/>
                  </a:lnTo>
                  <a:lnTo>
                    <a:pt x="27" y="258"/>
                  </a:lnTo>
                  <a:lnTo>
                    <a:pt x="29" y="255"/>
                  </a:lnTo>
                  <a:lnTo>
                    <a:pt x="32" y="255"/>
                  </a:lnTo>
                  <a:lnTo>
                    <a:pt x="35" y="255"/>
                  </a:lnTo>
                  <a:lnTo>
                    <a:pt x="40" y="255"/>
                  </a:lnTo>
                  <a:lnTo>
                    <a:pt x="43" y="255"/>
                  </a:lnTo>
                  <a:lnTo>
                    <a:pt x="45" y="253"/>
                  </a:lnTo>
                  <a:lnTo>
                    <a:pt x="45" y="250"/>
                  </a:lnTo>
                  <a:lnTo>
                    <a:pt x="45" y="247"/>
                  </a:lnTo>
                  <a:lnTo>
                    <a:pt x="43" y="245"/>
                  </a:lnTo>
                  <a:lnTo>
                    <a:pt x="40" y="242"/>
                  </a:lnTo>
                  <a:lnTo>
                    <a:pt x="37" y="242"/>
                  </a:lnTo>
                  <a:lnTo>
                    <a:pt x="35" y="242"/>
                  </a:lnTo>
                  <a:lnTo>
                    <a:pt x="32" y="242"/>
                  </a:lnTo>
                  <a:lnTo>
                    <a:pt x="29" y="242"/>
                  </a:lnTo>
                  <a:lnTo>
                    <a:pt x="27" y="242"/>
                  </a:lnTo>
                  <a:lnTo>
                    <a:pt x="24" y="242"/>
                  </a:lnTo>
                  <a:lnTo>
                    <a:pt x="21" y="242"/>
                  </a:lnTo>
                  <a:lnTo>
                    <a:pt x="24" y="229"/>
                  </a:lnTo>
                  <a:lnTo>
                    <a:pt x="24" y="229"/>
                  </a:lnTo>
                  <a:lnTo>
                    <a:pt x="27" y="226"/>
                  </a:lnTo>
                  <a:lnTo>
                    <a:pt x="29" y="226"/>
                  </a:lnTo>
                  <a:lnTo>
                    <a:pt x="32" y="223"/>
                  </a:lnTo>
                  <a:lnTo>
                    <a:pt x="35" y="223"/>
                  </a:lnTo>
                  <a:lnTo>
                    <a:pt x="37" y="221"/>
                  </a:lnTo>
                  <a:lnTo>
                    <a:pt x="43" y="221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8" y="218"/>
                  </a:lnTo>
                  <a:lnTo>
                    <a:pt x="48" y="218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48" y="213"/>
                  </a:lnTo>
                  <a:lnTo>
                    <a:pt x="48" y="210"/>
                  </a:lnTo>
                  <a:lnTo>
                    <a:pt x="48" y="210"/>
                  </a:lnTo>
                  <a:lnTo>
                    <a:pt x="45" y="210"/>
                  </a:lnTo>
                  <a:lnTo>
                    <a:pt x="43" y="210"/>
                  </a:lnTo>
                  <a:lnTo>
                    <a:pt x="40" y="210"/>
                  </a:lnTo>
                  <a:lnTo>
                    <a:pt x="37" y="210"/>
                  </a:lnTo>
                  <a:lnTo>
                    <a:pt x="35" y="210"/>
                  </a:lnTo>
                  <a:lnTo>
                    <a:pt x="32" y="210"/>
                  </a:lnTo>
                  <a:lnTo>
                    <a:pt x="29" y="213"/>
                  </a:lnTo>
                  <a:lnTo>
                    <a:pt x="27" y="213"/>
                  </a:lnTo>
                  <a:lnTo>
                    <a:pt x="32" y="199"/>
                  </a:lnTo>
                  <a:lnTo>
                    <a:pt x="56" y="191"/>
                  </a:lnTo>
                  <a:lnTo>
                    <a:pt x="56" y="191"/>
                  </a:lnTo>
                  <a:lnTo>
                    <a:pt x="56" y="189"/>
                  </a:lnTo>
                  <a:lnTo>
                    <a:pt x="56" y="186"/>
                  </a:lnTo>
                  <a:lnTo>
                    <a:pt x="56" y="186"/>
                  </a:lnTo>
                  <a:lnTo>
                    <a:pt x="56" y="183"/>
                  </a:lnTo>
                  <a:lnTo>
                    <a:pt x="53" y="183"/>
                  </a:lnTo>
                  <a:lnTo>
                    <a:pt x="53" y="183"/>
                  </a:lnTo>
                  <a:lnTo>
                    <a:pt x="51" y="181"/>
                  </a:lnTo>
                  <a:lnTo>
                    <a:pt x="35" y="183"/>
                  </a:lnTo>
                  <a:lnTo>
                    <a:pt x="37" y="173"/>
                  </a:lnTo>
                  <a:lnTo>
                    <a:pt x="61" y="168"/>
                  </a:lnTo>
                  <a:lnTo>
                    <a:pt x="64" y="165"/>
                  </a:lnTo>
                  <a:lnTo>
                    <a:pt x="64" y="165"/>
                  </a:lnTo>
                  <a:lnTo>
                    <a:pt x="64" y="162"/>
                  </a:lnTo>
                  <a:lnTo>
                    <a:pt x="61" y="160"/>
                  </a:lnTo>
                  <a:lnTo>
                    <a:pt x="61" y="160"/>
                  </a:lnTo>
                  <a:lnTo>
                    <a:pt x="59" y="157"/>
                  </a:lnTo>
                  <a:lnTo>
                    <a:pt x="59" y="157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53" y="157"/>
                  </a:lnTo>
                  <a:lnTo>
                    <a:pt x="51" y="157"/>
                  </a:lnTo>
                  <a:lnTo>
                    <a:pt x="48" y="157"/>
                  </a:lnTo>
                  <a:lnTo>
                    <a:pt x="48" y="157"/>
                  </a:lnTo>
                  <a:lnTo>
                    <a:pt x="45" y="160"/>
                  </a:lnTo>
                  <a:lnTo>
                    <a:pt x="43" y="160"/>
                  </a:lnTo>
                  <a:lnTo>
                    <a:pt x="40" y="160"/>
                  </a:lnTo>
                  <a:lnTo>
                    <a:pt x="43" y="146"/>
                  </a:lnTo>
                  <a:lnTo>
                    <a:pt x="48" y="144"/>
                  </a:lnTo>
                  <a:lnTo>
                    <a:pt x="48" y="144"/>
                  </a:lnTo>
                  <a:lnTo>
                    <a:pt x="48" y="144"/>
                  </a:lnTo>
                  <a:lnTo>
                    <a:pt x="51" y="141"/>
                  </a:lnTo>
                  <a:lnTo>
                    <a:pt x="51" y="141"/>
                  </a:lnTo>
                  <a:lnTo>
                    <a:pt x="51" y="141"/>
                  </a:lnTo>
                  <a:lnTo>
                    <a:pt x="51" y="138"/>
                  </a:lnTo>
                  <a:lnTo>
                    <a:pt x="53" y="138"/>
                  </a:lnTo>
                  <a:lnTo>
                    <a:pt x="53" y="138"/>
                  </a:lnTo>
                  <a:lnTo>
                    <a:pt x="69" y="138"/>
                  </a:lnTo>
                  <a:lnTo>
                    <a:pt x="69" y="136"/>
                  </a:lnTo>
                  <a:lnTo>
                    <a:pt x="69" y="136"/>
                  </a:lnTo>
                  <a:lnTo>
                    <a:pt x="69" y="136"/>
                  </a:lnTo>
                  <a:lnTo>
                    <a:pt x="69" y="133"/>
                  </a:lnTo>
                  <a:lnTo>
                    <a:pt x="69" y="133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4" y="128"/>
                  </a:lnTo>
                  <a:lnTo>
                    <a:pt x="61" y="128"/>
                  </a:lnTo>
                  <a:lnTo>
                    <a:pt x="61" y="125"/>
                  </a:lnTo>
                  <a:lnTo>
                    <a:pt x="59" y="125"/>
                  </a:lnTo>
                  <a:lnTo>
                    <a:pt x="56" y="125"/>
                  </a:lnTo>
                  <a:lnTo>
                    <a:pt x="56" y="125"/>
                  </a:lnTo>
                  <a:lnTo>
                    <a:pt x="53" y="125"/>
                  </a:lnTo>
                  <a:lnTo>
                    <a:pt x="53" y="125"/>
                  </a:lnTo>
                  <a:lnTo>
                    <a:pt x="51" y="125"/>
                  </a:lnTo>
                  <a:lnTo>
                    <a:pt x="51" y="122"/>
                  </a:lnTo>
                  <a:lnTo>
                    <a:pt x="53" y="120"/>
                  </a:lnTo>
                  <a:lnTo>
                    <a:pt x="56" y="114"/>
                  </a:lnTo>
                  <a:lnTo>
                    <a:pt x="59" y="114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06"/>
                  </a:lnTo>
                  <a:lnTo>
                    <a:pt x="80" y="104"/>
                  </a:lnTo>
                  <a:lnTo>
                    <a:pt x="77" y="101"/>
                  </a:lnTo>
                  <a:lnTo>
                    <a:pt x="77" y="101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4" y="98"/>
                  </a:lnTo>
                  <a:lnTo>
                    <a:pt x="61" y="98"/>
                  </a:lnTo>
                  <a:lnTo>
                    <a:pt x="67" y="85"/>
                  </a:lnTo>
                  <a:lnTo>
                    <a:pt x="69" y="82"/>
                  </a:lnTo>
                  <a:lnTo>
                    <a:pt x="72" y="82"/>
                  </a:lnTo>
                  <a:lnTo>
                    <a:pt x="74" y="82"/>
                  </a:lnTo>
                  <a:lnTo>
                    <a:pt x="77" y="82"/>
                  </a:lnTo>
                  <a:lnTo>
                    <a:pt x="80" y="82"/>
                  </a:lnTo>
                  <a:lnTo>
                    <a:pt x="85" y="82"/>
                  </a:lnTo>
                  <a:lnTo>
                    <a:pt x="88" y="85"/>
                  </a:lnTo>
                  <a:lnTo>
                    <a:pt x="90" y="85"/>
                  </a:lnTo>
                  <a:lnTo>
                    <a:pt x="90" y="82"/>
                  </a:lnTo>
                  <a:lnTo>
                    <a:pt x="93" y="82"/>
                  </a:lnTo>
                  <a:lnTo>
                    <a:pt x="93" y="82"/>
                  </a:lnTo>
                  <a:lnTo>
                    <a:pt x="96" y="80"/>
                  </a:lnTo>
                  <a:lnTo>
                    <a:pt x="96" y="77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2"/>
                  </a:lnTo>
                  <a:lnTo>
                    <a:pt x="74" y="69"/>
                  </a:lnTo>
                  <a:lnTo>
                    <a:pt x="74" y="67"/>
                  </a:lnTo>
                  <a:lnTo>
                    <a:pt x="74" y="64"/>
                  </a:lnTo>
                  <a:lnTo>
                    <a:pt x="77" y="61"/>
                  </a:lnTo>
                  <a:lnTo>
                    <a:pt x="77" y="59"/>
                  </a:lnTo>
                  <a:lnTo>
                    <a:pt x="96" y="56"/>
                  </a:lnTo>
                  <a:lnTo>
                    <a:pt x="98" y="53"/>
                  </a:lnTo>
                  <a:lnTo>
                    <a:pt x="101" y="53"/>
                  </a:lnTo>
                  <a:lnTo>
                    <a:pt x="101" y="51"/>
                  </a:lnTo>
                  <a:lnTo>
                    <a:pt x="101" y="48"/>
                  </a:lnTo>
                  <a:lnTo>
                    <a:pt x="101" y="48"/>
                  </a:lnTo>
                  <a:lnTo>
                    <a:pt x="101" y="45"/>
                  </a:lnTo>
                  <a:lnTo>
                    <a:pt x="101" y="43"/>
                  </a:lnTo>
                  <a:lnTo>
                    <a:pt x="101" y="43"/>
                  </a:lnTo>
                  <a:lnTo>
                    <a:pt x="98" y="43"/>
                  </a:lnTo>
                  <a:lnTo>
                    <a:pt x="96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0" y="40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88" y="37"/>
                  </a:lnTo>
                  <a:lnTo>
                    <a:pt x="90" y="35"/>
                  </a:lnTo>
                  <a:lnTo>
                    <a:pt x="93" y="32"/>
                  </a:lnTo>
                  <a:lnTo>
                    <a:pt x="96" y="29"/>
                  </a:lnTo>
                  <a:lnTo>
                    <a:pt x="101" y="27"/>
                  </a:lnTo>
                  <a:lnTo>
                    <a:pt x="104" y="24"/>
                  </a:lnTo>
                  <a:lnTo>
                    <a:pt x="109" y="21"/>
                  </a:lnTo>
                  <a:lnTo>
                    <a:pt x="112" y="21"/>
                  </a:lnTo>
                  <a:lnTo>
                    <a:pt x="117" y="19"/>
                  </a:lnTo>
                  <a:lnTo>
                    <a:pt x="122" y="16"/>
                  </a:lnTo>
                  <a:lnTo>
                    <a:pt x="128" y="16"/>
                  </a:lnTo>
                  <a:lnTo>
                    <a:pt x="130" y="13"/>
                  </a:lnTo>
                  <a:lnTo>
                    <a:pt x="136" y="13"/>
                  </a:lnTo>
                  <a:lnTo>
                    <a:pt x="141" y="11"/>
                  </a:lnTo>
                  <a:lnTo>
                    <a:pt x="146" y="11"/>
                  </a:lnTo>
                  <a:lnTo>
                    <a:pt x="152" y="8"/>
                  </a:lnTo>
                  <a:lnTo>
                    <a:pt x="154" y="8"/>
                  </a:lnTo>
                  <a:lnTo>
                    <a:pt x="160" y="5"/>
                  </a:lnTo>
                  <a:lnTo>
                    <a:pt x="160" y="5"/>
                  </a:lnTo>
                  <a:lnTo>
                    <a:pt x="162" y="5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94" y="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FF500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6884" y="3422"/>
              <a:ext cx="330" cy="728"/>
            </a:xfrm>
            <a:custGeom>
              <a:rect b="b" l="l" r="r" t="t"/>
              <a:pathLst>
                <a:path extrusionOk="0" h="728" w="330">
                  <a:moveTo>
                    <a:pt x="3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8" y="11"/>
                  </a:lnTo>
                  <a:lnTo>
                    <a:pt x="11" y="21"/>
                  </a:lnTo>
                  <a:lnTo>
                    <a:pt x="11" y="32"/>
                  </a:lnTo>
                  <a:lnTo>
                    <a:pt x="13" y="42"/>
                  </a:lnTo>
                  <a:lnTo>
                    <a:pt x="13" y="53"/>
                  </a:lnTo>
                  <a:lnTo>
                    <a:pt x="16" y="61"/>
                  </a:lnTo>
                  <a:lnTo>
                    <a:pt x="16" y="69"/>
                  </a:lnTo>
                  <a:lnTo>
                    <a:pt x="19" y="77"/>
                  </a:lnTo>
                  <a:lnTo>
                    <a:pt x="19" y="85"/>
                  </a:lnTo>
                  <a:lnTo>
                    <a:pt x="21" y="90"/>
                  </a:lnTo>
                  <a:lnTo>
                    <a:pt x="24" y="98"/>
                  </a:lnTo>
                  <a:lnTo>
                    <a:pt x="29" y="106"/>
                  </a:lnTo>
                  <a:lnTo>
                    <a:pt x="37" y="111"/>
                  </a:lnTo>
                  <a:lnTo>
                    <a:pt x="45" y="119"/>
                  </a:lnTo>
                  <a:lnTo>
                    <a:pt x="56" y="125"/>
                  </a:lnTo>
                  <a:lnTo>
                    <a:pt x="64" y="130"/>
                  </a:lnTo>
                  <a:lnTo>
                    <a:pt x="75" y="135"/>
                  </a:lnTo>
                  <a:lnTo>
                    <a:pt x="83" y="141"/>
                  </a:lnTo>
                  <a:lnTo>
                    <a:pt x="93" y="146"/>
                  </a:lnTo>
                  <a:lnTo>
                    <a:pt x="104" y="149"/>
                  </a:lnTo>
                  <a:lnTo>
                    <a:pt x="112" y="154"/>
                  </a:lnTo>
                  <a:lnTo>
                    <a:pt x="122" y="159"/>
                  </a:lnTo>
                  <a:lnTo>
                    <a:pt x="133" y="162"/>
                  </a:lnTo>
                  <a:lnTo>
                    <a:pt x="144" y="167"/>
                  </a:lnTo>
                  <a:lnTo>
                    <a:pt x="154" y="170"/>
                  </a:lnTo>
                  <a:lnTo>
                    <a:pt x="165" y="175"/>
                  </a:lnTo>
                  <a:lnTo>
                    <a:pt x="173" y="178"/>
                  </a:lnTo>
                  <a:lnTo>
                    <a:pt x="184" y="183"/>
                  </a:lnTo>
                  <a:lnTo>
                    <a:pt x="194" y="189"/>
                  </a:lnTo>
                  <a:lnTo>
                    <a:pt x="205" y="191"/>
                  </a:lnTo>
                  <a:lnTo>
                    <a:pt x="213" y="197"/>
                  </a:lnTo>
                  <a:lnTo>
                    <a:pt x="224" y="202"/>
                  </a:lnTo>
                  <a:lnTo>
                    <a:pt x="232" y="207"/>
                  </a:lnTo>
                  <a:lnTo>
                    <a:pt x="242" y="212"/>
                  </a:lnTo>
                  <a:lnTo>
                    <a:pt x="250" y="218"/>
                  </a:lnTo>
                  <a:lnTo>
                    <a:pt x="258" y="223"/>
                  </a:lnTo>
                  <a:lnTo>
                    <a:pt x="266" y="228"/>
                  </a:lnTo>
                  <a:lnTo>
                    <a:pt x="271" y="236"/>
                  </a:lnTo>
                  <a:lnTo>
                    <a:pt x="279" y="242"/>
                  </a:lnTo>
                  <a:lnTo>
                    <a:pt x="285" y="250"/>
                  </a:lnTo>
                  <a:lnTo>
                    <a:pt x="290" y="258"/>
                  </a:lnTo>
                  <a:lnTo>
                    <a:pt x="295" y="266"/>
                  </a:lnTo>
                  <a:lnTo>
                    <a:pt x="301" y="276"/>
                  </a:lnTo>
                  <a:lnTo>
                    <a:pt x="303" y="287"/>
                  </a:lnTo>
                  <a:lnTo>
                    <a:pt x="306" y="295"/>
                  </a:lnTo>
                  <a:lnTo>
                    <a:pt x="311" y="305"/>
                  </a:lnTo>
                  <a:lnTo>
                    <a:pt x="314" y="313"/>
                  </a:lnTo>
                  <a:lnTo>
                    <a:pt x="317" y="324"/>
                  </a:lnTo>
                  <a:lnTo>
                    <a:pt x="319" y="332"/>
                  </a:lnTo>
                  <a:lnTo>
                    <a:pt x="322" y="343"/>
                  </a:lnTo>
                  <a:lnTo>
                    <a:pt x="325" y="351"/>
                  </a:lnTo>
                  <a:lnTo>
                    <a:pt x="325" y="361"/>
                  </a:lnTo>
                  <a:lnTo>
                    <a:pt x="330" y="383"/>
                  </a:lnTo>
                  <a:lnTo>
                    <a:pt x="330" y="404"/>
                  </a:lnTo>
                  <a:lnTo>
                    <a:pt x="330" y="422"/>
                  </a:lnTo>
                  <a:lnTo>
                    <a:pt x="330" y="441"/>
                  </a:lnTo>
                  <a:lnTo>
                    <a:pt x="327" y="457"/>
                  </a:lnTo>
                  <a:lnTo>
                    <a:pt x="325" y="476"/>
                  </a:lnTo>
                  <a:lnTo>
                    <a:pt x="319" y="494"/>
                  </a:lnTo>
                  <a:lnTo>
                    <a:pt x="314" y="510"/>
                  </a:lnTo>
                  <a:lnTo>
                    <a:pt x="311" y="529"/>
                  </a:lnTo>
                  <a:lnTo>
                    <a:pt x="306" y="547"/>
                  </a:lnTo>
                  <a:lnTo>
                    <a:pt x="301" y="563"/>
                  </a:lnTo>
                  <a:lnTo>
                    <a:pt x="295" y="582"/>
                  </a:lnTo>
                  <a:lnTo>
                    <a:pt x="290" y="598"/>
                  </a:lnTo>
                  <a:lnTo>
                    <a:pt x="285" y="614"/>
                  </a:lnTo>
                  <a:lnTo>
                    <a:pt x="277" y="630"/>
                  </a:lnTo>
                  <a:lnTo>
                    <a:pt x="269" y="643"/>
                  </a:lnTo>
                  <a:lnTo>
                    <a:pt x="266" y="648"/>
                  </a:lnTo>
                  <a:lnTo>
                    <a:pt x="264" y="656"/>
                  </a:lnTo>
                  <a:lnTo>
                    <a:pt x="261" y="662"/>
                  </a:lnTo>
                  <a:lnTo>
                    <a:pt x="258" y="667"/>
                  </a:lnTo>
                  <a:lnTo>
                    <a:pt x="256" y="672"/>
                  </a:lnTo>
                  <a:lnTo>
                    <a:pt x="253" y="677"/>
                  </a:lnTo>
                  <a:lnTo>
                    <a:pt x="250" y="683"/>
                  </a:lnTo>
                  <a:lnTo>
                    <a:pt x="248" y="688"/>
                  </a:lnTo>
                  <a:lnTo>
                    <a:pt x="242" y="693"/>
                  </a:lnTo>
                  <a:lnTo>
                    <a:pt x="240" y="699"/>
                  </a:lnTo>
                  <a:lnTo>
                    <a:pt x="234" y="704"/>
                  </a:lnTo>
                  <a:lnTo>
                    <a:pt x="229" y="707"/>
                  </a:lnTo>
                  <a:lnTo>
                    <a:pt x="226" y="712"/>
                  </a:lnTo>
                  <a:lnTo>
                    <a:pt x="221" y="715"/>
                  </a:lnTo>
                  <a:lnTo>
                    <a:pt x="216" y="717"/>
                  </a:lnTo>
                  <a:lnTo>
                    <a:pt x="210" y="723"/>
                  </a:lnTo>
                  <a:lnTo>
                    <a:pt x="205" y="723"/>
                  </a:lnTo>
                  <a:lnTo>
                    <a:pt x="202" y="723"/>
                  </a:lnTo>
                  <a:lnTo>
                    <a:pt x="200" y="725"/>
                  </a:lnTo>
                  <a:lnTo>
                    <a:pt x="194" y="725"/>
                  </a:lnTo>
                  <a:lnTo>
                    <a:pt x="192" y="725"/>
                  </a:lnTo>
                  <a:lnTo>
                    <a:pt x="189" y="728"/>
                  </a:lnTo>
                  <a:lnTo>
                    <a:pt x="184" y="728"/>
                  </a:lnTo>
                  <a:lnTo>
                    <a:pt x="181" y="728"/>
                  </a:lnTo>
                  <a:lnTo>
                    <a:pt x="178" y="728"/>
                  </a:lnTo>
                  <a:lnTo>
                    <a:pt x="173" y="728"/>
                  </a:lnTo>
                  <a:lnTo>
                    <a:pt x="170" y="728"/>
                  </a:lnTo>
                  <a:lnTo>
                    <a:pt x="168" y="728"/>
                  </a:lnTo>
                  <a:lnTo>
                    <a:pt x="165" y="725"/>
                  </a:lnTo>
                  <a:lnTo>
                    <a:pt x="160" y="725"/>
                  </a:lnTo>
                  <a:lnTo>
                    <a:pt x="157" y="723"/>
                  </a:lnTo>
                  <a:lnTo>
                    <a:pt x="154" y="723"/>
                  </a:lnTo>
                  <a:lnTo>
                    <a:pt x="152" y="720"/>
                  </a:lnTo>
                  <a:lnTo>
                    <a:pt x="149" y="717"/>
                  </a:lnTo>
                  <a:lnTo>
                    <a:pt x="146" y="715"/>
                  </a:lnTo>
                  <a:lnTo>
                    <a:pt x="144" y="715"/>
                  </a:lnTo>
                  <a:lnTo>
                    <a:pt x="144" y="712"/>
                  </a:lnTo>
                  <a:lnTo>
                    <a:pt x="141" y="709"/>
                  </a:lnTo>
                  <a:lnTo>
                    <a:pt x="138" y="707"/>
                  </a:lnTo>
                  <a:lnTo>
                    <a:pt x="138" y="704"/>
                  </a:lnTo>
                  <a:lnTo>
                    <a:pt x="136" y="693"/>
                  </a:lnTo>
                  <a:lnTo>
                    <a:pt x="133" y="680"/>
                  </a:lnTo>
                  <a:lnTo>
                    <a:pt x="130" y="667"/>
                  </a:lnTo>
                  <a:lnTo>
                    <a:pt x="128" y="654"/>
                  </a:lnTo>
                  <a:lnTo>
                    <a:pt x="122" y="643"/>
                  </a:lnTo>
                  <a:lnTo>
                    <a:pt x="117" y="632"/>
                  </a:lnTo>
                  <a:lnTo>
                    <a:pt x="112" y="624"/>
                  </a:lnTo>
                  <a:lnTo>
                    <a:pt x="101" y="616"/>
                  </a:lnTo>
                  <a:lnTo>
                    <a:pt x="96" y="614"/>
                  </a:lnTo>
                  <a:lnTo>
                    <a:pt x="91" y="611"/>
                  </a:lnTo>
                  <a:lnTo>
                    <a:pt x="83" y="611"/>
                  </a:lnTo>
                  <a:lnTo>
                    <a:pt x="77" y="608"/>
                  </a:lnTo>
                  <a:lnTo>
                    <a:pt x="69" y="608"/>
                  </a:lnTo>
                  <a:lnTo>
                    <a:pt x="64" y="608"/>
                  </a:lnTo>
                  <a:lnTo>
                    <a:pt x="56" y="608"/>
                  </a:lnTo>
                  <a:lnTo>
                    <a:pt x="51" y="611"/>
                  </a:lnTo>
                  <a:lnTo>
                    <a:pt x="51" y="611"/>
                  </a:lnTo>
                  <a:lnTo>
                    <a:pt x="51" y="611"/>
                  </a:lnTo>
                  <a:lnTo>
                    <a:pt x="51" y="611"/>
                  </a:lnTo>
                  <a:lnTo>
                    <a:pt x="48" y="611"/>
                  </a:lnTo>
                  <a:lnTo>
                    <a:pt x="35" y="688"/>
                  </a:lnTo>
                  <a:lnTo>
                    <a:pt x="35" y="688"/>
                  </a:lnTo>
                  <a:lnTo>
                    <a:pt x="35" y="691"/>
                  </a:lnTo>
                  <a:lnTo>
                    <a:pt x="32" y="691"/>
                  </a:lnTo>
                  <a:lnTo>
                    <a:pt x="32" y="691"/>
                  </a:lnTo>
                  <a:lnTo>
                    <a:pt x="32" y="667"/>
                  </a:lnTo>
                  <a:lnTo>
                    <a:pt x="37" y="598"/>
                  </a:lnTo>
                  <a:lnTo>
                    <a:pt x="85" y="598"/>
                  </a:lnTo>
                  <a:lnTo>
                    <a:pt x="85" y="598"/>
                  </a:lnTo>
                  <a:lnTo>
                    <a:pt x="88" y="598"/>
                  </a:lnTo>
                  <a:lnTo>
                    <a:pt x="91" y="598"/>
                  </a:lnTo>
                  <a:lnTo>
                    <a:pt x="93" y="598"/>
                  </a:lnTo>
                  <a:lnTo>
                    <a:pt x="96" y="600"/>
                  </a:lnTo>
                  <a:lnTo>
                    <a:pt x="99" y="600"/>
                  </a:lnTo>
                  <a:lnTo>
                    <a:pt x="101" y="603"/>
                  </a:lnTo>
                  <a:lnTo>
                    <a:pt x="107" y="603"/>
                  </a:lnTo>
                  <a:lnTo>
                    <a:pt x="109" y="606"/>
                  </a:lnTo>
                  <a:lnTo>
                    <a:pt x="112" y="608"/>
                  </a:lnTo>
                  <a:lnTo>
                    <a:pt x="115" y="611"/>
                  </a:lnTo>
                  <a:lnTo>
                    <a:pt x="117" y="614"/>
                  </a:lnTo>
                  <a:lnTo>
                    <a:pt x="120" y="616"/>
                  </a:lnTo>
                  <a:lnTo>
                    <a:pt x="122" y="619"/>
                  </a:lnTo>
                  <a:lnTo>
                    <a:pt x="125" y="622"/>
                  </a:lnTo>
                  <a:lnTo>
                    <a:pt x="125" y="624"/>
                  </a:lnTo>
                  <a:lnTo>
                    <a:pt x="128" y="630"/>
                  </a:lnTo>
                  <a:lnTo>
                    <a:pt x="130" y="635"/>
                  </a:lnTo>
                  <a:lnTo>
                    <a:pt x="133" y="643"/>
                  </a:lnTo>
                  <a:lnTo>
                    <a:pt x="133" y="648"/>
                  </a:lnTo>
                  <a:lnTo>
                    <a:pt x="133" y="654"/>
                  </a:lnTo>
                  <a:lnTo>
                    <a:pt x="136" y="659"/>
                  </a:lnTo>
                  <a:lnTo>
                    <a:pt x="136" y="664"/>
                  </a:lnTo>
                  <a:lnTo>
                    <a:pt x="138" y="672"/>
                  </a:lnTo>
                  <a:lnTo>
                    <a:pt x="138" y="675"/>
                  </a:lnTo>
                  <a:lnTo>
                    <a:pt x="141" y="680"/>
                  </a:lnTo>
                  <a:lnTo>
                    <a:pt x="141" y="685"/>
                  </a:lnTo>
                  <a:lnTo>
                    <a:pt x="144" y="688"/>
                  </a:lnTo>
                  <a:lnTo>
                    <a:pt x="144" y="693"/>
                  </a:lnTo>
                  <a:lnTo>
                    <a:pt x="146" y="696"/>
                  </a:lnTo>
                  <a:lnTo>
                    <a:pt x="149" y="701"/>
                  </a:lnTo>
                  <a:lnTo>
                    <a:pt x="149" y="704"/>
                  </a:lnTo>
                  <a:lnTo>
                    <a:pt x="154" y="709"/>
                  </a:lnTo>
                  <a:lnTo>
                    <a:pt x="157" y="712"/>
                  </a:lnTo>
                  <a:lnTo>
                    <a:pt x="160" y="715"/>
                  </a:lnTo>
                  <a:lnTo>
                    <a:pt x="165" y="717"/>
                  </a:lnTo>
                  <a:lnTo>
                    <a:pt x="168" y="717"/>
                  </a:lnTo>
                  <a:lnTo>
                    <a:pt x="173" y="717"/>
                  </a:lnTo>
                  <a:lnTo>
                    <a:pt x="178" y="717"/>
                  </a:lnTo>
                  <a:lnTo>
                    <a:pt x="186" y="717"/>
                  </a:lnTo>
                  <a:lnTo>
                    <a:pt x="189" y="717"/>
                  </a:lnTo>
                  <a:lnTo>
                    <a:pt x="192" y="717"/>
                  </a:lnTo>
                  <a:lnTo>
                    <a:pt x="194" y="715"/>
                  </a:lnTo>
                  <a:lnTo>
                    <a:pt x="197" y="715"/>
                  </a:lnTo>
                  <a:lnTo>
                    <a:pt x="200" y="715"/>
                  </a:lnTo>
                  <a:lnTo>
                    <a:pt x="200" y="712"/>
                  </a:lnTo>
                  <a:lnTo>
                    <a:pt x="202" y="712"/>
                  </a:lnTo>
                  <a:lnTo>
                    <a:pt x="205" y="712"/>
                  </a:lnTo>
                  <a:lnTo>
                    <a:pt x="213" y="707"/>
                  </a:lnTo>
                  <a:lnTo>
                    <a:pt x="218" y="701"/>
                  </a:lnTo>
                  <a:lnTo>
                    <a:pt x="224" y="699"/>
                  </a:lnTo>
                  <a:lnTo>
                    <a:pt x="226" y="696"/>
                  </a:lnTo>
                  <a:lnTo>
                    <a:pt x="232" y="693"/>
                  </a:lnTo>
                  <a:lnTo>
                    <a:pt x="234" y="688"/>
                  </a:lnTo>
                  <a:lnTo>
                    <a:pt x="237" y="685"/>
                  </a:lnTo>
                  <a:lnTo>
                    <a:pt x="240" y="680"/>
                  </a:lnTo>
                  <a:lnTo>
                    <a:pt x="245" y="675"/>
                  </a:lnTo>
                  <a:lnTo>
                    <a:pt x="250" y="667"/>
                  </a:lnTo>
                  <a:lnTo>
                    <a:pt x="253" y="659"/>
                  </a:lnTo>
                  <a:lnTo>
                    <a:pt x="258" y="651"/>
                  </a:lnTo>
                  <a:lnTo>
                    <a:pt x="264" y="640"/>
                  </a:lnTo>
                  <a:lnTo>
                    <a:pt x="266" y="632"/>
                  </a:lnTo>
                  <a:lnTo>
                    <a:pt x="269" y="622"/>
                  </a:lnTo>
                  <a:lnTo>
                    <a:pt x="271" y="614"/>
                  </a:lnTo>
                  <a:lnTo>
                    <a:pt x="279" y="603"/>
                  </a:lnTo>
                  <a:lnTo>
                    <a:pt x="285" y="590"/>
                  </a:lnTo>
                  <a:lnTo>
                    <a:pt x="290" y="574"/>
                  </a:lnTo>
                  <a:lnTo>
                    <a:pt x="295" y="555"/>
                  </a:lnTo>
                  <a:lnTo>
                    <a:pt x="301" y="539"/>
                  </a:lnTo>
                  <a:lnTo>
                    <a:pt x="303" y="523"/>
                  </a:lnTo>
                  <a:lnTo>
                    <a:pt x="309" y="510"/>
                  </a:lnTo>
                  <a:lnTo>
                    <a:pt x="311" y="499"/>
                  </a:lnTo>
                  <a:lnTo>
                    <a:pt x="317" y="483"/>
                  </a:lnTo>
                  <a:lnTo>
                    <a:pt x="319" y="468"/>
                  </a:lnTo>
                  <a:lnTo>
                    <a:pt x="322" y="452"/>
                  </a:lnTo>
                  <a:lnTo>
                    <a:pt x="325" y="436"/>
                  </a:lnTo>
                  <a:lnTo>
                    <a:pt x="325" y="420"/>
                  </a:lnTo>
                  <a:lnTo>
                    <a:pt x="325" y="404"/>
                  </a:lnTo>
                  <a:lnTo>
                    <a:pt x="322" y="388"/>
                  </a:lnTo>
                  <a:lnTo>
                    <a:pt x="322" y="372"/>
                  </a:lnTo>
                  <a:lnTo>
                    <a:pt x="317" y="356"/>
                  </a:lnTo>
                  <a:lnTo>
                    <a:pt x="314" y="340"/>
                  </a:lnTo>
                  <a:lnTo>
                    <a:pt x="309" y="327"/>
                  </a:lnTo>
                  <a:lnTo>
                    <a:pt x="306" y="311"/>
                  </a:lnTo>
                  <a:lnTo>
                    <a:pt x="298" y="297"/>
                  </a:lnTo>
                  <a:lnTo>
                    <a:pt x="293" y="282"/>
                  </a:lnTo>
                  <a:lnTo>
                    <a:pt x="287" y="268"/>
                  </a:lnTo>
                  <a:lnTo>
                    <a:pt x="279" y="255"/>
                  </a:lnTo>
                  <a:lnTo>
                    <a:pt x="271" y="247"/>
                  </a:lnTo>
                  <a:lnTo>
                    <a:pt x="264" y="239"/>
                  </a:lnTo>
                  <a:lnTo>
                    <a:pt x="256" y="234"/>
                  </a:lnTo>
                  <a:lnTo>
                    <a:pt x="248" y="226"/>
                  </a:lnTo>
                  <a:lnTo>
                    <a:pt x="240" y="220"/>
                  </a:lnTo>
                  <a:lnTo>
                    <a:pt x="229" y="215"/>
                  </a:lnTo>
                  <a:lnTo>
                    <a:pt x="221" y="210"/>
                  </a:lnTo>
                  <a:lnTo>
                    <a:pt x="210" y="204"/>
                  </a:lnTo>
                  <a:lnTo>
                    <a:pt x="202" y="199"/>
                  </a:lnTo>
                  <a:lnTo>
                    <a:pt x="192" y="197"/>
                  </a:lnTo>
                  <a:lnTo>
                    <a:pt x="181" y="191"/>
                  </a:lnTo>
                  <a:lnTo>
                    <a:pt x="173" y="189"/>
                  </a:lnTo>
                  <a:lnTo>
                    <a:pt x="162" y="183"/>
                  </a:lnTo>
                  <a:lnTo>
                    <a:pt x="152" y="181"/>
                  </a:lnTo>
                  <a:lnTo>
                    <a:pt x="141" y="175"/>
                  </a:lnTo>
                  <a:lnTo>
                    <a:pt x="130" y="170"/>
                  </a:lnTo>
                  <a:lnTo>
                    <a:pt x="125" y="167"/>
                  </a:lnTo>
                  <a:lnTo>
                    <a:pt x="117" y="165"/>
                  </a:lnTo>
                  <a:lnTo>
                    <a:pt x="109" y="159"/>
                  </a:lnTo>
                  <a:lnTo>
                    <a:pt x="101" y="157"/>
                  </a:lnTo>
                  <a:lnTo>
                    <a:pt x="96" y="154"/>
                  </a:lnTo>
                  <a:lnTo>
                    <a:pt x="88" y="151"/>
                  </a:lnTo>
                  <a:lnTo>
                    <a:pt x="80" y="149"/>
                  </a:lnTo>
                  <a:lnTo>
                    <a:pt x="75" y="146"/>
                  </a:lnTo>
                  <a:lnTo>
                    <a:pt x="67" y="141"/>
                  </a:lnTo>
                  <a:lnTo>
                    <a:pt x="59" y="138"/>
                  </a:lnTo>
                  <a:lnTo>
                    <a:pt x="53" y="133"/>
                  </a:lnTo>
                  <a:lnTo>
                    <a:pt x="45" y="130"/>
                  </a:lnTo>
                  <a:lnTo>
                    <a:pt x="40" y="125"/>
                  </a:lnTo>
                  <a:lnTo>
                    <a:pt x="32" y="119"/>
                  </a:lnTo>
                  <a:lnTo>
                    <a:pt x="27" y="114"/>
                  </a:lnTo>
                  <a:lnTo>
                    <a:pt x="19" y="10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46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6908" y="3440"/>
              <a:ext cx="13" cy="35"/>
            </a:xfrm>
            <a:custGeom>
              <a:rect b="b" l="l" r="r" t="t"/>
              <a:pathLst>
                <a:path extrusionOk="0" h="35" w="13">
                  <a:moveTo>
                    <a:pt x="0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8" y="3"/>
                  </a:lnTo>
                  <a:lnTo>
                    <a:pt x="8" y="6"/>
                  </a:lnTo>
                  <a:lnTo>
                    <a:pt x="11" y="8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1" y="22"/>
                  </a:lnTo>
                  <a:lnTo>
                    <a:pt x="11" y="27"/>
                  </a:lnTo>
                  <a:lnTo>
                    <a:pt x="8" y="32"/>
                  </a:lnTo>
                  <a:lnTo>
                    <a:pt x="5" y="3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6432" y="3584"/>
              <a:ext cx="61" cy="24"/>
            </a:xfrm>
            <a:custGeom>
              <a:rect b="b" l="l" r="r" t="t"/>
              <a:pathLst>
                <a:path extrusionOk="0" h="24" w="61">
                  <a:moveTo>
                    <a:pt x="61" y="13"/>
                  </a:moveTo>
                  <a:lnTo>
                    <a:pt x="61" y="16"/>
                  </a:lnTo>
                  <a:lnTo>
                    <a:pt x="61" y="19"/>
                  </a:lnTo>
                  <a:lnTo>
                    <a:pt x="61" y="21"/>
                  </a:lnTo>
                  <a:lnTo>
                    <a:pt x="61" y="24"/>
                  </a:lnTo>
                  <a:lnTo>
                    <a:pt x="56" y="21"/>
                  </a:lnTo>
                  <a:lnTo>
                    <a:pt x="53" y="21"/>
                  </a:lnTo>
                  <a:lnTo>
                    <a:pt x="50" y="19"/>
                  </a:lnTo>
                  <a:lnTo>
                    <a:pt x="45" y="19"/>
                  </a:lnTo>
                  <a:lnTo>
                    <a:pt x="42" y="16"/>
                  </a:lnTo>
                  <a:lnTo>
                    <a:pt x="37" y="16"/>
                  </a:lnTo>
                  <a:lnTo>
                    <a:pt x="34" y="13"/>
                  </a:lnTo>
                  <a:lnTo>
                    <a:pt x="32" y="13"/>
                  </a:lnTo>
                  <a:lnTo>
                    <a:pt x="26" y="11"/>
                  </a:lnTo>
                  <a:lnTo>
                    <a:pt x="24" y="11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0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0" y="11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4" y="3"/>
                  </a:lnTo>
                  <a:lnTo>
                    <a:pt x="37" y="3"/>
                  </a:lnTo>
                  <a:lnTo>
                    <a:pt x="42" y="5"/>
                  </a:lnTo>
                  <a:lnTo>
                    <a:pt x="45" y="5"/>
                  </a:lnTo>
                  <a:lnTo>
                    <a:pt x="48" y="8"/>
                  </a:lnTo>
                  <a:lnTo>
                    <a:pt x="53" y="8"/>
                  </a:lnTo>
                  <a:lnTo>
                    <a:pt x="56" y="11"/>
                  </a:lnTo>
                  <a:lnTo>
                    <a:pt x="58" y="11"/>
                  </a:lnTo>
                  <a:lnTo>
                    <a:pt x="61" y="1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6349" y="3605"/>
              <a:ext cx="139" cy="319"/>
            </a:xfrm>
            <a:custGeom>
              <a:rect b="b" l="l" r="r" t="t"/>
              <a:pathLst>
                <a:path extrusionOk="0" h="319" w="139">
                  <a:moveTo>
                    <a:pt x="83" y="3"/>
                  </a:moveTo>
                  <a:lnTo>
                    <a:pt x="83" y="0"/>
                  </a:lnTo>
                  <a:lnTo>
                    <a:pt x="85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6" y="0"/>
                  </a:lnTo>
                  <a:lnTo>
                    <a:pt x="99" y="3"/>
                  </a:lnTo>
                  <a:lnTo>
                    <a:pt x="104" y="3"/>
                  </a:lnTo>
                  <a:lnTo>
                    <a:pt x="107" y="3"/>
                  </a:lnTo>
                  <a:lnTo>
                    <a:pt x="112" y="6"/>
                  </a:lnTo>
                  <a:lnTo>
                    <a:pt x="117" y="6"/>
                  </a:lnTo>
                  <a:lnTo>
                    <a:pt x="120" y="8"/>
                  </a:lnTo>
                  <a:lnTo>
                    <a:pt x="125" y="11"/>
                  </a:lnTo>
                  <a:lnTo>
                    <a:pt x="128" y="11"/>
                  </a:lnTo>
                  <a:lnTo>
                    <a:pt x="133" y="14"/>
                  </a:lnTo>
                  <a:lnTo>
                    <a:pt x="136" y="16"/>
                  </a:lnTo>
                  <a:lnTo>
                    <a:pt x="139" y="16"/>
                  </a:lnTo>
                  <a:lnTo>
                    <a:pt x="139" y="45"/>
                  </a:lnTo>
                  <a:lnTo>
                    <a:pt x="136" y="75"/>
                  </a:lnTo>
                  <a:lnTo>
                    <a:pt x="133" y="101"/>
                  </a:lnTo>
                  <a:lnTo>
                    <a:pt x="131" y="128"/>
                  </a:lnTo>
                  <a:lnTo>
                    <a:pt x="128" y="157"/>
                  </a:lnTo>
                  <a:lnTo>
                    <a:pt x="128" y="184"/>
                  </a:lnTo>
                  <a:lnTo>
                    <a:pt x="125" y="213"/>
                  </a:lnTo>
                  <a:lnTo>
                    <a:pt x="125" y="239"/>
                  </a:lnTo>
                  <a:lnTo>
                    <a:pt x="125" y="261"/>
                  </a:lnTo>
                  <a:lnTo>
                    <a:pt x="125" y="279"/>
                  </a:lnTo>
                  <a:lnTo>
                    <a:pt x="125" y="300"/>
                  </a:lnTo>
                  <a:lnTo>
                    <a:pt x="128" y="319"/>
                  </a:lnTo>
                  <a:lnTo>
                    <a:pt x="120" y="319"/>
                  </a:lnTo>
                  <a:lnTo>
                    <a:pt x="115" y="319"/>
                  </a:lnTo>
                  <a:lnTo>
                    <a:pt x="107" y="319"/>
                  </a:lnTo>
                  <a:lnTo>
                    <a:pt x="101" y="319"/>
                  </a:lnTo>
                  <a:lnTo>
                    <a:pt x="93" y="316"/>
                  </a:lnTo>
                  <a:lnTo>
                    <a:pt x="88" y="316"/>
                  </a:lnTo>
                  <a:lnTo>
                    <a:pt x="80" y="316"/>
                  </a:lnTo>
                  <a:lnTo>
                    <a:pt x="75" y="316"/>
                  </a:lnTo>
                  <a:lnTo>
                    <a:pt x="67" y="316"/>
                  </a:lnTo>
                  <a:lnTo>
                    <a:pt x="59" y="314"/>
                  </a:lnTo>
                  <a:lnTo>
                    <a:pt x="54" y="314"/>
                  </a:lnTo>
                  <a:lnTo>
                    <a:pt x="46" y="311"/>
                  </a:lnTo>
                  <a:lnTo>
                    <a:pt x="40" y="311"/>
                  </a:lnTo>
                  <a:lnTo>
                    <a:pt x="32" y="308"/>
                  </a:lnTo>
                  <a:lnTo>
                    <a:pt x="27" y="306"/>
                  </a:lnTo>
                  <a:lnTo>
                    <a:pt x="22" y="306"/>
                  </a:lnTo>
                  <a:lnTo>
                    <a:pt x="11" y="298"/>
                  </a:lnTo>
                  <a:lnTo>
                    <a:pt x="6" y="287"/>
                  </a:lnTo>
                  <a:lnTo>
                    <a:pt x="3" y="277"/>
                  </a:lnTo>
                  <a:lnTo>
                    <a:pt x="0" y="261"/>
                  </a:lnTo>
                  <a:lnTo>
                    <a:pt x="0" y="242"/>
                  </a:lnTo>
                  <a:lnTo>
                    <a:pt x="3" y="223"/>
                  </a:lnTo>
                  <a:lnTo>
                    <a:pt x="6" y="205"/>
                  </a:lnTo>
                  <a:lnTo>
                    <a:pt x="11" y="184"/>
                  </a:lnTo>
                  <a:lnTo>
                    <a:pt x="16" y="162"/>
                  </a:lnTo>
                  <a:lnTo>
                    <a:pt x="22" y="144"/>
                  </a:lnTo>
                  <a:lnTo>
                    <a:pt x="27" y="125"/>
                  </a:lnTo>
                  <a:lnTo>
                    <a:pt x="32" y="107"/>
                  </a:lnTo>
                  <a:lnTo>
                    <a:pt x="38" y="91"/>
                  </a:lnTo>
                  <a:lnTo>
                    <a:pt x="43" y="77"/>
                  </a:lnTo>
                  <a:lnTo>
                    <a:pt x="48" y="67"/>
                  </a:lnTo>
                  <a:lnTo>
                    <a:pt x="51" y="59"/>
                  </a:lnTo>
                  <a:lnTo>
                    <a:pt x="56" y="51"/>
                  </a:lnTo>
                  <a:lnTo>
                    <a:pt x="59" y="45"/>
                  </a:lnTo>
                  <a:lnTo>
                    <a:pt x="64" y="37"/>
                  </a:lnTo>
                  <a:lnTo>
                    <a:pt x="67" y="29"/>
                  </a:lnTo>
                  <a:lnTo>
                    <a:pt x="72" y="21"/>
                  </a:lnTo>
                  <a:lnTo>
                    <a:pt x="75" y="16"/>
                  </a:lnTo>
                  <a:lnTo>
                    <a:pt x="77" y="8"/>
                  </a:lnTo>
                  <a:lnTo>
                    <a:pt x="83" y="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6371" y="3640"/>
              <a:ext cx="13" cy="16"/>
            </a:xfrm>
            <a:custGeom>
              <a:rect b="b" l="l" r="r" t="t"/>
              <a:pathLst>
                <a:path extrusionOk="0" h="16" w="13">
                  <a:moveTo>
                    <a:pt x="1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8" y="8"/>
                  </a:lnTo>
                  <a:lnTo>
                    <a:pt x="8" y="10"/>
                  </a:lnTo>
                  <a:lnTo>
                    <a:pt x="5" y="13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8"/>
                  </a:lnTo>
                  <a:lnTo>
                    <a:pt x="5" y="5"/>
                  </a:lnTo>
                  <a:lnTo>
                    <a:pt x="5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6594" y="3637"/>
              <a:ext cx="250" cy="348"/>
            </a:xfrm>
            <a:custGeom>
              <a:rect b="b" l="l" r="r" t="t"/>
              <a:pathLst>
                <a:path extrusionOk="0" h="348" w="250">
                  <a:moveTo>
                    <a:pt x="232" y="37"/>
                  </a:moveTo>
                  <a:lnTo>
                    <a:pt x="226" y="56"/>
                  </a:lnTo>
                  <a:lnTo>
                    <a:pt x="229" y="64"/>
                  </a:lnTo>
                  <a:lnTo>
                    <a:pt x="232" y="69"/>
                  </a:lnTo>
                  <a:lnTo>
                    <a:pt x="234" y="77"/>
                  </a:lnTo>
                  <a:lnTo>
                    <a:pt x="234" y="85"/>
                  </a:lnTo>
                  <a:lnTo>
                    <a:pt x="237" y="90"/>
                  </a:lnTo>
                  <a:lnTo>
                    <a:pt x="240" y="98"/>
                  </a:lnTo>
                  <a:lnTo>
                    <a:pt x="240" y="106"/>
                  </a:lnTo>
                  <a:lnTo>
                    <a:pt x="242" y="117"/>
                  </a:lnTo>
                  <a:lnTo>
                    <a:pt x="248" y="144"/>
                  </a:lnTo>
                  <a:lnTo>
                    <a:pt x="248" y="168"/>
                  </a:lnTo>
                  <a:lnTo>
                    <a:pt x="250" y="194"/>
                  </a:lnTo>
                  <a:lnTo>
                    <a:pt x="250" y="221"/>
                  </a:lnTo>
                  <a:lnTo>
                    <a:pt x="250" y="237"/>
                  </a:lnTo>
                  <a:lnTo>
                    <a:pt x="250" y="253"/>
                  </a:lnTo>
                  <a:lnTo>
                    <a:pt x="248" y="268"/>
                  </a:lnTo>
                  <a:lnTo>
                    <a:pt x="248" y="282"/>
                  </a:lnTo>
                  <a:lnTo>
                    <a:pt x="248" y="290"/>
                  </a:lnTo>
                  <a:lnTo>
                    <a:pt x="245" y="298"/>
                  </a:lnTo>
                  <a:lnTo>
                    <a:pt x="245" y="306"/>
                  </a:lnTo>
                  <a:lnTo>
                    <a:pt x="242" y="314"/>
                  </a:lnTo>
                  <a:lnTo>
                    <a:pt x="242" y="322"/>
                  </a:lnTo>
                  <a:lnTo>
                    <a:pt x="240" y="327"/>
                  </a:lnTo>
                  <a:lnTo>
                    <a:pt x="237" y="335"/>
                  </a:lnTo>
                  <a:lnTo>
                    <a:pt x="234" y="340"/>
                  </a:lnTo>
                  <a:lnTo>
                    <a:pt x="224" y="340"/>
                  </a:lnTo>
                  <a:lnTo>
                    <a:pt x="216" y="343"/>
                  </a:lnTo>
                  <a:lnTo>
                    <a:pt x="205" y="343"/>
                  </a:lnTo>
                  <a:lnTo>
                    <a:pt x="197" y="343"/>
                  </a:lnTo>
                  <a:lnTo>
                    <a:pt x="186" y="343"/>
                  </a:lnTo>
                  <a:lnTo>
                    <a:pt x="178" y="346"/>
                  </a:lnTo>
                  <a:lnTo>
                    <a:pt x="168" y="346"/>
                  </a:lnTo>
                  <a:lnTo>
                    <a:pt x="160" y="346"/>
                  </a:lnTo>
                  <a:lnTo>
                    <a:pt x="149" y="348"/>
                  </a:lnTo>
                  <a:lnTo>
                    <a:pt x="141" y="348"/>
                  </a:lnTo>
                  <a:lnTo>
                    <a:pt x="130" y="348"/>
                  </a:lnTo>
                  <a:lnTo>
                    <a:pt x="122" y="348"/>
                  </a:lnTo>
                  <a:lnTo>
                    <a:pt x="112" y="348"/>
                  </a:lnTo>
                  <a:lnTo>
                    <a:pt x="104" y="348"/>
                  </a:lnTo>
                  <a:lnTo>
                    <a:pt x="93" y="348"/>
                  </a:lnTo>
                  <a:lnTo>
                    <a:pt x="85" y="348"/>
                  </a:lnTo>
                  <a:lnTo>
                    <a:pt x="80" y="348"/>
                  </a:lnTo>
                  <a:lnTo>
                    <a:pt x="75" y="348"/>
                  </a:lnTo>
                  <a:lnTo>
                    <a:pt x="69" y="348"/>
                  </a:lnTo>
                  <a:lnTo>
                    <a:pt x="67" y="348"/>
                  </a:lnTo>
                  <a:lnTo>
                    <a:pt x="61" y="348"/>
                  </a:lnTo>
                  <a:lnTo>
                    <a:pt x="56" y="348"/>
                  </a:lnTo>
                  <a:lnTo>
                    <a:pt x="51" y="348"/>
                  </a:lnTo>
                  <a:lnTo>
                    <a:pt x="48" y="348"/>
                  </a:lnTo>
                  <a:lnTo>
                    <a:pt x="43" y="346"/>
                  </a:lnTo>
                  <a:lnTo>
                    <a:pt x="37" y="346"/>
                  </a:lnTo>
                  <a:lnTo>
                    <a:pt x="35" y="346"/>
                  </a:lnTo>
                  <a:lnTo>
                    <a:pt x="29" y="343"/>
                  </a:lnTo>
                  <a:lnTo>
                    <a:pt x="24" y="343"/>
                  </a:lnTo>
                  <a:lnTo>
                    <a:pt x="21" y="340"/>
                  </a:lnTo>
                  <a:lnTo>
                    <a:pt x="16" y="338"/>
                  </a:lnTo>
                  <a:lnTo>
                    <a:pt x="13" y="335"/>
                  </a:lnTo>
                  <a:lnTo>
                    <a:pt x="8" y="316"/>
                  </a:lnTo>
                  <a:lnTo>
                    <a:pt x="5" y="295"/>
                  </a:lnTo>
                  <a:lnTo>
                    <a:pt x="3" y="274"/>
                  </a:lnTo>
                  <a:lnTo>
                    <a:pt x="0" y="253"/>
                  </a:lnTo>
                  <a:lnTo>
                    <a:pt x="0" y="234"/>
                  </a:lnTo>
                  <a:lnTo>
                    <a:pt x="3" y="213"/>
                  </a:lnTo>
                  <a:lnTo>
                    <a:pt x="3" y="191"/>
                  </a:lnTo>
                  <a:lnTo>
                    <a:pt x="5" y="170"/>
                  </a:lnTo>
                  <a:lnTo>
                    <a:pt x="5" y="160"/>
                  </a:lnTo>
                  <a:lnTo>
                    <a:pt x="8" y="146"/>
                  </a:lnTo>
                  <a:lnTo>
                    <a:pt x="11" y="128"/>
                  </a:lnTo>
                  <a:lnTo>
                    <a:pt x="13" y="112"/>
                  </a:lnTo>
                  <a:lnTo>
                    <a:pt x="16" y="93"/>
                  </a:lnTo>
                  <a:lnTo>
                    <a:pt x="19" y="75"/>
                  </a:lnTo>
                  <a:lnTo>
                    <a:pt x="21" y="61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5"/>
                  </a:lnTo>
                  <a:lnTo>
                    <a:pt x="24" y="45"/>
                  </a:lnTo>
                  <a:lnTo>
                    <a:pt x="21" y="43"/>
                  </a:lnTo>
                  <a:lnTo>
                    <a:pt x="19" y="37"/>
                  </a:lnTo>
                  <a:lnTo>
                    <a:pt x="19" y="29"/>
                  </a:lnTo>
                  <a:lnTo>
                    <a:pt x="21" y="19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7" y="13"/>
                  </a:lnTo>
                  <a:lnTo>
                    <a:pt x="29" y="13"/>
                  </a:lnTo>
                  <a:lnTo>
                    <a:pt x="35" y="11"/>
                  </a:lnTo>
                  <a:lnTo>
                    <a:pt x="40" y="11"/>
                  </a:lnTo>
                  <a:lnTo>
                    <a:pt x="48" y="8"/>
                  </a:lnTo>
                  <a:lnTo>
                    <a:pt x="53" y="8"/>
                  </a:lnTo>
                  <a:lnTo>
                    <a:pt x="59" y="5"/>
                  </a:lnTo>
                  <a:lnTo>
                    <a:pt x="67" y="5"/>
                  </a:lnTo>
                  <a:lnTo>
                    <a:pt x="72" y="3"/>
                  </a:lnTo>
                  <a:lnTo>
                    <a:pt x="80" y="3"/>
                  </a:lnTo>
                  <a:lnTo>
                    <a:pt x="85" y="3"/>
                  </a:lnTo>
                  <a:lnTo>
                    <a:pt x="93" y="0"/>
                  </a:lnTo>
                  <a:lnTo>
                    <a:pt x="99" y="0"/>
                  </a:lnTo>
                  <a:lnTo>
                    <a:pt x="107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3" y="0"/>
                  </a:lnTo>
                  <a:lnTo>
                    <a:pt x="141" y="0"/>
                  </a:lnTo>
                  <a:lnTo>
                    <a:pt x="149" y="0"/>
                  </a:lnTo>
                  <a:lnTo>
                    <a:pt x="154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76" y="3"/>
                  </a:lnTo>
                  <a:lnTo>
                    <a:pt x="181" y="3"/>
                  </a:lnTo>
                  <a:lnTo>
                    <a:pt x="189" y="5"/>
                  </a:lnTo>
                  <a:lnTo>
                    <a:pt x="194" y="5"/>
                  </a:lnTo>
                  <a:lnTo>
                    <a:pt x="202" y="8"/>
                  </a:lnTo>
                  <a:lnTo>
                    <a:pt x="208" y="8"/>
                  </a:lnTo>
                  <a:lnTo>
                    <a:pt x="213" y="11"/>
                  </a:lnTo>
                  <a:lnTo>
                    <a:pt x="221" y="13"/>
                  </a:lnTo>
                  <a:lnTo>
                    <a:pt x="226" y="16"/>
                  </a:lnTo>
                  <a:lnTo>
                    <a:pt x="232" y="19"/>
                  </a:lnTo>
                  <a:lnTo>
                    <a:pt x="237" y="21"/>
                  </a:lnTo>
                  <a:lnTo>
                    <a:pt x="232" y="37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6629" y="3648"/>
              <a:ext cx="189" cy="135"/>
            </a:xfrm>
            <a:custGeom>
              <a:rect b="b" l="l" r="r" t="t"/>
              <a:pathLst>
                <a:path extrusionOk="0" h="135" w="189">
                  <a:moveTo>
                    <a:pt x="189" y="16"/>
                  </a:moveTo>
                  <a:lnTo>
                    <a:pt x="186" y="18"/>
                  </a:lnTo>
                  <a:lnTo>
                    <a:pt x="183" y="24"/>
                  </a:lnTo>
                  <a:lnTo>
                    <a:pt x="181" y="32"/>
                  </a:lnTo>
                  <a:lnTo>
                    <a:pt x="178" y="40"/>
                  </a:lnTo>
                  <a:lnTo>
                    <a:pt x="173" y="48"/>
                  </a:lnTo>
                  <a:lnTo>
                    <a:pt x="167" y="58"/>
                  </a:lnTo>
                  <a:lnTo>
                    <a:pt x="162" y="69"/>
                  </a:lnTo>
                  <a:lnTo>
                    <a:pt x="157" y="79"/>
                  </a:lnTo>
                  <a:lnTo>
                    <a:pt x="151" y="87"/>
                  </a:lnTo>
                  <a:lnTo>
                    <a:pt x="146" y="98"/>
                  </a:lnTo>
                  <a:lnTo>
                    <a:pt x="141" y="106"/>
                  </a:lnTo>
                  <a:lnTo>
                    <a:pt x="135" y="114"/>
                  </a:lnTo>
                  <a:lnTo>
                    <a:pt x="130" y="122"/>
                  </a:lnTo>
                  <a:lnTo>
                    <a:pt x="125" y="127"/>
                  </a:lnTo>
                  <a:lnTo>
                    <a:pt x="119" y="130"/>
                  </a:lnTo>
                  <a:lnTo>
                    <a:pt x="114" y="133"/>
                  </a:lnTo>
                  <a:lnTo>
                    <a:pt x="109" y="133"/>
                  </a:lnTo>
                  <a:lnTo>
                    <a:pt x="103" y="135"/>
                  </a:lnTo>
                  <a:lnTo>
                    <a:pt x="101" y="135"/>
                  </a:lnTo>
                  <a:lnTo>
                    <a:pt x="95" y="135"/>
                  </a:lnTo>
                  <a:lnTo>
                    <a:pt x="90" y="135"/>
                  </a:lnTo>
                  <a:lnTo>
                    <a:pt x="85" y="133"/>
                  </a:lnTo>
                  <a:lnTo>
                    <a:pt x="82" y="133"/>
                  </a:lnTo>
                  <a:lnTo>
                    <a:pt x="77" y="133"/>
                  </a:lnTo>
                  <a:lnTo>
                    <a:pt x="72" y="130"/>
                  </a:lnTo>
                  <a:lnTo>
                    <a:pt x="69" y="127"/>
                  </a:lnTo>
                  <a:lnTo>
                    <a:pt x="66" y="125"/>
                  </a:lnTo>
                  <a:lnTo>
                    <a:pt x="61" y="122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3" y="114"/>
                  </a:lnTo>
                  <a:lnTo>
                    <a:pt x="50" y="109"/>
                  </a:lnTo>
                  <a:lnTo>
                    <a:pt x="48" y="103"/>
                  </a:lnTo>
                  <a:lnTo>
                    <a:pt x="40" y="93"/>
                  </a:lnTo>
                  <a:lnTo>
                    <a:pt x="34" y="77"/>
                  </a:lnTo>
                  <a:lnTo>
                    <a:pt x="26" y="64"/>
                  </a:lnTo>
                  <a:lnTo>
                    <a:pt x="16" y="48"/>
                  </a:lnTo>
                  <a:lnTo>
                    <a:pt x="10" y="32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8" y="10"/>
                  </a:lnTo>
                  <a:lnTo>
                    <a:pt x="18" y="8"/>
                  </a:lnTo>
                  <a:lnTo>
                    <a:pt x="29" y="8"/>
                  </a:lnTo>
                  <a:lnTo>
                    <a:pt x="40" y="5"/>
                  </a:lnTo>
                  <a:lnTo>
                    <a:pt x="50" y="2"/>
                  </a:lnTo>
                  <a:lnTo>
                    <a:pt x="61" y="2"/>
                  </a:lnTo>
                  <a:lnTo>
                    <a:pt x="72" y="0"/>
                  </a:lnTo>
                  <a:lnTo>
                    <a:pt x="82" y="0"/>
                  </a:lnTo>
                  <a:lnTo>
                    <a:pt x="95" y="0"/>
                  </a:lnTo>
                  <a:lnTo>
                    <a:pt x="106" y="0"/>
                  </a:lnTo>
                  <a:lnTo>
                    <a:pt x="117" y="0"/>
                  </a:lnTo>
                  <a:lnTo>
                    <a:pt x="127" y="0"/>
                  </a:lnTo>
                  <a:lnTo>
                    <a:pt x="138" y="2"/>
                  </a:lnTo>
                  <a:lnTo>
                    <a:pt x="149" y="2"/>
                  </a:lnTo>
                  <a:lnTo>
                    <a:pt x="157" y="5"/>
                  </a:lnTo>
                  <a:lnTo>
                    <a:pt x="167" y="8"/>
                  </a:lnTo>
                  <a:lnTo>
                    <a:pt x="170" y="8"/>
                  </a:lnTo>
                  <a:lnTo>
                    <a:pt x="173" y="10"/>
                  </a:lnTo>
                  <a:lnTo>
                    <a:pt x="175" y="10"/>
                  </a:lnTo>
                  <a:lnTo>
                    <a:pt x="178" y="10"/>
                  </a:lnTo>
                  <a:lnTo>
                    <a:pt x="181" y="10"/>
                  </a:lnTo>
                  <a:lnTo>
                    <a:pt x="183" y="13"/>
                  </a:lnTo>
                  <a:lnTo>
                    <a:pt x="186" y="13"/>
                  </a:lnTo>
                  <a:lnTo>
                    <a:pt x="189" y="1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6605" y="3704"/>
              <a:ext cx="229" cy="268"/>
            </a:xfrm>
            <a:custGeom>
              <a:rect b="b" l="l" r="r" t="t"/>
              <a:pathLst>
                <a:path extrusionOk="0" h="268" w="229">
                  <a:moveTo>
                    <a:pt x="26" y="0"/>
                  </a:moveTo>
                  <a:lnTo>
                    <a:pt x="29" y="2"/>
                  </a:lnTo>
                  <a:lnTo>
                    <a:pt x="32" y="5"/>
                  </a:lnTo>
                  <a:lnTo>
                    <a:pt x="32" y="10"/>
                  </a:lnTo>
                  <a:lnTo>
                    <a:pt x="34" y="13"/>
                  </a:lnTo>
                  <a:lnTo>
                    <a:pt x="37" y="18"/>
                  </a:lnTo>
                  <a:lnTo>
                    <a:pt x="42" y="23"/>
                  </a:lnTo>
                  <a:lnTo>
                    <a:pt x="45" y="31"/>
                  </a:lnTo>
                  <a:lnTo>
                    <a:pt x="48" y="34"/>
                  </a:lnTo>
                  <a:lnTo>
                    <a:pt x="50" y="39"/>
                  </a:lnTo>
                  <a:lnTo>
                    <a:pt x="56" y="45"/>
                  </a:lnTo>
                  <a:lnTo>
                    <a:pt x="58" y="50"/>
                  </a:lnTo>
                  <a:lnTo>
                    <a:pt x="61" y="55"/>
                  </a:lnTo>
                  <a:lnTo>
                    <a:pt x="64" y="61"/>
                  </a:lnTo>
                  <a:lnTo>
                    <a:pt x="66" y="63"/>
                  </a:lnTo>
                  <a:lnTo>
                    <a:pt x="72" y="66"/>
                  </a:lnTo>
                  <a:lnTo>
                    <a:pt x="74" y="71"/>
                  </a:lnTo>
                  <a:lnTo>
                    <a:pt x="77" y="74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8" y="82"/>
                  </a:lnTo>
                  <a:lnTo>
                    <a:pt x="90" y="85"/>
                  </a:lnTo>
                  <a:lnTo>
                    <a:pt x="96" y="87"/>
                  </a:lnTo>
                  <a:lnTo>
                    <a:pt x="98" y="90"/>
                  </a:lnTo>
                  <a:lnTo>
                    <a:pt x="103" y="90"/>
                  </a:lnTo>
                  <a:lnTo>
                    <a:pt x="106" y="90"/>
                  </a:lnTo>
                  <a:lnTo>
                    <a:pt x="111" y="93"/>
                  </a:lnTo>
                  <a:lnTo>
                    <a:pt x="117" y="93"/>
                  </a:lnTo>
                  <a:lnTo>
                    <a:pt x="122" y="90"/>
                  </a:lnTo>
                  <a:lnTo>
                    <a:pt x="127" y="90"/>
                  </a:lnTo>
                  <a:lnTo>
                    <a:pt x="130" y="90"/>
                  </a:lnTo>
                  <a:lnTo>
                    <a:pt x="133" y="90"/>
                  </a:lnTo>
                  <a:lnTo>
                    <a:pt x="135" y="90"/>
                  </a:lnTo>
                  <a:lnTo>
                    <a:pt x="138" y="90"/>
                  </a:lnTo>
                  <a:lnTo>
                    <a:pt x="141" y="90"/>
                  </a:lnTo>
                  <a:lnTo>
                    <a:pt x="146" y="87"/>
                  </a:lnTo>
                  <a:lnTo>
                    <a:pt x="149" y="87"/>
                  </a:lnTo>
                  <a:lnTo>
                    <a:pt x="157" y="79"/>
                  </a:lnTo>
                  <a:lnTo>
                    <a:pt x="162" y="71"/>
                  </a:lnTo>
                  <a:lnTo>
                    <a:pt x="170" y="63"/>
                  </a:lnTo>
                  <a:lnTo>
                    <a:pt x="175" y="53"/>
                  </a:lnTo>
                  <a:lnTo>
                    <a:pt x="181" y="42"/>
                  </a:lnTo>
                  <a:lnTo>
                    <a:pt x="186" y="34"/>
                  </a:lnTo>
                  <a:lnTo>
                    <a:pt x="194" y="23"/>
                  </a:lnTo>
                  <a:lnTo>
                    <a:pt x="199" y="15"/>
                  </a:lnTo>
                  <a:lnTo>
                    <a:pt x="202" y="13"/>
                  </a:lnTo>
                  <a:lnTo>
                    <a:pt x="205" y="8"/>
                  </a:lnTo>
                  <a:lnTo>
                    <a:pt x="205" y="5"/>
                  </a:lnTo>
                  <a:lnTo>
                    <a:pt x="207" y="2"/>
                  </a:lnTo>
                  <a:lnTo>
                    <a:pt x="210" y="8"/>
                  </a:lnTo>
                  <a:lnTo>
                    <a:pt x="210" y="10"/>
                  </a:lnTo>
                  <a:lnTo>
                    <a:pt x="213" y="15"/>
                  </a:lnTo>
                  <a:lnTo>
                    <a:pt x="213" y="21"/>
                  </a:lnTo>
                  <a:lnTo>
                    <a:pt x="218" y="31"/>
                  </a:lnTo>
                  <a:lnTo>
                    <a:pt x="221" y="45"/>
                  </a:lnTo>
                  <a:lnTo>
                    <a:pt x="221" y="58"/>
                  </a:lnTo>
                  <a:lnTo>
                    <a:pt x="223" y="71"/>
                  </a:lnTo>
                  <a:lnTo>
                    <a:pt x="226" y="82"/>
                  </a:lnTo>
                  <a:lnTo>
                    <a:pt x="226" y="95"/>
                  </a:lnTo>
                  <a:lnTo>
                    <a:pt x="229" y="108"/>
                  </a:lnTo>
                  <a:lnTo>
                    <a:pt x="229" y="122"/>
                  </a:lnTo>
                  <a:lnTo>
                    <a:pt x="229" y="124"/>
                  </a:lnTo>
                  <a:lnTo>
                    <a:pt x="229" y="127"/>
                  </a:lnTo>
                  <a:lnTo>
                    <a:pt x="229" y="132"/>
                  </a:lnTo>
                  <a:lnTo>
                    <a:pt x="229" y="135"/>
                  </a:lnTo>
                  <a:lnTo>
                    <a:pt x="229" y="151"/>
                  </a:lnTo>
                  <a:lnTo>
                    <a:pt x="229" y="164"/>
                  </a:lnTo>
                  <a:lnTo>
                    <a:pt x="229" y="180"/>
                  </a:lnTo>
                  <a:lnTo>
                    <a:pt x="226" y="196"/>
                  </a:lnTo>
                  <a:lnTo>
                    <a:pt x="226" y="212"/>
                  </a:lnTo>
                  <a:lnTo>
                    <a:pt x="223" y="228"/>
                  </a:lnTo>
                  <a:lnTo>
                    <a:pt x="221" y="244"/>
                  </a:lnTo>
                  <a:lnTo>
                    <a:pt x="215" y="257"/>
                  </a:lnTo>
                  <a:lnTo>
                    <a:pt x="213" y="257"/>
                  </a:lnTo>
                  <a:lnTo>
                    <a:pt x="210" y="260"/>
                  </a:lnTo>
                  <a:lnTo>
                    <a:pt x="205" y="260"/>
                  </a:lnTo>
                  <a:lnTo>
                    <a:pt x="202" y="260"/>
                  </a:lnTo>
                  <a:lnTo>
                    <a:pt x="199" y="260"/>
                  </a:lnTo>
                  <a:lnTo>
                    <a:pt x="197" y="260"/>
                  </a:lnTo>
                  <a:lnTo>
                    <a:pt x="194" y="260"/>
                  </a:lnTo>
                  <a:lnTo>
                    <a:pt x="191" y="263"/>
                  </a:lnTo>
                  <a:lnTo>
                    <a:pt x="181" y="263"/>
                  </a:lnTo>
                  <a:lnTo>
                    <a:pt x="170" y="263"/>
                  </a:lnTo>
                  <a:lnTo>
                    <a:pt x="159" y="265"/>
                  </a:lnTo>
                  <a:lnTo>
                    <a:pt x="149" y="265"/>
                  </a:lnTo>
                  <a:lnTo>
                    <a:pt x="138" y="268"/>
                  </a:lnTo>
                  <a:lnTo>
                    <a:pt x="127" y="268"/>
                  </a:lnTo>
                  <a:lnTo>
                    <a:pt x="119" y="268"/>
                  </a:lnTo>
                  <a:lnTo>
                    <a:pt x="109" y="268"/>
                  </a:lnTo>
                  <a:lnTo>
                    <a:pt x="98" y="268"/>
                  </a:lnTo>
                  <a:lnTo>
                    <a:pt x="88" y="268"/>
                  </a:lnTo>
                  <a:lnTo>
                    <a:pt x="77" y="268"/>
                  </a:lnTo>
                  <a:lnTo>
                    <a:pt x="66" y="268"/>
                  </a:lnTo>
                  <a:lnTo>
                    <a:pt x="56" y="268"/>
                  </a:lnTo>
                  <a:lnTo>
                    <a:pt x="45" y="268"/>
                  </a:lnTo>
                  <a:lnTo>
                    <a:pt x="34" y="265"/>
                  </a:lnTo>
                  <a:lnTo>
                    <a:pt x="26" y="265"/>
                  </a:lnTo>
                  <a:lnTo>
                    <a:pt x="24" y="263"/>
                  </a:lnTo>
                  <a:lnTo>
                    <a:pt x="21" y="263"/>
                  </a:lnTo>
                  <a:lnTo>
                    <a:pt x="18" y="263"/>
                  </a:lnTo>
                  <a:lnTo>
                    <a:pt x="18" y="263"/>
                  </a:lnTo>
                  <a:lnTo>
                    <a:pt x="16" y="260"/>
                  </a:lnTo>
                  <a:lnTo>
                    <a:pt x="13" y="260"/>
                  </a:lnTo>
                  <a:lnTo>
                    <a:pt x="13" y="257"/>
                  </a:lnTo>
                  <a:lnTo>
                    <a:pt x="10" y="255"/>
                  </a:lnTo>
                  <a:lnTo>
                    <a:pt x="5" y="231"/>
                  </a:lnTo>
                  <a:lnTo>
                    <a:pt x="2" y="204"/>
                  </a:lnTo>
                  <a:lnTo>
                    <a:pt x="0" y="178"/>
                  </a:lnTo>
                  <a:lnTo>
                    <a:pt x="0" y="151"/>
                  </a:lnTo>
                  <a:lnTo>
                    <a:pt x="2" y="124"/>
                  </a:lnTo>
                  <a:lnTo>
                    <a:pt x="5" y="98"/>
                  </a:lnTo>
                  <a:lnTo>
                    <a:pt x="8" y="71"/>
                  </a:lnTo>
                  <a:lnTo>
                    <a:pt x="13" y="47"/>
                  </a:lnTo>
                  <a:lnTo>
                    <a:pt x="16" y="39"/>
                  </a:lnTo>
                  <a:lnTo>
                    <a:pt x="16" y="34"/>
                  </a:lnTo>
                  <a:lnTo>
                    <a:pt x="16" y="29"/>
                  </a:lnTo>
                  <a:lnTo>
                    <a:pt x="18" y="21"/>
                  </a:lnTo>
                  <a:lnTo>
                    <a:pt x="21" y="15"/>
                  </a:lnTo>
                  <a:lnTo>
                    <a:pt x="21" y="10"/>
                  </a:lnTo>
                  <a:lnTo>
                    <a:pt x="24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6711" y="3738"/>
              <a:ext cx="21" cy="21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lnTo>
                    <a:pt x="13" y="0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16" y="5"/>
                  </a:lnTo>
                  <a:lnTo>
                    <a:pt x="16" y="11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21" y="13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9"/>
                  </a:lnTo>
                  <a:lnTo>
                    <a:pt x="16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8" y="21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5" y="3"/>
                  </a:lnTo>
                  <a:lnTo>
                    <a:pt x="8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6924" y="3991"/>
              <a:ext cx="59" cy="18"/>
            </a:xfrm>
            <a:custGeom>
              <a:rect b="b" l="l" r="r" t="t"/>
              <a:pathLst>
                <a:path extrusionOk="0" h="18" w="59">
                  <a:moveTo>
                    <a:pt x="29" y="5"/>
                  </a:moveTo>
                  <a:lnTo>
                    <a:pt x="35" y="5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5" y="10"/>
                  </a:lnTo>
                  <a:lnTo>
                    <a:pt x="48" y="10"/>
                  </a:lnTo>
                  <a:lnTo>
                    <a:pt x="51" y="13"/>
                  </a:lnTo>
                  <a:lnTo>
                    <a:pt x="53" y="15"/>
                  </a:lnTo>
                  <a:lnTo>
                    <a:pt x="59" y="18"/>
                  </a:lnTo>
                  <a:lnTo>
                    <a:pt x="53" y="15"/>
                  </a:lnTo>
                  <a:lnTo>
                    <a:pt x="51" y="15"/>
                  </a:lnTo>
                  <a:lnTo>
                    <a:pt x="48" y="15"/>
                  </a:lnTo>
                  <a:lnTo>
                    <a:pt x="43" y="15"/>
                  </a:lnTo>
                  <a:lnTo>
                    <a:pt x="37" y="15"/>
                  </a:lnTo>
                  <a:lnTo>
                    <a:pt x="35" y="13"/>
                  </a:lnTo>
                  <a:lnTo>
                    <a:pt x="29" y="13"/>
                  </a:lnTo>
                  <a:lnTo>
                    <a:pt x="24" y="13"/>
                  </a:lnTo>
                  <a:lnTo>
                    <a:pt x="21" y="13"/>
                  </a:lnTo>
                  <a:lnTo>
                    <a:pt x="16" y="15"/>
                  </a:lnTo>
                  <a:lnTo>
                    <a:pt x="13" y="15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11" y="2"/>
                  </a:lnTo>
                  <a:lnTo>
                    <a:pt x="16" y="2"/>
                  </a:lnTo>
                  <a:lnTo>
                    <a:pt x="21" y="2"/>
                  </a:lnTo>
                  <a:lnTo>
                    <a:pt x="24" y="2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solidFill>
              <a:srgbClr val="FF500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6937" y="4076"/>
              <a:ext cx="8" cy="21"/>
            </a:xfrm>
            <a:custGeom>
              <a:rect b="b" l="l" r="r" t="t"/>
              <a:pathLst>
                <a:path extrusionOk="0" h="21" w="8">
                  <a:moveTo>
                    <a:pt x="8" y="13"/>
                  </a:moveTo>
                  <a:lnTo>
                    <a:pt x="8" y="15"/>
                  </a:lnTo>
                  <a:lnTo>
                    <a:pt x="6" y="18"/>
                  </a:lnTo>
                  <a:lnTo>
                    <a:pt x="3" y="18"/>
                  </a:lnTo>
                  <a:lnTo>
                    <a:pt x="0" y="21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6464" y="4131"/>
              <a:ext cx="460" cy="67"/>
            </a:xfrm>
            <a:custGeom>
              <a:rect b="b" l="l" r="r" t="t"/>
              <a:pathLst>
                <a:path extrusionOk="0" h="67" w="460">
                  <a:moveTo>
                    <a:pt x="24" y="0"/>
                  </a:moveTo>
                  <a:lnTo>
                    <a:pt x="24" y="3"/>
                  </a:lnTo>
                  <a:lnTo>
                    <a:pt x="26" y="6"/>
                  </a:lnTo>
                  <a:lnTo>
                    <a:pt x="29" y="11"/>
                  </a:lnTo>
                  <a:lnTo>
                    <a:pt x="32" y="14"/>
                  </a:lnTo>
                  <a:lnTo>
                    <a:pt x="34" y="16"/>
                  </a:lnTo>
                  <a:lnTo>
                    <a:pt x="37" y="19"/>
                  </a:lnTo>
                  <a:lnTo>
                    <a:pt x="40" y="19"/>
                  </a:lnTo>
                  <a:lnTo>
                    <a:pt x="45" y="22"/>
                  </a:lnTo>
                  <a:lnTo>
                    <a:pt x="48" y="24"/>
                  </a:lnTo>
                  <a:lnTo>
                    <a:pt x="53" y="27"/>
                  </a:lnTo>
                  <a:lnTo>
                    <a:pt x="58" y="27"/>
                  </a:lnTo>
                  <a:lnTo>
                    <a:pt x="64" y="30"/>
                  </a:lnTo>
                  <a:lnTo>
                    <a:pt x="69" y="30"/>
                  </a:lnTo>
                  <a:lnTo>
                    <a:pt x="74" y="32"/>
                  </a:lnTo>
                  <a:lnTo>
                    <a:pt x="80" y="35"/>
                  </a:lnTo>
                  <a:lnTo>
                    <a:pt x="85" y="35"/>
                  </a:lnTo>
                  <a:lnTo>
                    <a:pt x="93" y="38"/>
                  </a:lnTo>
                  <a:lnTo>
                    <a:pt x="101" y="40"/>
                  </a:lnTo>
                  <a:lnTo>
                    <a:pt x="109" y="43"/>
                  </a:lnTo>
                  <a:lnTo>
                    <a:pt x="117" y="46"/>
                  </a:lnTo>
                  <a:lnTo>
                    <a:pt x="127" y="46"/>
                  </a:lnTo>
                  <a:lnTo>
                    <a:pt x="135" y="48"/>
                  </a:lnTo>
                  <a:lnTo>
                    <a:pt x="143" y="48"/>
                  </a:lnTo>
                  <a:lnTo>
                    <a:pt x="151" y="51"/>
                  </a:lnTo>
                  <a:lnTo>
                    <a:pt x="159" y="53"/>
                  </a:lnTo>
                  <a:lnTo>
                    <a:pt x="167" y="53"/>
                  </a:lnTo>
                  <a:lnTo>
                    <a:pt x="178" y="53"/>
                  </a:lnTo>
                  <a:lnTo>
                    <a:pt x="186" y="56"/>
                  </a:lnTo>
                  <a:lnTo>
                    <a:pt x="194" y="56"/>
                  </a:lnTo>
                  <a:lnTo>
                    <a:pt x="202" y="56"/>
                  </a:lnTo>
                  <a:lnTo>
                    <a:pt x="210" y="56"/>
                  </a:lnTo>
                  <a:lnTo>
                    <a:pt x="221" y="56"/>
                  </a:lnTo>
                  <a:lnTo>
                    <a:pt x="221" y="59"/>
                  </a:lnTo>
                  <a:lnTo>
                    <a:pt x="223" y="59"/>
                  </a:lnTo>
                  <a:lnTo>
                    <a:pt x="226" y="59"/>
                  </a:lnTo>
                  <a:lnTo>
                    <a:pt x="229" y="59"/>
                  </a:lnTo>
                  <a:lnTo>
                    <a:pt x="231" y="59"/>
                  </a:lnTo>
                  <a:lnTo>
                    <a:pt x="234" y="59"/>
                  </a:lnTo>
                  <a:lnTo>
                    <a:pt x="237" y="59"/>
                  </a:lnTo>
                  <a:lnTo>
                    <a:pt x="237" y="59"/>
                  </a:lnTo>
                  <a:lnTo>
                    <a:pt x="242" y="59"/>
                  </a:lnTo>
                  <a:lnTo>
                    <a:pt x="247" y="59"/>
                  </a:lnTo>
                  <a:lnTo>
                    <a:pt x="250" y="59"/>
                  </a:lnTo>
                  <a:lnTo>
                    <a:pt x="255" y="59"/>
                  </a:lnTo>
                  <a:lnTo>
                    <a:pt x="258" y="59"/>
                  </a:lnTo>
                  <a:lnTo>
                    <a:pt x="263" y="59"/>
                  </a:lnTo>
                  <a:lnTo>
                    <a:pt x="268" y="56"/>
                  </a:lnTo>
                  <a:lnTo>
                    <a:pt x="271" y="56"/>
                  </a:lnTo>
                  <a:lnTo>
                    <a:pt x="279" y="56"/>
                  </a:lnTo>
                  <a:lnTo>
                    <a:pt x="284" y="56"/>
                  </a:lnTo>
                  <a:lnTo>
                    <a:pt x="292" y="56"/>
                  </a:lnTo>
                  <a:lnTo>
                    <a:pt x="300" y="56"/>
                  </a:lnTo>
                  <a:lnTo>
                    <a:pt x="308" y="56"/>
                  </a:lnTo>
                  <a:lnTo>
                    <a:pt x="314" y="53"/>
                  </a:lnTo>
                  <a:lnTo>
                    <a:pt x="322" y="53"/>
                  </a:lnTo>
                  <a:lnTo>
                    <a:pt x="327" y="53"/>
                  </a:lnTo>
                  <a:lnTo>
                    <a:pt x="335" y="51"/>
                  </a:lnTo>
                  <a:lnTo>
                    <a:pt x="343" y="51"/>
                  </a:lnTo>
                  <a:lnTo>
                    <a:pt x="348" y="48"/>
                  </a:lnTo>
                  <a:lnTo>
                    <a:pt x="356" y="48"/>
                  </a:lnTo>
                  <a:lnTo>
                    <a:pt x="362" y="46"/>
                  </a:lnTo>
                  <a:lnTo>
                    <a:pt x="370" y="46"/>
                  </a:lnTo>
                  <a:lnTo>
                    <a:pt x="378" y="43"/>
                  </a:lnTo>
                  <a:lnTo>
                    <a:pt x="383" y="40"/>
                  </a:lnTo>
                  <a:lnTo>
                    <a:pt x="386" y="40"/>
                  </a:lnTo>
                  <a:lnTo>
                    <a:pt x="388" y="38"/>
                  </a:lnTo>
                  <a:lnTo>
                    <a:pt x="391" y="38"/>
                  </a:lnTo>
                  <a:lnTo>
                    <a:pt x="393" y="38"/>
                  </a:lnTo>
                  <a:lnTo>
                    <a:pt x="396" y="38"/>
                  </a:lnTo>
                  <a:lnTo>
                    <a:pt x="399" y="35"/>
                  </a:lnTo>
                  <a:lnTo>
                    <a:pt x="401" y="35"/>
                  </a:lnTo>
                  <a:lnTo>
                    <a:pt x="404" y="32"/>
                  </a:lnTo>
                  <a:lnTo>
                    <a:pt x="409" y="32"/>
                  </a:lnTo>
                  <a:lnTo>
                    <a:pt x="412" y="30"/>
                  </a:lnTo>
                  <a:lnTo>
                    <a:pt x="415" y="30"/>
                  </a:lnTo>
                  <a:lnTo>
                    <a:pt x="420" y="27"/>
                  </a:lnTo>
                  <a:lnTo>
                    <a:pt x="425" y="27"/>
                  </a:lnTo>
                  <a:lnTo>
                    <a:pt x="431" y="24"/>
                  </a:lnTo>
                  <a:lnTo>
                    <a:pt x="436" y="22"/>
                  </a:lnTo>
                  <a:lnTo>
                    <a:pt x="441" y="22"/>
                  </a:lnTo>
                  <a:lnTo>
                    <a:pt x="444" y="19"/>
                  </a:lnTo>
                  <a:lnTo>
                    <a:pt x="447" y="16"/>
                  </a:lnTo>
                  <a:lnTo>
                    <a:pt x="447" y="14"/>
                  </a:lnTo>
                  <a:lnTo>
                    <a:pt x="447" y="8"/>
                  </a:lnTo>
                  <a:lnTo>
                    <a:pt x="449" y="8"/>
                  </a:lnTo>
                  <a:lnTo>
                    <a:pt x="449" y="8"/>
                  </a:lnTo>
                  <a:lnTo>
                    <a:pt x="452" y="11"/>
                  </a:lnTo>
                  <a:lnTo>
                    <a:pt x="455" y="11"/>
                  </a:lnTo>
                  <a:lnTo>
                    <a:pt x="455" y="11"/>
                  </a:lnTo>
                  <a:lnTo>
                    <a:pt x="457" y="14"/>
                  </a:lnTo>
                  <a:lnTo>
                    <a:pt x="457" y="14"/>
                  </a:lnTo>
                  <a:lnTo>
                    <a:pt x="460" y="16"/>
                  </a:lnTo>
                  <a:lnTo>
                    <a:pt x="455" y="19"/>
                  </a:lnTo>
                  <a:lnTo>
                    <a:pt x="452" y="22"/>
                  </a:lnTo>
                  <a:lnTo>
                    <a:pt x="447" y="27"/>
                  </a:lnTo>
                  <a:lnTo>
                    <a:pt x="441" y="30"/>
                  </a:lnTo>
                  <a:lnTo>
                    <a:pt x="439" y="32"/>
                  </a:lnTo>
                  <a:lnTo>
                    <a:pt x="433" y="35"/>
                  </a:lnTo>
                  <a:lnTo>
                    <a:pt x="428" y="38"/>
                  </a:lnTo>
                  <a:lnTo>
                    <a:pt x="423" y="38"/>
                  </a:lnTo>
                  <a:lnTo>
                    <a:pt x="417" y="40"/>
                  </a:lnTo>
                  <a:lnTo>
                    <a:pt x="412" y="43"/>
                  </a:lnTo>
                  <a:lnTo>
                    <a:pt x="407" y="46"/>
                  </a:lnTo>
                  <a:lnTo>
                    <a:pt x="401" y="46"/>
                  </a:lnTo>
                  <a:lnTo>
                    <a:pt x="396" y="48"/>
                  </a:lnTo>
                  <a:lnTo>
                    <a:pt x="391" y="51"/>
                  </a:lnTo>
                  <a:lnTo>
                    <a:pt x="386" y="51"/>
                  </a:lnTo>
                  <a:lnTo>
                    <a:pt x="383" y="53"/>
                  </a:lnTo>
                  <a:lnTo>
                    <a:pt x="378" y="53"/>
                  </a:lnTo>
                  <a:lnTo>
                    <a:pt x="372" y="53"/>
                  </a:lnTo>
                  <a:lnTo>
                    <a:pt x="364" y="56"/>
                  </a:lnTo>
                  <a:lnTo>
                    <a:pt x="359" y="56"/>
                  </a:lnTo>
                  <a:lnTo>
                    <a:pt x="354" y="56"/>
                  </a:lnTo>
                  <a:lnTo>
                    <a:pt x="348" y="59"/>
                  </a:lnTo>
                  <a:lnTo>
                    <a:pt x="343" y="59"/>
                  </a:lnTo>
                  <a:lnTo>
                    <a:pt x="338" y="59"/>
                  </a:lnTo>
                  <a:lnTo>
                    <a:pt x="330" y="61"/>
                  </a:lnTo>
                  <a:lnTo>
                    <a:pt x="319" y="61"/>
                  </a:lnTo>
                  <a:lnTo>
                    <a:pt x="311" y="64"/>
                  </a:lnTo>
                  <a:lnTo>
                    <a:pt x="303" y="64"/>
                  </a:lnTo>
                  <a:lnTo>
                    <a:pt x="292" y="64"/>
                  </a:lnTo>
                  <a:lnTo>
                    <a:pt x="284" y="67"/>
                  </a:lnTo>
                  <a:lnTo>
                    <a:pt x="276" y="67"/>
                  </a:lnTo>
                  <a:lnTo>
                    <a:pt x="268" y="67"/>
                  </a:lnTo>
                  <a:lnTo>
                    <a:pt x="260" y="67"/>
                  </a:lnTo>
                  <a:lnTo>
                    <a:pt x="250" y="67"/>
                  </a:lnTo>
                  <a:lnTo>
                    <a:pt x="242" y="67"/>
                  </a:lnTo>
                  <a:lnTo>
                    <a:pt x="234" y="67"/>
                  </a:lnTo>
                  <a:lnTo>
                    <a:pt x="226" y="67"/>
                  </a:lnTo>
                  <a:lnTo>
                    <a:pt x="215" y="67"/>
                  </a:lnTo>
                  <a:lnTo>
                    <a:pt x="207" y="67"/>
                  </a:lnTo>
                  <a:lnTo>
                    <a:pt x="199" y="67"/>
                  </a:lnTo>
                  <a:lnTo>
                    <a:pt x="189" y="64"/>
                  </a:lnTo>
                  <a:lnTo>
                    <a:pt x="178" y="64"/>
                  </a:lnTo>
                  <a:lnTo>
                    <a:pt x="167" y="61"/>
                  </a:lnTo>
                  <a:lnTo>
                    <a:pt x="157" y="61"/>
                  </a:lnTo>
                  <a:lnTo>
                    <a:pt x="146" y="59"/>
                  </a:lnTo>
                  <a:lnTo>
                    <a:pt x="135" y="59"/>
                  </a:lnTo>
                  <a:lnTo>
                    <a:pt x="125" y="56"/>
                  </a:lnTo>
                  <a:lnTo>
                    <a:pt x="114" y="53"/>
                  </a:lnTo>
                  <a:lnTo>
                    <a:pt x="103" y="51"/>
                  </a:lnTo>
                  <a:lnTo>
                    <a:pt x="93" y="48"/>
                  </a:lnTo>
                  <a:lnTo>
                    <a:pt x="82" y="46"/>
                  </a:lnTo>
                  <a:lnTo>
                    <a:pt x="72" y="46"/>
                  </a:lnTo>
                  <a:lnTo>
                    <a:pt x="61" y="43"/>
                  </a:lnTo>
                  <a:lnTo>
                    <a:pt x="53" y="38"/>
                  </a:lnTo>
                  <a:lnTo>
                    <a:pt x="42" y="35"/>
                  </a:lnTo>
                  <a:lnTo>
                    <a:pt x="32" y="32"/>
                  </a:lnTo>
                  <a:lnTo>
                    <a:pt x="26" y="30"/>
                  </a:lnTo>
                  <a:lnTo>
                    <a:pt x="24" y="27"/>
                  </a:lnTo>
                  <a:lnTo>
                    <a:pt x="18" y="24"/>
                  </a:lnTo>
                  <a:lnTo>
                    <a:pt x="16" y="22"/>
                  </a:lnTo>
                  <a:lnTo>
                    <a:pt x="13" y="19"/>
                  </a:lnTo>
                  <a:lnTo>
                    <a:pt x="8" y="16"/>
                  </a:lnTo>
                  <a:lnTo>
                    <a:pt x="5" y="14"/>
                  </a:lnTo>
                  <a:lnTo>
                    <a:pt x="0" y="8"/>
                  </a:lnTo>
                  <a:lnTo>
                    <a:pt x="2" y="8"/>
                  </a:lnTo>
                  <a:lnTo>
                    <a:pt x="5" y="6"/>
                  </a:lnTo>
                  <a:lnTo>
                    <a:pt x="8" y="6"/>
                  </a:lnTo>
                  <a:lnTo>
                    <a:pt x="10" y="3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2C8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6453" y="4161"/>
              <a:ext cx="482" cy="146"/>
            </a:xfrm>
            <a:custGeom>
              <a:rect b="b" l="l" r="r" t="t"/>
              <a:pathLst>
                <a:path extrusionOk="0" h="146" w="482">
                  <a:moveTo>
                    <a:pt x="476" y="0"/>
                  </a:moveTo>
                  <a:lnTo>
                    <a:pt x="476" y="2"/>
                  </a:lnTo>
                  <a:lnTo>
                    <a:pt x="474" y="8"/>
                  </a:lnTo>
                  <a:lnTo>
                    <a:pt x="471" y="8"/>
                  </a:lnTo>
                  <a:lnTo>
                    <a:pt x="468" y="10"/>
                  </a:lnTo>
                  <a:lnTo>
                    <a:pt x="468" y="13"/>
                  </a:lnTo>
                  <a:lnTo>
                    <a:pt x="466" y="16"/>
                  </a:lnTo>
                  <a:lnTo>
                    <a:pt x="463" y="18"/>
                  </a:lnTo>
                  <a:lnTo>
                    <a:pt x="460" y="21"/>
                  </a:lnTo>
                  <a:lnTo>
                    <a:pt x="458" y="23"/>
                  </a:lnTo>
                  <a:lnTo>
                    <a:pt x="460" y="26"/>
                  </a:lnTo>
                  <a:lnTo>
                    <a:pt x="463" y="29"/>
                  </a:lnTo>
                  <a:lnTo>
                    <a:pt x="466" y="29"/>
                  </a:lnTo>
                  <a:lnTo>
                    <a:pt x="468" y="26"/>
                  </a:lnTo>
                  <a:lnTo>
                    <a:pt x="474" y="26"/>
                  </a:lnTo>
                  <a:lnTo>
                    <a:pt x="476" y="23"/>
                  </a:lnTo>
                  <a:lnTo>
                    <a:pt x="479" y="23"/>
                  </a:lnTo>
                  <a:lnTo>
                    <a:pt x="479" y="21"/>
                  </a:lnTo>
                  <a:lnTo>
                    <a:pt x="482" y="23"/>
                  </a:lnTo>
                  <a:lnTo>
                    <a:pt x="482" y="26"/>
                  </a:lnTo>
                  <a:lnTo>
                    <a:pt x="479" y="29"/>
                  </a:lnTo>
                  <a:lnTo>
                    <a:pt x="479" y="31"/>
                  </a:lnTo>
                  <a:lnTo>
                    <a:pt x="460" y="37"/>
                  </a:lnTo>
                  <a:lnTo>
                    <a:pt x="460" y="39"/>
                  </a:lnTo>
                  <a:lnTo>
                    <a:pt x="460" y="39"/>
                  </a:lnTo>
                  <a:lnTo>
                    <a:pt x="460" y="42"/>
                  </a:lnTo>
                  <a:lnTo>
                    <a:pt x="460" y="45"/>
                  </a:lnTo>
                  <a:lnTo>
                    <a:pt x="476" y="42"/>
                  </a:lnTo>
                  <a:lnTo>
                    <a:pt x="476" y="50"/>
                  </a:lnTo>
                  <a:lnTo>
                    <a:pt x="458" y="55"/>
                  </a:lnTo>
                  <a:lnTo>
                    <a:pt x="458" y="58"/>
                  </a:lnTo>
                  <a:lnTo>
                    <a:pt x="458" y="61"/>
                  </a:lnTo>
                  <a:lnTo>
                    <a:pt x="458" y="63"/>
                  </a:lnTo>
                  <a:lnTo>
                    <a:pt x="458" y="66"/>
                  </a:lnTo>
                  <a:lnTo>
                    <a:pt x="460" y="66"/>
                  </a:lnTo>
                  <a:lnTo>
                    <a:pt x="460" y="66"/>
                  </a:lnTo>
                  <a:lnTo>
                    <a:pt x="463" y="66"/>
                  </a:lnTo>
                  <a:lnTo>
                    <a:pt x="463" y="66"/>
                  </a:lnTo>
                  <a:lnTo>
                    <a:pt x="466" y="66"/>
                  </a:lnTo>
                  <a:lnTo>
                    <a:pt x="466" y="66"/>
                  </a:lnTo>
                  <a:lnTo>
                    <a:pt x="468" y="66"/>
                  </a:lnTo>
                  <a:lnTo>
                    <a:pt x="468" y="63"/>
                  </a:lnTo>
                  <a:lnTo>
                    <a:pt x="455" y="71"/>
                  </a:lnTo>
                  <a:lnTo>
                    <a:pt x="455" y="74"/>
                  </a:lnTo>
                  <a:lnTo>
                    <a:pt x="455" y="79"/>
                  </a:lnTo>
                  <a:lnTo>
                    <a:pt x="455" y="85"/>
                  </a:lnTo>
                  <a:lnTo>
                    <a:pt x="458" y="87"/>
                  </a:lnTo>
                  <a:lnTo>
                    <a:pt x="463" y="85"/>
                  </a:lnTo>
                  <a:lnTo>
                    <a:pt x="468" y="82"/>
                  </a:lnTo>
                  <a:lnTo>
                    <a:pt x="474" y="79"/>
                  </a:lnTo>
                  <a:lnTo>
                    <a:pt x="476" y="79"/>
                  </a:lnTo>
                  <a:lnTo>
                    <a:pt x="479" y="77"/>
                  </a:lnTo>
                  <a:lnTo>
                    <a:pt x="479" y="79"/>
                  </a:lnTo>
                  <a:lnTo>
                    <a:pt x="479" y="82"/>
                  </a:lnTo>
                  <a:lnTo>
                    <a:pt x="476" y="85"/>
                  </a:lnTo>
                  <a:lnTo>
                    <a:pt x="450" y="109"/>
                  </a:lnTo>
                  <a:lnTo>
                    <a:pt x="444" y="111"/>
                  </a:lnTo>
                  <a:lnTo>
                    <a:pt x="439" y="111"/>
                  </a:lnTo>
                  <a:lnTo>
                    <a:pt x="434" y="114"/>
                  </a:lnTo>
                  <a:lnTo>
                    <a:pt x="428" y="116"/>
                  </a:lnTo>
                  <a:lnTo>
                    <a:pt x="420" y="119"/>
                  </a:lnTo>
                  <a:lnTo>
                    <a:pt x="415" y="122"/>
                  </a:lnTo>
                  <a:lnTo>
                    <a:pt x="410" y="122"/>
                  </a:lnTo>
                  <a:lnTo>
                    <a:pt x="404" y="124"/>
                  </a:lnTo>
                  <a:lnTo>
                    <a:pt x="399" y="127"/>
                  </a:lnTo>
                  <a:lnTo>
                    <a:pt x="394" y="127"/>
                  </a:lnTo>
                  <a:lnTo>
                    <a:pt x="386" y="130"/>
                  </a:lnTo>
                  <a:lnTo>
                    <a:pt x="381" y="132"/>
                  </a:lnTo>
                  <a:lnTo>
                    <a:pt x="375" y="132"/>
                  </a:lnTo>
                  <a:lnTo>
                    <a:pt x="370" y="135"/>
                  </a:lnTo>
                  <a:lnTo>
                    <a:pt x="362" y="135"/>
                  </a:lnTo>
                  <a:lnTo>
                    <a:pt x="357" y="138"/>
                  </a:lnTo>
                  <a:lnTo>
                    <a:pt x="351" y="138"/>
                  </a:lnTo>
                  <a:lnTo>
                    <a:pt x="343" y="140"/>
                  </a:lnTo>
                  <a:lnTo>
                    <a:pt x="335" y="140"/>
                  </a:lnTo>
                  <a:lnTo>
                    <a:pt x="330" y="143"/>
                  </a:lnTo>
                  <a:lnTo>
                    <a:pt x="322" y="143"/>
                  </a:lnTo>
                  <a:lnTo>
                    <a:pt x="317" y="143"/>
                  </a:lnTo>
                  <a:lnTo>
                    <a:pt x="309" y="143"/>
                  </a:lnTo>
                  <a:lnTo>
                    <a:pt x="303" y="146"/>
                  </a:lnTo>
                  <a:lnTo>
                    <a:pt x="295" y="146"/>
                  </a:lnTo>
                  <a:lnTo>
                    <a:pt x="290" y="146"/>
                  </a:lnTo>
                  <a:lnTo>
                    <a:pt x="282" y="146"/>
                  </a:lnTo>
                  <a:lnTo>
                    <a:pt x="277" y="146"/>
                  </a:lnTo>
                  <a:lnTo>
                    <a:pt x="269" y="146"/>
                  </a:lnTo>
                  <a:lnTo>
                    <a:pt x="261" y="146"/>
                  </a:lnTo>
                  <a:lnTo>
                    <a:pt x="255" y="146"/>
                  </a:lnTo>
                  <a:lnTo>
                    <a:pt x="248" y="146"/>
                  </a:lnTo>
                  <a:lnTo>
                    <a:pt x="242" y="146"/>
                  </a:lnTo>
                  <a:lnTo>
                    <a:pt x="237" y="146"/>
                  </a:lnTo>
                  <a:lnTo>
                    <a:pt x="229" y="146"/>
                  </a:lnTo>
                  <a:lnTo>
                    <a:pt x="224" y="143"/>
                  </a:lnTo>
                  <a:lnTo>
                    <a:pt x="216" y="143"/>
                  </a:lnTo>
                  <a:lnTo>
                    <a:pt x="210" y="143"/>
                  </a:lnTo>
                  <a:lnTo>
                    <a:pt x="202" y="143"/>
                  </a:lnTo>
                  <a:lnTo>
                    <a:pt x="197" y="143"/>
                  </a:lnTo>
                  <a:lnTo>
                    <a:pt x="189" y="143"/>
                  </a:lnTo>
                  <a:lnTo>
                    <a:pt x="184" y="140"/>
                  </a:lnTo>
                  <a:lnTo>
                    <a:pt x="176" y="140"/>
                  </a:lnTo>
                  <a:lnTo>
                    <a:pt x="168" y="140"/>
                  </a:lnTo>
                  <a:lnTo>
                    <a:pt x="160" y="138"/>
                  </a:lnTo>
                  <a:lnTo>
                    <a:pt x="154" y="138"/>
                  </a:lnTo>
                  <a:lnTo>
                    <a:pt x="146" y="138"/>
                  </a:lnTo>
                  <a:lnTo>
                    <a:pt x="141" y="135"/>
                  </a:lnTo>
                  <a:lnTo>
                    <a:pt x="133" y="135"/>
                  </a:lnTo>
                  <a:lnTo>
                    <a:pt x="125" y="132"/>
                  </a:lnTo>
                  <a:lnTo>
                    <a:pt x="120" y="132"/>
                  </a:lnTo>
                  <a:lnTo>
                    <a:pt x="112" y="130"/>
                  </a:lnTo>
                  <a:lnTo>
                    <a:pt x="104" y="130"/>
                  </a:lnTo>
                  <a:lnTo>
                    <a:pt x="96" y="127"/>
                  </a:lnTo>
                  <a:lnTo>
                    <a:pt x="91" y="127"/>
                  </a:lnTo>
                  <a:lnTo>
                    <a:pt x="83" y="124"/>
                  </a:lnTo>
                  <a:lnTo>
                    <a:pt x="77" y="124"/>
                  </a:lnTo>
                  <a:lnTo>
                    <a:pt x="69" y="122"/>
                  </a:lnTo>
                  <a:lnTo>
                    <a:pt x="64" y="119"/>
                  </a:lnTo>
                  <a:lnTo>
                    <a:pt x="56" y="119"/>
                  </a:lnTo>
                  <a:lnTo>
                    <a:pt x="51" y="116"/>
                  </a:lnTo>
                  <a:lnTo>
                    <a:pt x="43" y="114"/>
                  </a:lnTo>
                  <a:lnTo>
                    <a:pt x="37" y="114"/>
                  </a:lnTo>
                  <a:lnTo>
                    <a:pt x="32" y="111"/>
                  </a:lnTo>
                  <a:lnTo>
                    <a:pt x="32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7" y="111"/>
                  </a:lnTo>
                  <a:lnTo>
                    <a:pt x="37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3" y="109"/>
                  </a:lnTo>
                  <a:lnTo>
                    <a:pt x="45" y="106"/>
                  </a:lnTo>
                  <a:lnTo>
                    <a:pt x="45" y="101"/>
                  </a:lnTo>
                  <a:lnTo>
                    <a:pt x="43" y="98"/>
                  </a:lnTo>
                  <a:lnTo>
                    <a:pt x="43" y="93"/>
                  </a:lnTo>
                  <a:lnTo>
                    <a:pt x="5" y="82"/>
                  </a:lnTo>
                  <a:lnTo>
                    <a:pt x="5" y="74"/>
                  </a:lnTo>
                  <a:lnTo>
                    <a:pt x="8" y="74"/>
                  </a:lnTo>
                  <a:lnTo>
                    <a:pt x="13" y="77"/>
                  </a:lnTo>
                  <a:lnTo>
                    <a:pt x="16" y="79"/>
                  </a:lnTo>
                  <a:lnTo>
                    <a:pt x="21" y="79"/>
                  </a:lnTo>
                  <a:lnTo>
                    <a:pt x="27" y="82"/>
                  </a:lnTo>
                  <a:lnTo>
                    <a:pt x="32" y="85"/>
                  </a:lnTo>
                  <a:lnTo>
                    <a:pt x="37" y="85"/>
                  </a:lnTo>
                  <a:lnTo>
                    <a:pt x="40" y="82"/>
                  </a:lnTo>
                  <a:lnTo>
                    <a:pt x="43" y="74"/>
                  </a:lnTo>
                  <a:lnTo>
                    <a:pt x="5" y="61"/>
                  </a:lnTo>
                  <a:lnTo>
                    <a:pt x="0" y="58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3" y="53"/>
                  </a:lnTo>
                  <a:lnTo>
                    <a:pt x="5" y="55"/>
                  </a:lnTo>
                  <a:lnTo>
                    <a:pt x="8" y="55"/>
                  </a:lnTo>
                  <a:lnTo>
                    <a:pt x="11" y="58"/>
                  </a:lnTo>
                  <a:lnTo>
                    <a:pt x="13" y="58"/>
                  </a:lnTo>
                  <a:lnTo>
                    <a:pt x="19" y="61"/>
                  </a:lnTo>
                  <a:lnTo>
                    <a:pt x="21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32" y="63"/>
                  </a:lnTo>
                  <a:lnTo>
                    <a:pt x="35" y="63"/>
                  </a:lnTo>
                  <a:lnTo>
                    <a:pt x="37" y="61"/>
                  </a:lnTo>
                  <a:lnTo>
                    <a:pt x="40" y="61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37" y="55"/>
                  </a:lnTo>
                  <a:lnTo>
                    <a:pt x="35" y="55"/>
                  </a:lnTo>
                  <a:lnTo>
                    <a:pt x="29" y="55"/>
                  </a:lnTo>
                  <a:lnTo>
                    <a:pt x="24" y="53"/>
                  </a:lnTo>
                  <a:lnTo>
                    <a:pt x="21" y="53"/>
                  </a:lnTo>
                  <a:lnTo>
                    <a:pt x="16" y="50"/>
                  </a:lnTo>
                  <a:lnTo>
                    <a:pt x="13" y="47"/>
                  </a:lnTo>
                  <a:lnTo>
                    <a:pt x="8" y="45"/>
                  </a:lnTo>
                  <a:lnTo>
                    <a:pt x="5" y="42"/>
                  </a:lnTo>
                  <a:lnTo>
                    <a:pt x="0" y="42"/>
                  </a:lnTo>
                  <a:lnTo>
                    <a:pt x="0" y="39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39"/>
                  </a:lnTo>
                  <a:lnTo>
                    <a:pt x="5" y="39"/>
                  </a:lnTo>
                  <a:lnTo>
                    <a:pt x="8" y="42"/>
                  </a:lnTo>
                  <a:lnTo>
                    <a:pt x="11" y="42"/>
                  </a:lnTo>
                  <a:lnTo>
                    <a:pt x="13" y="45"/>
                  </a:lnTo>
                  <a:lnTo>
                    <a:pt x="16" y="47"/>
                  </a:lnTo>
                  <a:lnTo>
                    <a:pt x="19" y="47"/>
                  </a:lnTo>
                  <a:lnTo>
                    <a:pt x="24" y="50"/>
                  </a:lnTo>
                  <a:lnTo>
                    <a:pt x="27" y="50"/>
                  </a:lnTo>
                  <a:lnTo>
                    <a:pt x="27" y="5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5" y="53"/>
                  </a:lnTo>
                  <a:lnTo>
                    <a:pt x="35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40" y="47"/>
                  </a:lnTo>
                  <a:lnTo>
                    <a:pt x="40" y="45"/>
                  </a:lnTo>
                  <a:lnTo>
                    <a:pt x="40" y="42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7" y="39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43" y="39"/>
                  </a:lnTo>
                  <a:lnTo>
                    <a:pt x="43" y="37"/>
                  </a:lnTo>
                  <a:lnTo>
                    <a:pt x="43" y="34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6"/>
                  </a:lnTo>
                  <a:lnTo>
                    <a:pt x="45" y="26"/>
                  </a:lnTo>
                  <a:lnTo>
                    <a:pt x="45" y="23"/>
                  </a:lnTo>
                  <a:lnTo>
                    <a:pt x="48" y="23"/>
                  </a:lnTo>
                  <a:lnTo>
                    <a:pt x="48" y="21"/>
                  </a:lnTo>
                  <a:lnTo>
                    <a:pt x="56" y="23"/>
                  </a:lnTo>
                  <a:lnTo>
                    <a:pt x="67" y="23"/>
                  </a:lnTo>
                  <a:lnTo>
                    <a:pt x="75" y="26"/>
                  </a:lnTo>
                  <a:lnTo>
                    <a:pt x="85" y="29"/>
                  </a:lnTo>
                  <a:lnTo>
                    <a:pt x="96" y="31"/>
                  </a:lnTo>
                  <a:lnTo>
                    <a:pt x="104" y="34"/>
                  </a:lnTo>
                  <a:lnTo>
                    <a:pt x="114" y="34"/>
                  </a:lnTo>
                  <a:lnTo>
                    <a:pt x="122" y="37"/>
                  </a:lnTo>
                  <a:lnTo>
                    <a:pt x="133" y="39"/>
                  </a:lnTo>
                  <a:lnTo>
                    <a:pt x="144" y="42"/>
                  </a:lnTo>
                  <a:lnTo>
                    <a:pt x="152" y="42"/>
                  </a:lnTo>
                  <a:lnTo>
                    <a:pt x="162" y="45"/>
                  </a:lnTo>
                  <a:lnTo>
                    <a:pt x="173" y="45"/>
                  </a:lnTo>
                  <a:lnTo>
                    <a:pt x="181" y="47"/>
                  </a:lnTo>
                  <a:lnTo>
                    <a:pt x="192" y="47"/>
                  </a:lnTo>
                  <a:lnTo>
                    <a:pt x="200" y="47"/>
                  </a:lnTo>
                  <a:lnTo>
                    <a:pt x="208" y="47"/>
                  </a:lnTo>
                  <a:lnTo>
                    <a:pt x="213" y="47"/>
                  </a:lnTo>
                  <a:lnTo>
                    <a:pt x="218" y="50"/>
                  </a:lnTo>
                  <a:lnTo>
                    <a:pt x="224" y="50"/>
                  </a:lnTo>
                  <a:lnTo>
                    <a:pt x="229" y="50"/>
                  </a:lnTo>
                  <a:lnTo>
                    <a:pt x="234" y="50"/>
                  </a:lnTo>
                  <a:lnTo>
                    <a:pt x="240" y="50"/>
                  </a:lnTo>
                  <a:lnTo>
                    <a:pt x="248" y="50"/>
                  </a:lnTo>
                  <a:lnTo>
                    <a:pt x="250" y="50"/>
                  </a:lnTo>
                  <a:lnTo>
                    <a:pt x="255" y="50"/>
                  </a:lnTo>
                  <a:lnTo>
                    <a:pt x="258" y="50"/>
                  </a:lnTo>
                  <a:lnTo>
                    <a:pt x="263" y="50"/>
                  </a:lnTo>
                  <a:lnTo>
                    <a:pt x="266" y="50"/>
                  </a:lnTo>
                  <a:lnTo>
                    <a:pt x="271" y="50"/>
                  </a:lnTo>
                  <a:lnTo>
                    <a:pt x="274" y="50"/>
                  </a:lnTo>
                  <a:lnTo>
                    <a:pt x="279" y="50"/>
                  </a:lnTo>
                  <a:lnTo>
                    <a:pt x="285" y="50"/>
                  </a:lnTo>
                  <a:lnTo>
                    <a:pt x="287" y="50"/>
                  </a:lnTo>
                  <a:lnTo>
                    <a:pt x="293" y="50"/>
                  </a:lnTo>
                  <a:lnTo>
                    <a:pt x="295" y="50"/>
                  </a:lnTo>
                  <a:lnTo>
                    <a:pt x="301" y="50"/>
                  </a:lnTo>
                  <a:lnTo>
                    <a:pt x="303" y="50"/>
                  </a:lnTo>
                  <a:lnTo>
                    <a:pt x="309" y="47"/>
                  </a:lnTo>
                  <a:lnTo>
                    <a:pt x="311" y="47"/>
                  </a:lnTo>
                  <a:lnTo>
                    <a:pt x="319" y="47"/>
                  </a:lnTo>
                  <a:lnTo>
                    <a:pt x="325" y="47"/>
                  </a:lnTo>
                  <a:lnTo>
                    <a:pt x="330" y="45"/>
                  </a:lnTo>
                  <a:lnTo>
                    <a:pt x="338" y="45"/>
                  </a:lnTo>
                  <a:lnTo>
                    <a:pt x="343" y="45"/>
                  </a:lnTo>
                  <a:lnTo>
                    <a:pt x="349" y="42"/>
                  </a:lnTo>
                  <a:lnTo>
                    <a:pt x="357" y="42"/>
                  </a:lnTo>
                  <a:lnTo>
                    <a:pt x="362" y="39"/>
                  </a:lnTo>
                  <a:lnTo>
                    <a:pt x="370" y="39"/>
                  </a:lnTo>
                  <a:lnTo>
                    <a:pt x="375" y="39"/>
                  </a:lnTo>
                  <a:lnTo>
                    <a:pt x="381" y="37"/>
                  </a:lnTo>
                  <a:lnTo>
                    <a:pt x="389" y="37"/>
                  </a:lnTo>
                  <a:lnTo>
                    <a:pt x="394" y="34"/>
                  </a:lnTo>
                  <a:lnTo>
                    <a:pt x="399" y="34"/>
                  </a:lnTo>
                  <a:lnTo>
                    <a:pt x="407" y="31"/>
                  </a:lnTo>
                  <a:lnTo>
                    <a:pt x="412" y="31"/>
                  </a:lnTo>
                  <a:lnTo>
                    <a:pt x="415" y="31"/>
                  </a:lnTo>
                  <a:lnTo>
                    <a:pt x="418" y="29"/>
                  </a:lnTo>
                  <a:lnTo>
                    <a:pt x="423" y="29"/>
                  </a:lnTo>
                  <a:lnTo>
                    <a:pt x="428" y="26"/>
                  </a:lnTo>
                  <a:lnTo>
                    <a:pt x="431" y="23"/>
                  </a:lnTo>
                  <a:lnTo>
                    <a:pt x="436" y="23"/>
                  </a:lnTo>
                  <a:lnTo>
                    <a:pt x="442" y="21"/>
                  </a:lnTo>
                  <a:lnTo>
                    <a:pt x="447" y="18"/>
                  </a:lnTo>
                  <a:lnTo>
                    <a:pt x="452" y="16"/>
                  </a:lnTo>
                  <a:lnTo>
                    <a:pt x="458" y="13"/>
                  </a:lnTo>
                  <a:lnTo>
                    <a:pt x="460" y="10"/>
                  </a:lnTo>
                  <a:lnTo>
                    <a:pt x="466" y="8"/>
                  </a:lnTo>
                  <a:lnTo>
                    <a:pt x="468" y="8"/>
                  </a:lnTo>
                  <a:lnTo>
                    <a:pt x="471" y="5"/>
                  </a:lnTo>
                  <a:lnTo>
                    <a:pt x="474" y="2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6456" y="4182"/>
              <a:ext cx="16" cy="10"/>
            </a:xfrm>
            <a:custGeom>
              <a:rect b="b" l="l" r="r" t="t"/>
              <a:pathLst>
                <a:path extrusionOk="0" h="10" w="16">
                  <a:moveTo>
                    <a:pt x="16" y="8"/>
                  </a:moveTo>
                  <a:lnTo>
                    <a:pt x="16" y="1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3" y="5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6754" y="2848"/>
              <a:ext cx="170" cy="186"/>
            </a:xfrm>
            <a:custGeom>
              <a:rect b="b" l="l" r="r" t="t"/>
              <a:pathLst>
                <a:path extrusionOk="0" h="186" w="170">
                  <a:moveTo>
                    <a:pt x="133" y="0"/>
                  </a:moveTo>
                  <a:lnTo>
                    <a:pt x="138" y="0"/>
                  </a:lnTo>
                  <a:lnTo>
                    <a:pt x="146" y="13"/>
                  </a:lnTo>
                  <a:lnTo>
                    <a:pt x="154" y="29"/>
                  </a:lnTo>
                  <a:lnTo>
                    <a:pt x="159" y="45"/>
                  </a:lnTo>
                  <a:lnTo>
                    <a:pt x="165" y="61"/>
                  </a:lnTo>
                  <a:lnTo>
                    <a:pt x="167" y="77"/>
                  </a:lnTo>
                  <a:lnTo>
                    <a:pt x="170" y="96"/>
                  </a:lnTo>
                  <a:lnTo>
                    <a:pt x="170" y="112"/>
                  </a:lnTo>
                  <a:lnTo>
                    <a:pt x="170" y="127"/>
                  </a:lnTo>
                  <a:lnTo>
                    <a:pt x="165" y="130"/>
                  </a:lnTo>
                  <a:lnTo>
                    <a:pt x="159" y="130"/>
                  </a:lnTo>
                  <a:lnTo>
                    <a:pt x="151" y="133"/>
                  </a:lnTo>
                  <a:lnTo>
                    <a:pt x="146" y="133"/>
                  </a:lnTo>
                  <a:lnTo>
                    <a:pt x="141" y="133"/>
                  </a:lnTo>
                  <a:lnTo>
                    <a:pt x="133" y="135"/>
                  </a:lnTo>
                  <a:lnTo>
                    <a:pt x="127" y="135"/>
                  </a:lnTo>
                  <a:lnTo>
                    <a:pt x="122" y="135"/>
                  </a:lnTo>
                  <a:lnTo>
                    <a:pt x="114" y="135"/>
                  </a:lnTo>
                  <a:lnTo>
                    <a:pt x="109" y="135"/>
                  </a:lnTo>
                  <a:lnTo>
                    <a:pt x="103" y="135"/>
                  </a:lnTo>
                  <a:lnTo>
                    <a:pt x="98" y="135"/>
                  </a:lnTo>
                  <a:lnTo>
                    <a:pt x="93" y="135"/>
                  </a:lnTo>
                  <a:lnTo>
                    <a:pt x="88" y="135"/>
                  </a:lnTo>
                  <a:lnTo>
                    <a:pt x="82" y="135"/>
                  </a:lnTo>
                  <a:lnTo>
                    <a:pt x="77" y="135"/>
                  </a:lnTo>
                  <a:lnTo>
                    <a:pt x="72" y="135"/>
                  </a:lnTo>
                  <a:lnTo>
                    <a:pt x="69" y="133"/>
                  </a:lnTo>
                  <a:lnTo>
                    <a:pt x="64" y="133"/>
                  </a:lnTo>
                  <a:lnTo>
                    <a:pt x="58" y="133"/>
                  </a:lnTo>
                  <a:lnTo>
                    <a:pt x="53" y="130"/>
                  </a:lnTo>
                  <a:lnTo>
                    <a:pt x="50" y="130"/>
                  </a:lnTo>
                  <a:lnTo>
                    <a:pt x="45" y="130"/>
                  </a:lnTo>
                  <a:lnTo>
                    <a:pt x="40" y="130"/>
                  </a:lnTo>
                  <a:lnTo>
                    <a:pt x="37" y="135"/>
                  </a:lnTo>
                  <a:lnTo>
                    <a:pt x="34" y="141"/>
                  </a:lnTo>
                  <a:lnTo>
                    <a:pt x="34" y="146"/>
                  </a:lnTo>
                  <a:lnTo>
                    <a:pt x="34" y="154"/>
                  </a:lnTo>
                  <a:lnTo>
                    <a:pt x="34" y="162"/>
                  </a:lnTo>
                  <a:lnTo>
                    <a:pt x="34" y="170"/>
                  </a:lnTo>
                  <a:lnTo>
                    <a:pt x="34" y="178"/>
                  </a:lnTo>
                  <a:lnTo>
                    <a:pt x="34" y="183"/>
                  </a:lnTo>
                  <a:lnTo>
                    <a:pt x="24" y="186"/>
                  </a:lnTo>
                  <a:lnTo>
                    <a:pt x="21" y="181"/>
                  </a:lnTo>
                  <a:lnTo>
                    <a:pt x="18" y="175"/>
                  </a:lnTo>
                  <a:lnTo>
                    <a:pt x="16" y="173"/>
                  </a:lnTo>
                  <a:lnTo>
                    <a:pt x="13" y="170"/>
                  </a:lnTo>
                  <a:lnTo>
                    <a:pt x="10" y="167"/>
                  </a:lnTo>
                  <a:lnTo>
                    <a:pt x="8" y="165"/>
                  </a:lnTo>
                  <a:lnTo>
                    <a:pt x="2" y="165"/>
                  </a:lnTo>
                  <a:lnTo>
                    <a:pt x="0" y="162"/>
                  </a:lnTo>
                  <a:lnTo>
                    <a:pt x="0" y="143"/>
                  </a:lnTo>
                  <a:lnTo>
                    <a:pt x="2" y="125"/>
                  </a:lnTo>
                  <a:lnTo>
                    <a:pt x="2" y="104"/>
                  </a:lnTo>
                  <a:lnTo>
                    <a:pt x="5" y="85"/>
                  </a:lnTo>
                  <a:lnTo>
                    <a:pt x="5" y="80"/>
                  </a:lnTo>
                  <a:lnTo>
                    <a:pt x="5" y="74"/>
                  </a:lnTo>
                  <a:lnTo>
                    <a:pt x="8" y="69"/>
                  </a:lnTo>
                  <a:lnTo>
                    <a:pt x="10" y="64"/>
                  </a:lnTo>
                  <a:lnTo>
                    <a:pt x="10" y="64"/>
                  </a:lnTo>
                  <a:lnTo>
                    <a:pt x="13" y="61"/>
                  </a:lnTo>
                  <a:lnTo>
                    <a:pt x="16" y="61"/>
                  </a:lnTo>
                  <a:lnTo>
                    <a:pt x="18" y="58"/>
                  </a:lnTo>
                  <a:lnTo>
                    <a:pt x="18" y="56"/>
                  </a:lnTo>
                  <a:lnTo>
                    <a:pt x="21" y="56"/>
                  </a:lnTo>
                  <a:lnTo>
                    <a:pt x="24" y="53"/>
                  </a:lnTo>
                  <a:lnTo>
                    <a:pt x="26" y="50"/>
                  </a:lnTo>
                  <a:lnTo>
                    <a:pt x="29" y="50"/>
                  </a:lnTo>
                  <a:lnTo>
                    <a:pt x="32" y="50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7" y="45"/>
                  </a:lnTo>
                  <a:lnTo>
                    <a:pt x="40" y="42"/>
                  </a:lnTo>
                  <a:lnTo>
                    <a:pt x="45" y="42"/>
                  </a:lnTo>
                  <a:lnTo>
                    <a:pt x="48" y="40"/>
                  </a:lnTo>
                  <a:lnTo>
                    <a:pt x="50" y="37"/>
                  </a:lnTo>
                  <a:lnTo>
                    <a:pt x="56" y="37"/>
                  </a:lnTo>
                  <a:lnTo>
                    <a:pt x="58" y="34"/>
                  </a:lnTo>
                  <a:lnTo>
                    <a:pt x="61" y="32"/>
                  </a:lnTo>
                  <a:lnTo>
                    <a:pt x="66" y="29"/>
                  </a:lnTo>
                  <a:lnTo>
                    <a:pt x="72" y="27"/>
                  </a:lnTo>
                  <a:lnTo>
                    <a:pt x="77" y="27"/>
                  </a:lnTo>
                  <a:lnTo>
                    <a:pt x="80" y="24"/>
                  </a:lnTo>
                  <a:lnTo>
                    <a:pt x="85" y="21"/>
                  </a:lnTo>
                  <a:lnTo>
                    <a:pt x="90" y="19"/>
                  </a:lnTo>
                  <a:lnTo>
                    <a:pt x="93" y="19"/>
                  </a:lnTo>
                  <a:lnTo>
                    <a:pt x="98" y="16"/>
                  </a:lnTo>
                  <a:lnTo>
                    <a:pt x="103" y="13"/>
                  </a:lnTo>
                  <a:lnTo>
                    <a:pt x="106" y="11"/>
                  </a:lnTo>
                  <a:lnTo>
                    <a:pt x="111" y="8"/>
                  </a:lnTo>
                  <a:lnTo>
                    <a:pt x="114" y="8"/>
                  </a:lnTo>
                  <a:lnTo>
                    <a:pt x="119" y="5"/>
                  </a:lnTo>
                  <a:lnTo>
                    <a:pt x="125" y="3"/>
                  </a:lnTo>
                  <a:lnTo>
                    <a:pt x="130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A6C8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6605" y="2978"/>
              <a:ext cx="162" cy="178"/>
            </a:xfrm>
            <a:custGeom>
              <a:rect b="b" l="l" r="r" t="t"/>
              <a:pathLst>
                <a:path extrusionOk="0" h="178" w="162">
                  <a:moveTo>
                    <a:pt x="32" y="0"/>
                  </a:moveTo>
                  <a:lnTo>
                    <a:pt x="40" y="0"/>
                  </a:lnTo>
                  <a:lnTo>
                    <a:pt x="45" y="3"/>
                  </a:lnTo>
                  <a:lnTo>
                    <a:pt x="48" y="3"/>
                  </a:lnTo>
                  <a:lnTo>
                    <a:pt x="53" y="5"/>
                  </a:lnTo>
                  <a:lnTo>
                    <a:pt x="58" y="8"/>
                  </a:lnTo>
                  <a:lnTo>
                    <a:pt x="64" y="8"/>
                  </a:lnTo>
                  <a:lnTo>
                    <a:pt x="69" y="11"/>
                  </a:lnTo>
                  <a:lnTo>
                    <a:pt x="74" y="13"/>
                  </a:lnTo>
                  <a:lnTo>
                    <a:pt x="80" y="16"/>
                  </a:lnTo>
                  <a:lnTo>
                    <a:pt x="88" y="19"/>
                  </a:lnTo>
                  <a:lnTo>
                    <a:pt x="93" y="21"/>
                  </a:lnTo>
                  <a:lnTo>
                    <a:pt x="98" y="24"/>
                  </a:lnTo>
                  <a:lnTo>
                    <a:pt x="103" y="27"/>
                  </a:lnTo>
                  <a:lnTo>
                    <a:pt x="111" y="29"/>
                  </a:lnTo>
                  <a:lnTo>
                    <a:pt x="117" y="29"/>
                  </a:lnTo>
                  <a:lnTo>
                    <a:pt x="122" y="32"/>
                  </a:lnTo>
                  <a:lnTo>
                    <a:pt x="127" y="35"/>
                  </a:lnTo>
                  <a:lnTo>
                    <a:pt x="133" y="37"/>
                  </a:lnTo>
                  <a:lnTo>
                    <a:pt x="138" y="40"/>
                  </a:lnTo>
                  <a:lnTo>
                    <a:pt x="143" y="43"/>
                  </a:lnTo>
                  <a:lnTo>
                    <a:pt x="149" y="45"/>
                  </a:lnTo>
                  <a:lnTo>
                    <a:pt x="151" y="48"/>
                  </a:lnTo>
                  <a:lnTo>
                    <a:pt x="157" y="51"/>
                  </a:lnTo>
                  <a:lnTo>
                    <a:pt x="159" y="53"/>
                  </a:lnTo>
                  <a:lnTo>
                    <a:pt x="162" y="69"/>
                  </a:lnTo>
                  <a:lnTo>
                    <a:pt x="162" y="83"/>
                  </a:lnTo>
                  <a:lnTo>
                    <a:pt x="162" y="98"/>
                  </a:lnTo>
                  <a:lnTo>
                    <a:pt x="159" y="114"/>
                  </a:lnTo>
                  <a:lnTo>
                    <a:pt x="157" y="130"/>
                  </a:lnTo>
                  <a:lnTo>
                    <a:pt x="154" y="149"/>
                  </a:lnTo>
                  <a:lnTo>
                    <a:pt x="151" y="165"/>
                  </a:lnTo>
                  <a:lnTo>
                    <a:pt x="151" y="178"/>
                  </a:lnTo>
                  <a:lnTo>
                    <a:pt x="125" y="178"/>
                  </a:lnTo>
                  <a:lnTo>
                    <a:pt x="125" y="176"/>
                  </a:lnTo>
                  <a:lnTo>
                    <a:pt x="125" y="173"/>
                  </a:lnTo>
                  <a:lnTo>
                    <a:pt x="122" y="168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7" y="154"/>
                  </a:lnTo>
                  <a:lnTo>
                    <a:pt x="114" y="149"/>
                  </a:lnTo>
                  <a:lnTo>
                    <a:pt x="114" y="146"/>
                  </a:lnTo>
                  <a:lnTo>
                    <a:pt x="111" y="144"/>
                  </a:lnTo>
                  <a:lnTo>
                    <a:pt x="106" y="141"/>
                  </a:lnTo>
                  <a:lnTo>
                    <a:pt x="101" y="138"/>
                  </a:lnTo>
                  <a:lnTo>
                    <a:pt x="93" y="138"/>
                  </a:lnTo>
                  <a:lnTo>
                    <a:pt x="88" y="136"/>
                  </a:lnTo>
                  <a:lnTo>
                    <a:pt x="80" y="133"/>
                  </a:lnTo>
                  <a:lnTo>
                    <a:pt x="74" y="130"/>
                  </a:lnTo>
                  <a:lnTo>
                    <a:pt x="69" y="130"/>
                  </a:lnTo>
                  <a:lnTo>
                    <a:pt x="66" y="130"/>
                  </a:lnTo>
                  <a:lnTo>
                    <a:pt x="61" y="128"/>
                  </a:lnTo>
                  <a:lnTo>
                    <a:pt x="58" y="128"/>
                  </a:lnTo>
                  <a:lnTo>
                    <a:pt x="53" y="128"/>
                  </a:lnTo>
                  <a:lnTo>
                    <a:pt x="50" y="128"/>
                  </a:lnTo>
                  <a:lnTo>
                    <a:pt x="45" y="125"/>
                  </a:lnTo>
                  <a:lnTo>
                    <a:pt x="42" y="125"/>
                  </a:lnTo>
                  <a:lnTo>
                    <a:pt x="37" y="125"/>
                  </a:lnTo>
                  <a:lnTo>
                    <a:pt x="34" y="122"/>
                  </a:lnTo>
                  <a:lnTo>
                    <a:pt x="29" y="122"/>
                  </a:lnTo>
                  <a:lnTo>
                    <a:pt x="26" y="120"/>
                  </a:lnTo>
                  <a:lnTo>
                    <a:pt x="21" y="120"/>
                  </a:lnTo>
                  <a:lnTo>
                    <a:pt x="18" y="120"/>
                  </a:lnTo>
                  <a:lnTo>
                    <a:pt x="16" y="117"/>
                  </a:lnTo>
                  <a:lnTo>
                    <a:pt x="10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5" y="112"/>
                  </a:lnTo>
                  <a:lnTo>
                    <a:pt x="5" y="109"/>
                  </a:lnTo>
                  <a:lnTo>
                    <a:pt x="2" y="109"/>
                  </a:lnTo>
                  <a:lnTo>
                    <a:pt x="2" y="98"/>
                  </a:lnTo>
                  <a:lnTo>
                    <a:pt x="0" y="85"/>
                  </a:lnTo>
                  <a:lnTo>
                    <a:pt x="0" y="75"/>
                  </a:lnTo>
                  <a:lnTo>
                    <a:pt x="2" y="61"/>
                  </a:lnTo>
                  <a:lnTo>
                    <a:pt x="5" y="51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3" y="16"/>
                  </a:lnTo>
                  <a:lnTo>
                    <a:pt x="16" y="13"/>
                  </a:lnTo>
                  <a:lnTo>
                    <a:pt x="16" y="11"/>
                  </a:lnTo>
                  <a:lnTo>
                    <a:pt x="18" y="8"/>
                  </a:lnTo>
                  <a:lnTo>
                    <a:pt x="21" y="5"/>
                  </a:lnTo>
                  <a:lnTo>
                    <a:pt x="24" y="5"/>
                  </a:lnTo>
                  <a:lnTo>
                    <a:pt x="26" y="3"/>
                  </a:lnTo>
                  <a:lnTo>
                    <a:pt x="29" y="3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A6C8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6799" y="3015"/>
              <a:ext cx="202" cy="184"/>
            </a:xfrm>
            <a:custGeom>
              <a:rect b="b" l="l" r="r" t="t"/>
              <a:pathLst>
                <a:path extrusionOk="0" h="184" w="202">
                  <a:moveTo>
                    <a:pt x="130" y="0"/>
                  </a:moveTo>
                  <a:lnTo>
                    <a:pt x="136" y="0"/>
                  </a:lnTo>
                  <a:lnTo>
                    <a:pt x="141" y="3"/>
                  </a:lnTo>
                  <a:lnTo>
                    <a:pt x="146" y="3"/>
                  </a:lnTo>
                  <a:lnTo>
                    <a:pt x="152" y="3"/>
                  </a:lnTo>
                  <a:lnTo>
                    <a:pt x="157" y="6"/>
                  </a:lnTo>
                  <a:lnTo>
                    <a:pt x="165" y="6"/>
                  </a:lnTo>
                  <a:lnTo>
                    <a:pt x="170" y="6"/>
                  </a:lnTo>
                  <a:lnTo>
                    <a:pt x="176" y="8"/>
                  </a:lnTo>
                  <a:lnTo>
                    <a:pt x="178" y="8"/>
                  </a:lnTo>
                  <a:lnTo>
                    <a:pt x="181" y="11"/>
                  </a:lnTo>
                  <a:lnTo>
                    <a:pt x="184" y="14"/>
                  </a:lnTo>
                  <a:lnTo>
                    <a:pt x="186" y="16"/>
                  </a:lnTo>
                  <a:lnTo>
                    <a:pt x="192" y="16"/>
                  </a:lnTo>
                  <a:lnTo>
                    <a:pt x="194" y="19"/>
                  </a:lnTo>
                  <a:lnTo>
                    <a:pt x="194" y="22"/>
                  </a:lnTo>
                  <a:lnTo>
                    <a:pt x="197" y="27"/>
                  </a:lnTo>
                  <a:lnTo>
                    <a:pt x="200" y="38"/>
                  </a:lnTo>
                  <a:lnTo>
                    <a:pt x="202" y="48"/>
                  </a:lnTo>
                  <a:lnTo>
                    <a:pt x="202" y="61"/>
                  </a:lnTo>
                  <a:lnTo>
                    <a:pt x="202" y="72"/>
                  </a:lnTo>
                  <a:lnTo>
                    <a:pt x="202" y="83"/>
                  </a:lnTo>
                  <a:lnTo>
                    <a:pt x="200" y="93"/>
                  </a:lnTo>
                  <a:lnTo>
                    <a:pt x="197" y="107"/>
                  </a:lnTo>
                  <a:lnTo>
                    <a:pt x="194" y="117"/>
                  </a:lnTo>
                  <a:lnTo>
                    <a:pt x="194" y="123"/>
                  </a:lnTo>
                  <a:lnTo>
                    <a:pt x="192" y="131"/>
                  </a:lnTo>
                  <a:lnTo>
                    <a:pt x="189" y="136"/>
                  </a:lnTo>
                  <a:lnTo>
                    <a:pt x="186" y="141"/>
                  </a:lnTo>
                  <a:lnTo>
                    <a:pt x="184" y="144"/>
                  </a:lnTo>
                  <a:lnTo>
                    <a:pt x="181" y="149"/>
                  </a:lnTo>
                  <a:lnTo>
                    <a:pt x="178" y="154"/>
                  </a:lnTo>
                  <a:lnTo>
                    <a:pt x="176" y="157"/>
                  </a:lnTo>
                  <a:lnTo>
                    <a:pt x="170" y="160"/>
                  </a:lnTo>
                  <a:lnTo>
                    <a:pt x="168" y="162"/>
                  </a:lnTo>
                  <a:lnTo>
                    <a:pt x="162" y="165"/>
                  </a:lnTo>
                  <a:lnTo>
                    <a:pt x="157" y="168"/>
                  </a:lnTo>
                  <a:lnTo>
                    <a:pt x="152" y="170"/>
                  </a:lnTo>
                  <a:lnTo>
                    <a:pt x="146" y="173"/>
                  </a:lnTo>
                  <a:lnTo>
                    <a:pt x="141" y="173"/>
                  </a:lnTo>
                  <a:lnTo>
                    <a:pt x="133" y="176"/>
                  </a:lnTo>
                  <a:lnTo>
                    <a:pt x="130" y="176"/>
                  </a:lnTo>
                  <a:lnTo>
                    <a:pt x="125" y="176"/>
                  </a:lnTo>
                  <a:lnTo>
                    <a:pt x="120" y="176"/>
                  </a:lnTo>
                  <a:lnTo>
                    <a:pt x="114" y="178"/>
                  </a:lnTo>
                  <a:lnTo>
                    <a:pt x="109" y="178"/>
                  </a:lnTo>
                  <a:lnTo>
                    <a:pt x="104" y="178"/>
                  </a:lnTo>
                  <a:lnTo>
                    <a:pt x="98" y="178"/>
                  </a:lnTo>
                  <a:lnTo>
                    <a:pt x="96" y="178"/>
                  </a:lnTo>
                  <a:lnTo>
                    <a:pt x="90" y="178"/>
                  </a:lnTo>
                  <a:lnTo>
                    <a:pt x="85" y="178"/>
                  </a:lnTo>
                  <a:lnTo>
                    <a:pt x="80" y="178"/>
                  </a:lnTo>
                  <a:lnTo>
                    <a:pt x="74" y="178"/>
                  </a:lnTo>
                  <a:lnTo>
                    <a:pt x="72" y="178"/>
                  </a:lnTo>
                  <a:lnTo>
                    <a:pt x="66" y="178"/>
                  </a:lnTo>
                  <a:lnTo>
                    <a:pt x="61" y="178"/>
                  </a:lnTo>
                  <a:lnTo>
                    <a:pt x="56" y="178"/>
                  </a:lnTo>
                  <a:lnTo>
                    <a:pt x="51" y="184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5" y="176"/>
                  </a:lnTo>
                  <a:lnTo>
                    <a:pt x="3" y="173"/>
                  </a:lnTo>
                  <a:lnTo>
                    <a:pt x="3" y="170"/>
                  </a:lnTo>
                  <a:lnTo>
                    <a:pt x="3" y="165"/>
                  </a:lnTo>
                  <a:lnTo>
                    <a:pt x="0" y="157"/>
                  </a:lnTo>
                  <a:lnTo>
                    <a:pt x="0" y="149"/>
                  </a:lnTo>
                  <a:lnTo>
                    <a:pt x="0" y="144"/>
                  </a:lnTo>
                  <a:lnTo>
                    <a:pt x="0" y="131"/>
                  </a:lnTo>
                  <a:lnTo>
                    <a:pt x="0" y="115"/>
                  </a:lnTo>
                  <a:lnTo>
                    <a:pt x="3" y="101"/>
                  </a:lnTo>
                  <a:lnTo>
                    <a:pt x="5" y="88"/>
                  </a:lnTo>
                  <a:lnTo>
                    <a:pt x="11" y="80"/>
                  </a:lnTo>
                  <a:lnTo>
                    <a:pt x="16" y="75"/>
                  </a:lnTo>
                  <a:lnTo>
                    <a:pt x="21" y="67"/>
                  </a:lnTo>
                  <a:lnTo>
                    <a:pt x="27" y="61"/>
                  </a:lnTo>
                  <a:lnTo>
                    <a:pt x="32" y="56"/>
                  </a:lnTo>
                  <a:lnTo>
                    <a:pt x="40" y="48"/>
                  </a:lnTo>
                  <a:lnTo>
                    <a:pt x="45" y="46"/>
                  </a:lnTo>
                  <a:lnTo>
                    <a:pt x="53" y="40"/>
                  </a:lnTo>
                  <a:lnTo>
                    <a:pt x="58" y="35"/>
                  </a:lnTo>
                  <a:lnTo>
                    <a:pt x="66" y="30"/>
                  </a:lnTo>
                  <a:lnTo>
                    <a:pt x="74" y="27"/>
                  </a:lnTo>
                  <a:lnTo>
                    <a:pt x="82" y="22"/>
                  </a:lnTo>
                  <a:lnTo>
                    <a:pt x="88" y="16"/>
                  </a:lnTo>
                  <a:lnTo>
                    <a:pt x="96" y="14"/>
                  </a:lnTo>
                  <a:lnTo>
                    <a:pt x="104" y="8"/>
                  </a:lnTo>
                  <a:lnTo>
                    <a:pt x="109" y="6"/>
                  </a:lnTo>
                  <a:lnTo>
                    <a:pt x="114" y="3"/>
                  </a:lnTo>
                  <a:lnTo>
                    <a:pt x="114" y="3"/>
                  </a:lnTo>
                  <a:lnTo>
                    <a:pt x="117" y="3"/>
                  </a:lnTo>
                  <a:lnTo>
                    <a:pt x="120" y="3"/>
                  </a:lnTo>
                  <a:lnTo>
                    <a:pt x="122" y="3"/>
                  </a:lnTo>
                  <a:lnTo>
                    <a:pt x="125" y="3"/>
                  </a:lnTo>
                  <a:lnTo>
                    <a:pt x="128" y="3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6161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6418" y="2997"/>
              <a:ext cx="221" cy="199"/>
            </a:xfrm>
            <a:custGeom>
              <a:rect b="b" l="l" r="r" t="t"/>
              <a:pathLst>
                <a:path extrusionOk="0" h="199" w="221">
                  <a:moveTo>
                    <a:pt x="139" y="2"/>
                  </a:moveTo>
                  <a:lnTo>
                    <a:pt x="141" y="2"/>
                  </a:lnTo>
                  <a:lnTo>
                    <a:pt x="147" y="5"/>
                  </a:lnTo>
                  <a:lnTo>
                    <a:pt x="152" y="5"/>
                  </a:lnTo>
                  <a:lnTo>
                    <a:pt x="157" y="8"/>
                  </a:lnTo>
                  <a:lnTo>
                    <a:pt x="165" y="10"/>
                  </a:lnTo>
                  <a:lnTo>
                    <a:pt x="171" y="13"/>
                  </a:lnTo>
                  <a:lnTo>
                    <a:pt x="176" y="16"/>
                  </a:lnTo>
                  <a:lnTo>
                    <a:pt x="179" y="18"/>
                  </a:lnTo>
                  <a:lnTo>
                    <a:pt x="176" y="48"/>
                  </a:lnTo>
                  <a:lnTo>
                    <a:pt x="99" y="29"/>
                  </a:lnTo>
                  <a:lnTo>
                    <a:pt x="102" y="24"/>
                  </a:lnTo>
                  <a:lnTo>
                    <a:pt x="173" y="37"/>
                  </a:lnTo>
                  <a:lnTo>
                    <a:pt x="173" y="34"/>
                  </a:lnTo>
                  <a:lnTo>
                    <a:pt x="173" y="32"/>
                  </a:lnTo>
                  <a:lnTo>
                    <a:pt x="173" y="29"/>
                  </a:lnTo>
                  <a:lnTo>
                    <a:pt x="173" y="26"/>
                  </a:lnTo>
                  <a:lnTo>
                    <a:pt x="168" y="26"/>
                  </a:lnTo>
                  <a:lnTo>
                    <a:pt x="163" y="24"/>
                  </a:lnTo>
                  <a:lnTo>
                    <a:pt x="157" y="24"/>
                  </a:lnTo>
                  <a:lnTo>
                    <a:pt x="155" y="24"/>
                  </a:lnTo>
                  <a:lnTo>
                    <a:pt x="149" y="21"/>
                  </a:lnTo>
                  <a:lnTo>
                    <a:pt x="144" y="21"/>
                  </a:lnTo>
                  <a:lnTo>
                    <a:pt x="139" y="21"/>
                  </a:lnTo>
                  <a:lnTo>
                    <a:pt x="136" y="18"/>
                  </a:lnTo>
                  <a:lnTo>
                    <a:pt x="131" y="18"/>
                  </a:lnTo>
                  <a:lnTo>
                    <a:pt x="126" y="18"/>
                  </a:lnTo>
                  <a:lnTo>
                    <a:pt x="120" y="18"/>
                  </a:lnTo>
                  <a:lnTo>
                    <a:pt x="118" y="16"/>
                  </a:lnTo>
                  <a:lnTo>
                    <a:pt x="112" y="16"/>
                  </a:lnTo>
                  <a:lnTo>
                    <a:pt x="107" y="16"/>
                  </a:lnTo>
                  <a:lnTo>
                    <a:pt x="102" y="16"/>
                  </a:lnTo>
                  <a:lnTo>
                    <a:pt x="96" y="16"/>
                  </a:lnTo>
                  <a:lnTo>
                    <a:pt x="96" y="16"/>
                  </a:lnTo>
                  <a:lnTo>
                    <a:pt x="94" y="18"/>
                  </a:lnTo>
                  <a:lnTo>
                    <a:pt x="94" y="18"/>
                  </a:lnTo>
                  <a:lnTo>
                    <a:pt x="91" y="21"/>
                  </a:lnTo>
                  <a:lnTo>
                    <a:pt x="88" y="26"/>
                  </a:lnTo>
                  <a:lnTo>
                    <a:pt x="86" y="34"/>
                  </a:lnTo>
                  <a:lnTo>
                    <a:pt x="83" y="42"/>
                  </a:lnTo>
                  <a:lnTo>
                    <a:pt x="80" y="50"/>
                  </a:lnTo>
                  <a:lnTo>
                    <a:pt x="78" y="58"/>
                  </a:lnTo>
                  <a:lnTo>
                    <a:pt x="75" y="69"/>
                  </a:lnTo>
                  <a:lnTo>
                    <a:pt x="75" y="79"/>
                  </a:lnTo>
                  <a:lnTo>
                    <a:pt x="75" y="90"/>
                  </a:lnTo>
                  <a:lnTo>
                    <a:pt x="75" y="98"/>
                  </a:lnTo>
                  <a:lnTo>
                    <a:pt x="78" y="106"/>
                  </a:lnTo>
                  <a:lnTo>
                    <a:pt x="80" y="111"/>
                  </a:lnTo>
                  <a:lnTo>
                    <a:pt x="83" y="119"/>
                  </a:lnTo>
                  <a:lnTo>
                    <a:pt x="83" y="127"/>
                  </a:lnTo>
                  <a:lnTo>
                    <a:pt x="88" y="133"/>
                  </a:lnTo>
                  <a:lnTo>
                    <a:pt x="94" y="138"/>
                  </a:lnTo>
                  <a:lnTo>
                    <a:pt x="99" y="141"/>
                  </a:lnTo>
                  <a:lnTo>
                    <a:pt x="104" y="143"/>
                  </a:lnTo>
                  <a:lnTo>
                    <a:pt x="110" y="143"/>
                  </a:lnTo>
                  <a:lnTo>
                    <a:pt x="118" y="143"/>
                  </a:lnTo>
                  <a:lnTo>
                    <a:pt x="123" y="143"/>
                  </a:lnTo>
                  <a:lnTo>
                    <a:pt x="128" y="143"/>
                  </a:lnTo>
                  <a:lnTo>
                    <a:pt x="136" y="143"/>
                  </a:lnTo>
                  <a:lnTo>
                    <a:pt x="141" y="143"/>
                  </a:lnTo>
                  <a:lnTo>
                    <a:pt x="149" y="141"/>
                  </a:lnTo>
                  <a:lnTo>
                    <a:pt x="155" y="141"/>
                  </a:lnTo>
                  <a:lnTo>
                    <a:pt x="160" y="141"/>
                  </a:lnTo>
                  <a:lnTo>
                    <a:pt x="168" y="141"/>
                  </a:lnTo>
                  <a:lnTo>
                    <a:pt x="173" y="138"/>
                  </a:lnTo>
                  <a:lnTo>
                    <a:pt x="181" y="138"/>
                  </a:lnTo>
                  <a:lnTo>
                    <a:pt x="187" y="138"/>
                  </a:lnTo>
                  <a:lnTo>
                    <a:pt x="192" y="138"/>
                  </a:lnTo>
                  <a:lnTo>
                    <a:pt x="200" y="135"/>
                  </a:lnTo>
                  <a:lnTo>
                    <a:pt x="203" y="135"/>
                  </a:lnTo>
                  <a:lnTo>
                    <a:pt x="203" y="135"/>
                  </a:lnTo>
                  <a:lnTo>
                    <a:pt x="205" y="135"/>
                  </a:lnTo>
                  <a:lnTo>
                    <a:pt x="205" y="135"/>
                  </a:lnTo>
                  <a:lnTo>
                    <a:pt x="208" y="135"/>
                  </a:lnTo>
                  <a:lnTo>
                    <a:pt x="208" y="135"/>
                  </a:lnTo>
                  <a:lnTo>
                    <a:pt x="208" y="133"/>
                  </a:lnTo>
                  <a:lnTo>
                    <a:pt x="211" y="133"/>
                  </a:lnTo>
                  <a:lnTo>
                    <a:pt x="211" y="130"/>
                  </a:lnTo>
                  <a:lnTo>
                    <a:pt x="208" y="127"/>
                  </a:lnTo>
                  <a:lnTo>
                    <a:pt x="208" y="127"/>
                  </a:lnTo>
                  <a:lnTo>
                    <a:pt x="205" y="127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7" y="125"/>
                  </a:lnTo>
                  <a:lnTo>
                    <a:pt x="197" y="125"/>
                  </a:lnTo>
                  <a:lnTo>
                    <a:pt x="197" y="122"/>
                  </a:lnTo>
                  <a:lnTo>
                    <a:pt x="197" y="122"/>
                  </a:lnTo>
                  <a:lnTo>
                    <a:pt x="197" y="119"/>
                  </a:lnTo>
                  <a:lnTo>
                    <a:pt x="195" y="119"/>
                  </a:lnTo>
                  <a:lnTo>
                    <a:pt x="192" y="119"/>
                  </a:lnTo>
                  <a:lnTo>
                    <a:pt x="187" y="119"/>
                  </a:lnTo>
                  <a:lnTo>
                    <a:pt x="181" y="119"/>
                  </a:lnTo>
                  <a:lnTo>
                    <a:pt x="176" y="119"/>
                  </a:lnTo>
                  <a:lnTo>
                    <a:pt x="171" y="119"/>
                  </a:lnTo>
                  <a:lnTo>
                    <a:pt x="165" y="119"/>
                  </a:lnTo>
                  <a:lnTo>
                    <a:pt x="160" y="119"/>
                  </a:lnTo>
                  <a:lnTo>
                    <a:pt x="157" y="119"/>
                  </a:lnTo>
                  <a:lnTo>
                    <a:pt x="152" y="122"/>
                  </a:lnTo>
                  <a:lnTo>
                    <a:pt x="147" y="122"/>
                  </a:lnTo>
                  <a:lnTo>
                    <a:pt x="141" y="122"/>
                  </a:lnTo>
                  <a:lnTo>
                    <a:pt x="139" y="122"/>
                  </a:lnTo>
                  <a:lnTo>
                    <a:pt x="134" y="122"/>
                  </a:lnTo>
                  <a:lnTo>
                    <a:pt x="128" y="122"/>
                  </a:lnTo>
                  <a:lnTo>
                    <a:pt x="123" y="122"/>
                  </a:lnTo>
                  <a:lnTo>
                    <a:pt x="118" y="122"/>
                  </a:lnTo>
                  <a:lnTo>
                    <a:pt x="115" y="125"/>
                  </a:lnTo>
                  <a:lnTo>
                    <a:pt x="112" y="125"/>
                  </a:lnTo>
                  <a:lnTo>
                    <a:pt x="110" y="125"/>
                  </a:lnTo>
                  <a:lnTo>
                    <a:pt x="107" y="122"/>
                  </a:lnTo>
                  <a:lnTo>
                    <a:pt x="107" y="122"/>
                  </a:lnTo>
                  <a:lnTo>
                    <a:pt x="104" y="122"/>
                  </a:lnTo>
                  <a:lnTo>
                    <a:pt x="102" y="122"/>
                  </a:lnTo>
                  <a:lnTo>
                    <a:pt x="99" y="122"/>
                  </a:lnTo>
                  <a:lnTo>
                    <a:pt x="99" y="125"/>
                  </a:lnTo>
                  <a:lnTo>
                    <a:pt x="88" y="109"/>
                  </a:lnTo>
                  <a:lnTo>
                    <a:pt x="160" y="109"/>
                  </a:lnTo>
                  <a:lnTo>
                    <a:pt x="165" y="109"/>
                  </a:lnTo>
                  <a:lnTo>
                    <a:pt x="171" y="109"/>
                  </a:lnTo>
                  <a:lnTo>
                    <a:pt x="176" y="109"/>
                  </a:lnTo>
                  <a:lnTo>
                    <a:pt x="181" y="111"/>
                  </a:lnTo>
                  <a:lnTo>
                    <a:pt x="184" y="111"/>
                  </a:lnTo>
                  <a:lnTo>
                    <a:pt x="189" y="111"/>
                  </a:lnTo>
                  <a:lnTo>
                    <a:pt x="195" y="111"/>
                  </a:lnTo>
                  <a:lnTo>
                    <a:pt x="200" y="111"/>
                  </a:lnTo>
                  <a:lnTo>
                    <a:pt x="203" y="114"/>
                  </a:lnTo>
                  <a:lnTo>
                    <a:pt x="205" y="114"/>
                  </a:lnTo>
                  <a:lnTo>
                    <a:pt x="208" y="114"/>
                  </a:lnTo>
                  <a:lnTo>
                    <a:pt x="211" y="117"/>
                  </a:lnTo>
                  <a:lnTo>
                    <a:pt x="213" y="117"/>
                  </a:lnTo>
                  <a:lnTo>
                    <a:pt x="216" y="117"/>
                  </a:lnTo>
                  <a:lnTo>
                    <a:pt x="219" y="117"/>
                  </a:lnTo>
                  <a:lnTo>
                    <a:pt x="221" y="119"/>
                  </a:lnTo>
                  <a:lnTo>
                    <a:pt x="216" y="196"/>
                  </a:lnTo>
                  <a:lnTo>
                    <a:pt x="195" y="199"/>
                  </a:lnTo>
                  <a:lnTo>
                    <a:pt x="192" y="194"/>
                  </a:lnTo>
                  <a:lnTo>
                    <a:pt x="192" y="188"/>
                  </a:lnTo>
                  <a:lnTo>
                    <a:pt x="189" y="183"/>
                  </a:lnTo>
                  <a:lnTo>
                    <a:pt x="187" y="175"/>
                  </a:lnTo>
                  <a:lnTo>
                    <a:pt x="184" y="170"/>
                  </a:lnTo>
                  <a:lnTo>
                    <a:pt x="181" y="167"/>
                  </a:lnTo>
                  <a:lnTo>
                    <a:pt x="176" y="162"/>
                  </a:lnTo>
                  <a:lnTo>
                    <a:pt x="171" y="159"/>
                  </a:lnTo>
                  <a:lnTo>
                    <a:pt x="168" y="159"/>
                  </a:lnTo>
                  <a:lnTo>
                    <a:pt x="163" y="159"/>
                  </a:lnTo>
                  <a:lnTo>
                    <a:pt x="157" y="159"/>
                  </a:lnTo>
                  <a:lnTo>
                    <a:pt x="155" y="159"/>
                  </a:lnTo>
                  <a:lnTo>
                    <a:pt x="149" y="159"/>
                  </a:lnTo>
                  <a:lnTo>
                    <a:pt x="147" y="159"/>
                  </a:lnTo>
                  <a:lnTo>
                    <a:pt x="141" y="159"/>
                  </a:lnTo>
                  <a:lnTo>
                    <a:pt x="136" y="159"/>
                  </a:lnTo>
                  <a:lnTo>
                    <a:pt x="134" y="162"/>
                  </a:lnTo>
                  <a:lnTo>
                    <a:pt x="128" y="162"/>
                  </a:lnTo>
                  <a:lnTo>
                    <a:pt x="123" y="162"/>
                  </a:lnTo>
                  <a:lnTo>
                    <a:pt x="120" y="162"/>
                  </a:lnTo>
                  <a:lnTo>
                    <a:pt x="115" y="162"/>
                  </a:lnTo>
                  <a:lnTo>
                    <a:pt x="112" y="164"/>
                  </a:lnTo>
                  <a:lnTo>
                    <a:pt x="107" y="164"/>
                  </a:lnTo>
                  <a:lnTo>
                    <a:pt x="104" y="164"/>
                  </a:lnTo>
                  <a:lnTo>
                    <a:pt x="99" y="167"/>
                  </a:lnTo>
                  <a:lnTo>
                    <a:pt x="96" y="167"/>
                  </a:lnTo>
                  <a:lnTo>
                    <a:pt x="91" y="167"/>
                  </a:lnTo>
                  <a:lnTo>
                    <a:pt x="86" y="170"/>
                  </a:lnTo>
                  <a:lnTo>
                    <a:pt x="83" y="170"/>
                  </a:lnTo>
                  <a:lnTo>
                    <a:pt x="78" y="170"/>
                  </a:lnTo>
                  <a:lnTo>
                    <a:pt x="75" y="172"/>
                  </a:lnTo>
                  <a:lnTo>
                    <a:pt x="70" y="172"/>
                  </a:lnTo>
                  <a:lnTo>
                    <a:pt x="64" y="172"/>
                  </a:lnTo>
                  <a:lnTo>
                    <a:pt x="62" y="172"/>
                  </a:lnTo>
                  <a:lnTo>
                    <a:pt x="56" y="172"/>
                  </a:lnTo>
                  <a:lnTo>
                    <a:pt x="54" y="170"/>
                  </a:lnTo>
                  <a:lnTo>
                    <a:pt x="51" y="170"/>
                  </a:lnTo>
                  <a:lnTo>
                    <a:pt x="46" y="170"/>
                  </a:lnTo>
                  <a:lnTo>
                    <a:pt x="43" y="167"/>
                  </a:lnTo>
                  <a:lnTo>
                    <a:pt x="40" y="167"/>
                  </a:lnTo>
                  <a:lnTo>
                    <a:pt x="35" y="164"/>
                  </a:lnTo>
                  <a:lnTo>
                    <a:pt x="32" y="162"/>
                  </a:lnTo>
                  <a:lnTo>
                    <a:pt x="30" y="162"/>
                  </a:lnTo>
                  <a:lnTo>
                    <a:pt x="27" y="159"/>
                  </a:lnTo>
                  <a:lnTo>
                    <a:pt x="24" y="157"/>
                  </a:lnTo>
                  <a:lnTo>
                    <a:pt x="22" y="154"/>
                  </a:lnTo>
                  <a:lnTo>
                    <a:pt x="19" y="151"/>
                  </a:lnTo>
                  <a:lnTo>
                    <a:pt x="16" y="149"/>
                  </a:lnTo>
                  <a:lnTo>
                    <a:pt x="11" y="143"/>
                  </a:lnTo>
                  <a:lnTo>
                    <a:pt x="8" y="138"/>
                  </a:lnTo>
                  <a:lnTo>
                    <a:pt x="6" y="133"/>
                  </a:lnTo>
                  <a:lnTo>
                    <a:pt x="3" y="127"/>
                  </a:lnTo>
                  <a:lnTo>
                    <a:pt x="3" y="119"/>
                  </a:lnTo>
                  <a:lnTo>
                    <a:pt x="0" y="114"/>
                  </a:lnTo>
                  <a:lnTo>
                    <a:pt x="0" y="106"/>
                  </a:lnTo>
                  <a:lnTo>
                    <a:pt x="0" y="101"/>
                  </a:lnTo>
                  <a:lnTo>
                    <a:pt x="0" y="90"/>
                  </a:lnTo>
                  <a:lnTo>
                    <a:pt x="3" y="79"/>
                  </a:lnTo>
                  <a:lnTo>
                    <a:pt x="6" y="71"/>
                  </a:lnTo>
                  <a:lnTo>
                    <a:pt x="8" y="64"/>
                  </a:lnTo>
                  <a:lnTo>
                    <a:pt x="11" y="56"/>
                  </a:lnTo>
                  <a:lnTo>
                    <a:pt x="16" y="50"/>
                  </a:lnTo>
                  <a:lnTo>
                    <a:pt x="24" y="42"/>
                  </a:lnTo>
                  <a:lnTo>
                    <a:pt x="30" y="32"/>
                  </a:lnTo>
                  <a:lnTo>
                    <a:pt x="32" y="29"/>
                  </a:lnTo>
                  <a:lnTo>
                    <a:pt x="38" y="26"/>
                  </a:lnTo>
                  <a:lnTo>
                    <a:pt x="40" y="24"/>
                  </a:lnTo>
                  <a:lnTo>
                    <a:pt x="46" y="21"/>
                  </a:lnTo>
                  <a:lnTo>
                    <a:pt x="51" y="18"/>
                  </a:lnTo>
                  <a:lnTo>
                    <a:pt x="54" y="16"/>
                  </a:lnTo>
                  <a:lnTo>
                    <a:pt x="59" y="13"/>
                  </a:lnTo>
                  <a:lnTo>
                    <a:pt x="64" y="10"/>
                  </a:lnTo>
                  <a:lnTo>
                    <a:pt x="70" y="8"/>
                  </a:lnTo>
                  <a:lnTo>
                    <a:pt x="75" y="8"/>
                  </a:lnTo>
                  <a:lnTo>
                    <a:pt x="80" y="5"/>
                  </a:lnTo>
                  <a:lnTo>
                    <a:pt x="86" y="2"/>
                  </a:lnTo>
                  <a:lnTo>
                    <a:pt x="91" y="2"/>
                  </a:lnTo>
                  <a:lnTo>
                    <a:pt x="96" y="2"/>
                  </a:lnTo>
                  <a:lnTo>
                    <a:pt x="99" y="0"/>
                  </a:lnTo>
                  <a:lnTo>
                    <a:pt x="104" y="0"/>
                  </a:lnTo>
                  <a:lnTo>
                    <a:pt x="107" y="0"/>
                  </a:lnTo>
                  <a:lnTo>
                    <a:pt x="112" y="0"/>
                  </a:lnTo>
                  <a:lnTo>
                    <a:pt x="115" y="2"/>
                  </a:lnTo>
                  <a:lnTo>
                    <a:pt x="120" y="2"/>
                  </a:lnTo>
                  <a:lnTo>
                    <a:pt x="126" y="2"/>
                  </a:lnTo>
                  <a:lnTo>
                    <a:pt x="128" y="2"/>
                  </a:lnTo>
                  <a:lnTo>
                    <a:pt x="134" y="2"/>
                  </a:lnTo>
                  <a:lnTo>
                    <a:pt x="139" y="2"/>
                  </a:lnTo>
                  <a:close/>
                </a:path>
              </a:pathLst>
            </a:custGeom>
            <a:solidFill>
              <a:srgbClr val="6161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6820" y="3042"/>
              <a:ext cx="109" cy="138"/>
            </a:xfrm>
            <a:custGeom>
              <a:rect b="b" l="l" r="r" t="t"/>
              <a:pathLst>
                <a:path extrusionOk="0" h="138" w="109">
                  <a:moveTo>
                    <a:pt x="101" y="0"/>
                  </a:moveTo>
                  <a:lnTo>
                    <a:pt x="107" y="8"/>
                  </a:lnTo>
                  <a:lnTo>
                    <a:pt x="107" y="13"/>
                  </a:lnTo>
                  <a:lnTo>
                    <a:pt x="109" y="21"/>
                  </a:lnTo>
                  <a:lnTo>
                    <a:pt x="109" y="29"/>
                  </a:lnTo>
                  <a:lnTo>
                    <a:pt x="109" y="34"/>
                  </a:lnTo>
                  <a:lnTo>
                    <a:pt x="109" y="42"/>
                  </a:lnTo>
                  <a:lnTo>
                    <a:pt x="107" y="50"/>
                  </a:lnTo>
                  <a:lnTo>
                    <a:pt x="107" y="58"/>
                  </a:lnTo>
                  <a:lnTo>
                    <a:pt x="107" y="64"/>
                  </a:lnTo>
                  <a:lnTo>
                    <a:pt x="104" y="69"/>
                  </a:lnTo>
                  <a:lnTo>
                    <a:pt x="101" y="74"/>
                  </a:lnTo>
                  <a:lnTo>
                    <a:pt x="101" y="80"/>
                  </a:lnTo>
                  <a:lnTo>
                    <a:pt x="99" y="85"/>
                  </a:lnTo>
                  <a:lnTo>
                    <a:pt x="93" y="90"/>
                  </a:lnTo>
                  <a:lnTo>
                    <a:pt x="91" y="96"/>
                  </a:lnTo>
                  <a:lnTo>
                    <a:pt x="88" y="101"/>
                  </a:lnTo>
                  <a:lnTo>
                    <a:pt x="85" y="104"/>
                  </a:lnTo>
                  <a:lnTo>
                    <a:pt x="80" y="109"/>
                  </a:lnTo>
                  <a:lnTo>
                    <a:pt x="77" y="112"/>
                  </a:lnTo>
                  <a:lnTo>
                    <a:pt x="72" y="117"/>
                  </a:lnTo>
                  <a:lnTo>
                    <a:pt x="69" y="119"/>
                  </a:lnTo>
                  <a:lnTo>
                    <a:pt x="64" y="122"/>
                  </a:lnTo>
                  <a:lnTo>
                    <a:pt x="59" y="125"/>
                  </a:lnTo>
                  <a:lnTo>
                    <a:pt x="53" y="127"/>
                  </a:lnTo>
                  <a:lnTo>
                    <a:pt x="48" y="130"/>
                  </a:lnTo>
                  <a:lnTo>
                    <a:pt x="43" y="130"/>
                  </a:lnTo>
                  <a:lnTo>
                    <a:pt x="37" y="133"/>
                  </a:lnTo>
                  <a:lnTo>
                    <a:pt x="32" y="135"/>
                  </a:lnTo>
                  <a:lnTo>
                    <a:pt x="24" y="135"/>
                  </a:lnTo>
                  <a:lnTo>
                    <a:pt x="19" y="135"/>
                  </a:lnTo>
                  <a:lnTo>
                    <a:pt x="16" y="138"/>
                  </a:lnTo>
                  <a:lnTo>
                    <a:pt x="11" y="138"/>
                  </a:lnTo>
                  <a:lnTo>
                    <a:pt x="16" y="135"/>
                  </a:lnTo>
                  <a:lnTo>
                    <a:pt x="19" y="133"/>
                  </a:lnTo>
                  <a:lnTo>
                    <a:pt x="24" y="133"/>
                  </a:lnTo>
                  <a:lnTo>
                    <a:pt x="30" y="130"/>
                  </a:lnTo>
                  <a:lnTo>
                    <a:pt x="35" y="130"/>
                  </a:lnTo>
                  <a:lnTo>
                    <a:pt x="37" y="127"/>
                  </a:lnTo>
                  <a:lnTo>
                    <a:pt x="43" y="125"/>
                  </a:lnTo>
                  <a:lnTo>
                    <a:pt x="48" y="125"/>
                  </a:lnTo>
                  <a:lnTo>
                    <a:pt x="51" y="122"/>
                  </a:lnTo>
                  <a:lnTo>
                    <a:pt x="56" y="119"/>
                  </a:lnTo>
                  <a:lnTo>
                    <a:pt x="61" y="117"/>
                  </a:lnTo>
                  <a:lnTo>
                    <a:pt x="64" y="114"/>
                  </a:lnTo>
                  <a:lnTo>
                    <a:pt x="69" y="112"/>
                  </a:lnTo>
                  <a:lnTo>
                    <a:pt x="72" y="109"/>
                  </a:lnTo>
                  <a:lnTo>
                    <a:pt x="75" y="106"/>
                  </a:lnTo>
                  <a:lnTo>
                    <a:pt x="77" y="104"/>
                  </a:lnTo>
                  <a:lnTo>
                    <a:pt x="77" y="104"/>
                  </a:lnTo>
                  <a:lnTo>
                    <a:pt x="77" y="104"/>
                  </a:lnTo>
                  <a:lnTo>
                    <a:pt x="77" y="101"/>
                  </a:lnTo>
                  <a:lnTo>
                    <a:pt x="77" y="101"/>
                  </a:lnTo>
                  <a:lnTo>
                    <a:pt x="51" y="109"/>
                  </a:lnTo>
                  <a:lnTo>
                    <a:pt x="51" y="109"/>
                  </a:lnTo>
                  <a:lnTo>
                    <a:pt x="51" y="106"/>
                  </a:lnTo>
                  <a:lnTo>
                    <a:pt x="51" y="106"/>
                  </a:lnTo>
                  <a:lnTo>
                    <a:pt x="51" y="104"/>
                  </a:lnTo>
                  <a:lnTo>
                    <a:pt x="91" y="88"/>
                  </a:lnTo>
                  <a:lnTo>
                    <a:pt x="93" y="82"/>
                  </a:lnTo>
                  <a:lnTo>
                    <a:pt x="93" y="77"/>
                  </a:lnTo>
                  <a:lnTo>
                    <a:pt x="96" y="72"/>
                  </a:lnTo>
                  <a:lnTo>
                    <a:pt x="99" y="66"/>
                  </a:lnTo>
                  <a:lnTo>
                    <a:pt x="101" y="56"/>
                  </a:lnTo>
                  <a:lnTo>
                    <a:pt x="104" y="45"/>
                  </a:lnTo>
                  <a:lnTo>
                    <a:pt x="104" y="34"/>
                  </a:lnTo>
                  <a:lnTo>
                    <a:pt x="104" y="24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1" y="21"/>
                  </a:lnTo>
                  <a:lnTo>
                    <a:pt x="101" y="21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61"/>
                  </a:lnTo>
                  <a:lnTo>
                    <a:pt x="14" y="58"/>
                  </a:lnTo>
                  <a:lnTo>
                    <a:pt x="22" y="56"/>
                  </a:lnTo>
                  <a:lnTo>
                    <a:pt x="27" y="53"/>
                  </a:lnTo>
                  <a:lnTo>
                    <a:pt x="32" y="50"/>
                  </a:lnTo>
                  <a:lnTo>
                    <a:pt x="37" y="48"/>
                  </a:lnTo>
                  <a:lnTo>
                    <a:pt x="43" y="45"/>
                  </a:lnTo>
                  <a:lnTo>
                    <a:pt x="51" y="42"/>
                  </a:lnTo>
                  <a:lnTo>
                    <a:pt x="56" y="40"/>
                  </a:lnTo>
                  <a:lnTo>
                    <a:pt x="61" y="34"/>
                  </a:lnTo>
                  <a:lnTo>
                    <a:pt x="69" y="34"/>
                  </a:lnTo>
                  <a:lnTo>
                    <a:pt x="75" y="29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91" y="21"/>
                  </a:lnTo>
                  <a:lnTo>
                    <a:pt x="96" y="16"/>
                  </a:lnTo>
                  <a:lnTo>
                    <a:pt x="99" y="11"/>
                  </a:lnTo>
                  <a:lnTo>
                    <a:pt x="99" y="8"/>
                  </a:lnTo>
                  <a:lnTo>
                    <a:pt x="96" y="8"/>
                  </a:lnTo>
                  <a:lnTo>
                    <a:pt x="93" y="8"/>
                  </a:lnTo>
                  <a:lnTo>
                    <a:pt x="91" y="8"/>
                  </a:lnTo>
                  <a:lnTo>
                    <a:pt x="88" y="8"/>
                  </a:lnTo>
                  <a:lnTo>
                    <a:pt x="85" y="8"/>
                  </a:lnTo>
                  <a:lnTo>
                    <a:pt x="83" y="8"/>
                  </a:lnTo>
                  <a:lnTo>
                    <a:pt x="83" y="8"/>
                  </a:lnTo>
                  <a:lnTo>
                    <a:pt x="77" y="11"/>
                  </a:lnTo>
                  <a:lnTo>
                    <a:pt x="72" y="13"/>
                  </a:lnTo>
                  <a:lnTo>
                    <a:pt x="67" y="16"/>
                  </a:lnTo>
                  <a:lnTo>
                    <a:pt x="64" y="21"/>
                  </a:lnTo>
                  <a:lnTo>
                    <a:pt x="59" y="24"/>
                  </a:lnTo>
                  <a:lnTo>
                    <a:pt x="53" y="26"/>
                  </a:lnTo>
                  <a:lnTo>
                    <a:pt x="48" y="29"/>
                  </a:lnTo>
                  <a:lnTo>
                    <a:pt x="43" y="32"/>
                  </a:lnTo>
                  <a:lnTo>
                    <a:pt x="40" y="37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5"/>
                  </a:lnTo>
                  <a:lnTo>
                    <a:pt x="19" y="48"/>
                  </a:lnTo>
                  <a:lnTo>
                    <a:pt x="16" y="50"/>
                  </a:lnTo>
                  <a:lnTo>
                    <a:pt x="11" y="53"/>
                  </a:lnTo>
                  <a:lnTo>
                    <a:pt x="6" y="56"/>
                  </a:lnTo>
                  <a:lnTo>
                    <a:pt x="0" y="53"/>
                  </a:lnTo>
                  <a:lnTo>
                    <a:pt x="6" y="50"/>
                  </a:lnTo>
                  <a:lnTo>
                    <a:pt x="8" y="45"/>
                  </a:lnTo>
                  <a:lnTo>
                    <a:pt x="14" y="40"/>
                  </a:lnTo>
                  <a:lnTo>
                    <a:pt x="22" y="37"/>
                  </a:lnTo>
                  <a:lnTo>
                    <a:pt x="27" y="32"/>
                  </a:lnTo>
                  <a:lnTo>
                    <a:pt x="35" y="26"/>
                  </a:lnTo>
                  <a:lnTo>
                    <a:pt x="43" y="24"/>
                  </a:lnTo>
                  <a:lnTo>
                    <a:pt x="51" y="19"/>
                  </a:lnTo>
                  <a:lnTo>
                    <a:pt x="59" y="16"/>
                  </a:lnTo>
                  <a:lnTo>
                    <a:pt x="67" y="13"/>
                  </a:lnTo>
                  <a:lnTo>
                    <a:pt x="75" y="11"/>
                  </a:lnTo>
                  <a:lnTo>
                    <a:pt x="83" y="8"/>
                  </a:lnTo>
                  <a:lnTo>
                    <a:pt x="88" y="5"/>
                  </a:lnTo>
                  <a:lnTo>
                    <a:pt x="93" y="3"/>
                  </a:lnTo>
                  <a:lnTo>
                    <a:pt x="99" y="3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6823" y="3082"/>
              <a:ext cx="96" cy="50"/>
            </a:xfrm>
            <a:custGeom>
              <a:rect b="b" l="l" r="r" t="t"/>
              <a:pathLst>
                <a:path extrusionOk="0" h="50" w="96">
                  <a:moveTo>
                    <a:pt x="93" y="0"/>
                  </a:moveTo>
                  <a:lnTo>
                    <a:pt x="93" y="0"/>
                  </a:lnTo>
                  <a:lnTo>
                    <a:pt x="93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2"/>
                  </a:lnTo>
                  <a:lnTo>
                    <a:pt x="96" y="2"/>
                  </a:lnTo>
                  <a:lnTo>
                    <a:pt x="96" y="5"/>
                  </a:lnTo>
                  <a:lnTo>
                    <a:pt x="96" y="5"/>
                  </a:lnTo>
                  <a:lnTo>
                    <a:pt x="96" y="5"/>
                  </a:lnTo>
                  <a:lnTo>
                    <a:pt x="96" y="5"/>
                  </a:lnTo>
                  <a:lnTo>
                    <a:pt x="93" y="8"/>
                  </a:lnTo>
                  <a:lnTo>
                    <a:pt x="88" y="8"/>
                  </a:lnTo>
                  <a:lnTo>
                    <a:pt x="82" y="10"/>
                  </a:lnTo>
                  <a:lnTo>
                    <a:pt x="74" y="13"/>
                  </a:lnTo>
                  <a:lnTo>
                    <a:pt x="69" y="16"/>
                  </a:lnTo>
                  <a:lnTo>
                    <a:pt x="64" y="18"/>
                  </a:lnTo>
                  <a:lnTo>
                    <a:pt x="58" y="21"/>
                  </a:lnTo>
                  <a:lnTo>
                    <a:pt x="53" y="24"/>
                  </a:lnTo>
                  <a:lnTo>
                    <a:pt x="48" y="26"/>
                  </a:lnTo>
                  <a:lnTo>
                    <a:pt x="40" y="32"/>
                  </a:lnTo>
                  <a:lnTo>
                    <a:pt x="34" y="34"/>
                  </a:lnTo>
                  <a:lnTo>
                    <a:pt x="29" y="37"/>
                  </a:lnTo>
                  <a:lnTo>
                    <a:pt x="24" y="40"/>
                  </a:lnTo>
                  <a:lnTo>
                    <a:pt x="19" y="42"/>
                  </a:lnTo>
                  <a:lnTo>
                    <a:pt x="13" y="45"/>
                  </a:lnTo>
                  <a:lnTo>
                    <a:pt x="8" y="48"/>
                  </a:lnTo>
                  <a:lnTo>
                    <a:pt x="3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3" y="45"/>
                  </a:lnTo>
                  <a:lnTo>
                    <a:pt x="8" y="42"/>
                  </a:lnTo>
                  <a:lnTo>
                    <a:pt x="11" y="42"/>
                  </a:lnTo>
                  <a:lnTo>
                    <a:pt x="13" y="40"/>
                  </a:lnTo>
                  <a:lnTo>
                    <a:pt x="19" y="37"/>
                  </a:lnTo>
                  <a:lnTo>
                    <a:pt x="21" y="34"/>
                  </a:lnTo>
                  <a:lnTo>
                    <a:pt x="27" y="34"/>
                  </a:lnTo>
                  <a:lnTo>
                    <a:pt x="29" y="32"/>
                  </a:lnTo>
                  <a:lnTo>
                    <a:pt x="34" y="29"/>
                  </a:lnTo>
                  <a:lnTo>
                    <a:pt x="37" y="26"/>
                  </a:lnTo>
                  <a:lnTo>
                    <a:pt x="42" y="26"/>
                  </a:lnTo>
                  <a:lnTo>
                    <a:pt x="45" y="24"/>
                  </a:lnTo>
                  <a:lnTo>
                    <a:pt x="50" y="21"/>
                  </a:lnTo>
                  <a:lnTo>
                    <a:pt x="53" y="21"/>
                  </a:lnTo>
                  <a:lnTo>
                    <a:pt x="58" y="18"/>
                  </a:lnTo>
                  <a:lnTo>
                    <a:pt x="64" y="16"/>
                  </a:lnTo>
                  <a:lnTo>
                    <a:pt x="66" y="13"/>
                  </a:lnTo>
                  <a:lnTo>
                    <a:pt x="72" y="13"/>
                  </a:lnTo>
                  <a:lnTo>
                    <a:pt x="74" y="10"/>
                  </a:lnTo>
                  <a:lnTo>
                    <a:pt x="77" y="8"/>
                  </a:lnTo>
                  <a:lnTo>
                    <a:pt x="82" y="5"/>
                  </a:lnTo>
                  <a:lnTo>
                    <a:pt x="85" y="2"/>
                  </a:lnTo>
                  <a:lnTo>
                    <a:pt x="88" y="2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6823" y="3106"/>
              <a:ext cx="90" cy="45"/>
            </a:xfrm>
            <a:custGeom>
              <a:rect b="b" l="l" r="r" t="t"/>
              <a:pathLst>
                <a:path extrusionOk="0" h="45" w="90">
                  <a:moveTo>
                    <a:pt x="88" y="0"/>
                  </a:moveTo>
                  <a:lnTo>
                    <a:pt x="88" y="0"/>
                  </a:lnTo>
                  <a:lnTo>
                    <a:pt x="88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8"/>
                  </a:lnTo>
                  <a:lnTo>
                    <a:pt x="3" y="45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3" y="42"/>
                  </a:lnTo>
                  <a:lnTo>
                    <a:pt x="8" y="40"/>
                  </a:lnTo>
                  <a:lnTo>
                    <a:pt x="13" y="37"/>
                  </a:lnTo>
                  <a:lnTo>
                    <a:pt x="19" y="34"/>
                  </a:lnTo>
                  <a:lnTo>
                    <a:pt x="24" y="32"/>
                  </a:lnTo>
                  <a:lnTo>
                    <a:pt x="29" y="29"/>
                  </a:lnTo>
                  <a:lnTo>
                    <a:pt x="34" y="26"/>
                  </a:lnTo>
                  <a:lnTo>
                    <a:pt x="40" y="26"/>
                  </a:lnTo>
                  <a:lnTo>
                    <a:pt x="45" y="24"/>
                  </a:lnTo>
                  <a:lnTo>
                    <a:pt x="50" y="21"/>
                  </a:lnTo>
                  <a:lnTo>
                    <a:pt x="56" y="18"/>
                  </a:lnTo>
                  <a:lnTo>
                    <a:pt x="61" y="16"/>
                  </a:lnTo>
                  <a:lnTo>
                    <a:pt x="66" y="13"/>
                  </a:lnTo>
                  <a:lnTo>
                    <a:pt x="72" y="10"/>
                  </a:lnTo>
                  <a:lnTo>
                    <a:pt x="77" y="8"/>
                  </a:lnTo>
                  <a:lnTo>
                    <a:pt x="82" y="5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6818" y="3159"/>
              <a:ext cx="24" cy="13"/>
            </a:xfrm>
            <a:custGeom>
              <a:rect b="b" l="l" r="r" t="t"/>
              <a:pathLst>
                <a:path extrusionOk="0" h="13" w="24">
                  <a:moveTo>
                    <a:pt x="24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" y="13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E0D0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6783" y="3169"/>
              <a:ext cx="0" cy="3"/>
            </a:xfrm>
            <a:custGeom>
              <a:rect b="b" l="l" r="r" t="t"/>
              <a:pathLst>
                <a:path extrusionOk="0" h="3" w="120000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C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6783" y="3177"/>
              <a:ext cx="3" cy="11"/>
            </a:xfrm>
            <a:custGeom>
              <a:rect b="b" l="l" r="r" t="t"/>
              <a:pathLst>
                <a:path extrusionOk="0" h="11" w="3">
                  <a:moveTo>
                    <a:pt x="3" y="0"/>
                  </a:moveTo>
                  <a:lnTo>
                    <a:pt x="3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8C8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6504" y="3037"/>
              <a:ext cx="90" cy="45"/>
            </a:xfrm>
            <a:custGeom>
              <a:rect b="b" l="l" r="r" t="t"/>
              <a:pathLst>
                <a:path extrusionOk="0" h="45" w="90">
                  <a:moveTo>
                    <a:pt x="10" y="0"/>
                  </a:moveTo>
                  <a:lnTo>
                    <a:pt x="90" y="1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5" y="45"/>
                  </a:lnTo>
                  <a:lnTo>
                    <a:pt x="0" y="34"/>
                  </a:lnTo>
                  <a:lnTo>
                    <a:pt x="2" y="21"/>
                  </a:lnTo>
                  <a:lnTo>
                    <a:pt x="79" y="31"/>
                  </a:lnTo>
                  <a:lnTo>
                    <a:pt x="79" y="31"/>
                  </a:lnTo>
                  <a:lnTo>
                    <a:pt x="82" y="29"/>
                  </a:lnTo>
                  <a:lnTo>
                    <a:pt x="79" y="29"/>
                  </a:lnTo>
                  <a:lnTo>
                    <a:pt x="79" y="26"/>
                  </a:lnTo>
                  <a:lnTo>
                    <a:pt x="5" y="8"/>
                  </a:lnTo>
                  <a:lnTo>
                    <a:pt x="5" y="5"/>
                  </a:lnTo>
                  <a:lnTo>
                    <a:pt x="8" y="2"/>
                  </a:lnTo>
                  <a:lnTo>
                    <a:pt x="8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6161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6504" y="3082"/>
              <a:ext cx="90" cy="16"/>
            </a:xfrm>
            <a:custGeom>
              <a:rect b="b" l="l" r="r" t="t"/>
              <a:pathLst>
                <a:path extrusionOk="0" h="16" w="90">
                  <a:moveTo>
                    <a:pt x="90" y="10"/>
                  </a:moveTo>
                  <a:lnTo>
                    <a:pt x="90" y="16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9" y="2"/>
                  </a:lnTo>
                  <a:lnTo>
                    <a:pt x="37" y="2"/>
                  </a:lnTo>
                  <a:lnTo>
                    <a:pt x="42" y="2"/>
                  </a:lnTo>
                  <a:lnTo>
                    <a:pt x="50" y="5"/>
                  </a:lnTo>
                  <a:lnTo>
                    <a:pt x="58" y="5"/>
                  </a:lnTo>
                  <a:lnTo>
                    <a:pt x="66" y="5"/>
                  </a:lnTo>
                  <a:lnTo>
                    <a:pt x="71" y="8"/>
                  </a:lnTo>
                  <a:lnTo>
                    <a:pt x="77" y="8"/>
                  </a:lnTo>
                  <a:lnTo>
                    <a:pt x="82" y="8"/>
                  </a:lnTo>
                  <a:lnTo>
                    <a:pt x="87" y="10"/>
                  </a:lnTo>
                  <a:lnTo>
                    <a:pt x="90" y="10"/>
                  </a:lnTo>
                  <a:close/>
                </a:path>
              </a:pathLst>
            </a:custGeom>
            <a:solidFill>
              <a:srgbClr val="6161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6528" y="3124"/>
              <a:ext cx="79" cy="6"/>
            </a:xfrm>
            <a:custGeom>
              <a:rect b="b" l="l" r="r" t="t"/>
              <a:pathLst>
                <a:path extrusionOk="0" h="6" w="79">
                  <a:moveTo>
                    <a:pt x="74" y="0"/>
                  </a:moveTo>
                  <a:lnTo>
                    <a:pt x="79" y="0"/>
                  </a:lnTo>
                  <a:lnTo>
                    <a:pt x="79" y="0"/>
                  </a:lnTo>
                  <a:lnTo>
                    <a:pt x="77" y="3"/>
                  </a:lnTo>
                  <a:lnTo>
                    <a:pt x="74" y="3"/>
                  </a:lnTo>
                  <a:lnTo>
                    <a:pt x="71" y="3"/>
                  </a:lnTo>
                  <a:lnTo>
                    <a:pt x="69" y="3"/>
                  </a:lnTo>
                  <a:lnTo>
                    <a:pt x="63" y="3"/>
                  </a:lnTo>
                  <a:lnTo>
                    <a:pt x="61" y="3"/>
                  </a:lnTo>
                  <a:lnTo>
                    <a:pt x="58" y="3"/>
                  </a:lnTo>
                  <a:lnTo>
                    <a:pt x="55" y="3"/>
                  </a:lnTo>
                  <a:lnTo>
                    <a:pt x="50" y="3"/>
                  </a:lnTo>
                  <a:lnTo>
                    <a:pt x="47" y="6"/>
                  </a:lnTo>
                  <a:lnTo>
                    <a:pt x="45" y="6"/>
                  </a:lnTo>
                  <a:lnTo>
                    <a:pt x="39" y="6"/>
                  </a:lnTo>
                  <a:lnTo>
                    <a:pt x="37" y="6"/>
                  </a:lnTo>
                  <a:lnTo>
                    <a:pt x="34" y="6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3" y="6"/>
                  </a:lnTo>
                  <a:lnTo>
                    <a:pt x="8" y="6"/>
                  </a:lnTo>
                  <a:lnTo>
                    <a:pt x="5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61616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6791" y="2864"/>
              <a:ext cx="88" cy="50"/>
            </a:xfrm>
            <a:custGeom>
              <a:rect b="b" l="l" r="r" t="t"/>
              <a:pathLst>
                <a:path extrusionOk="0" h="50" w="88">
                  <a:moveTo>
                    <a:pt x="85" y="0"/>
                  </a:move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8" y="5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85" y="11"/>
                  </a:lnTo>
                  <a:lnTo>
                    <a:pt x="80" y="13"/>
                  </a:lnTo>
                  <a:lnTo>
                    <a:pt x="77" y="13"/>
                  </a:lnTo>
                  <a:lnTo>
                    <a:pt x="74" y="13"/>
                  </a:lnTo>
                  <a:lnTo>
                    <a:pt x="69" y="16"/>
                  </a:lnTo>
                  <a:lnTo>
                    <a:pt x="66" y="16"/>
                  </a:lnTo>
                  <a:lnTo>
                    <a:pt x="64" y="18"/>
                  </a:lnTo>
                  <a:lnTo>
                    <a:pt x="59" y="21"/>
                  </a:lnTo>
                  <a:lnTo>
                    <a:pt x="59" y="21"/>
                  </a:lnTo>
                  <a:lnTo>
                    <a:pt x="56" y="24"/>
                  </a:lnTo>
                  <a:lnTo>
                    <a:pt x="53" y="24"/>
                  </a:lnTo>
                  <a:lnTo>
                    <a:pt x="53" y="24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8" y="26"/>
                  </a:lnTo>
                  <a:lnTo>
                    <a:pt x="45" y="29"/>
                  </a:lnTo>
                  <a:lnTo>
                    <a:pt x="40" y="32"/>
                  </a:lnTo>
                  <a:lnTo>
                    <a:pt x="35" y="34"/>
                  </a:lnTo>
                  <a:lnTo>
                    <a:pt x="29" y="37"/>
                  </a:lnTo>
                  <a:lnTo>
                    <a:pt x="24" y="40"/>
                  </a:lnTo>
                  <a:lnTo>
                    <a:pt x="19" y="42"/>
                  </a:lnTo>
                  <a:lnTo>
                    <a:pt x="16" y="45"/>
                  </a:lnTo>
                  <a:lnTo>
                    <a:pt x="8" y="48"/>
                  </a:lnTo>
                  <a:lnTo>
                    <a:pt x="3" y="50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45"/>
                  </a:lnTo>
                  <a:lnTo>
                    <a:pt x="0" y="45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6631" y="2983"/>
              <a:ext cx="16" cy="99"/>
            </a:xfrm>
            <a:custGeom>
              <a:rect b="b" l="l" r="r" t="t"/>
              <a:pathLst>
                <a:path extrusionOk="0" h="99" w="16">
                  <a:moveTo>
                    <a:pt x="11" y="0"/>
                  </a:moveTo>
                  <a:lnTo>
                    <a:pt x="16" y="0"/>
                  </a:lnTo>
                  <a:lnTo>
                    <a:pt x="14" y="11"/>
                  </a:lnTo>
                  <a:lnTo>
                    <a:pt x="11" y="24"/>
                  </a:lnTo>
                  <a:lnTo>
                    <a:pt x="8" y="35"/>
                  </a:lnTo>
                  <a:lnTo>
                    <a:pt x="8" y="46"/>
                  </a:lnTo>
                  <a:lnTo>
                    <a:pt x="6" y="59"/>
                  </a:lnTo>
                  <a:lnTo>
                    <a:pt x="6" y="70"/>
                  </a:lnTo>
                  <a:lnTo>
                    <a:pt x="6" y="80"/>
                  </a:lnTo>
                  <a:lnTo>
                    <a:pt x="8" y="93"/>
                  </a:lnTo>
                  <a:lnTo>
                    <a:pt x="6" y="96"/>
                  </a:lnTo>
                  <a:lnTo>
                    <a:pt x="0" y="99"/>
                  </a:lnTo>
                  <a:lnTo>
                    <a:pt x="0" y="93"/>
                  </a:lnTo>
                  <a:lnTo>
                    <a:pt x="0" y="88"/>
                  </a:lnTo>
                  <a:lnTo>
                    <a:pt x="0" y="80"/>
                  </a:lnTo>
                  <a:lnTo>
                    <a:pt x="0" y="75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3" y="46"/>
                  </a:lnTo>
                  <a:lnTo>
                    <a:pt x="3" y="35"/>
                  </a:lnTo>
                  <a:lnTo>
                    <a:pt x="6" y="27"/>
                  </a:lnTo>
                  <a:lnTo>
                    <a:pt x="6" y="16"/>
                  </a:lnTo>
                  <a:lnTo>
                    <a:pt x="8" y="8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6911" y="3587"/>
              <a:ext cx="247" cy="502"/>
            </a:xfrm>
            <a:custGeom>
              <a:rect b="b" l="l" r="r" t="t"/>
              <a:pathLst>
                <a:path extrusionOk="0" h="502" w="247">
                  <a:moveTo>
                    <a:pt x="0" y="0"/>
                  </a:moveTo>
                  <a:lnTo>
                    <a:pt x="10" y="5"/>
                  </a:lnTo>
                  <a:lnTo>
                    <a:pt x="21" y="13"/>
                  </a:lnTo>
                  <a:lnTo>
                    <a:pt x="32" y="18"/>
                  </a:lnTo>
                  <a:lnTo>
                    <a:pt x="42" y="24"/>
                  </a:lnTo>
                  <a:lnTo>
                    <a:pt x="53" y="29"/>
                  </a:lnTo>
                  <a:lnTo>
                    <a:pt x="66" y="34"/>
                  </a:lnTo>
                  <a:lnTo>
                    <a:pt x="77" y="39"/>
                  </a:lnTo>
                  <a:lnTo>
                    <a:pt x="88" y="45"/>
                  </a:lnTo>
                  <a:lnTo>
                    <a:pt x="101" y="50"/>
                  </a:lnTo>
                  <a:lnTo>
                    <a:pt x="111" y="55"/>
                  </a:lnTo>
                  <a:lnTo>
                    <a:pt x="125" y="61"/>
                  </a:lnTo>
                  <a:lnTo>
                    <a:pt x="135" y="66"/>
                  </a:lnTo>
                  <a:lnTo>
                    <a:pt x="146" y="71"/>
                  </a:lnTo>
                  <a:lnTo>
                    <a:pt x="159" y="79"/>
                  </a:lnTo>
                  <a:lnTo>
                    <a:pt x="170" y="85"/>
                  </a:lnTo>
                  <a:lnTo>
                    <a:pt x="181" y="90"/>
                  </a:lnTo>
                  <a:lnTo>
                    <a:pt x="189" y="101"/>
                  </a:lnTo>
                  <a:lnTo>
                    <a:pt x="197" y="109"/>
                  </a:lnTo>
                  <a:lnTo>
                    <a:pt x="202" y="114"/>
                  </a:lnTo>
                  <a:lnTo>
                    <a:pt x="210" y="122"/>
                  </a:lnTo>
                  <a:lnTo>
                    <a:pt x="215" y="127"/>
                  </a:lnTo>
                  <a:lnTo>
                    <a:pt x="218" y="132"/>
                  </a:lnTo>
                  <a:lnTo>
                    <a:pt x="223" y="140"/>
                  </a:lnTo>
                  <a:lnTo>
                    <a:pt x="226" y="146"/>
                  </a:lnTo>
                  <a:lnTo>
                    <a:pt x="229" y="151"/>
                  </a:lnTo>
                  <a:lnTo>
                    <a:pt x="231" y="159"/>
                  </a:lnTo>
                  <a:lnTo>
                    <a:pt x="237" y="167"/>
                  </a:lnTo>
                  <a:lnTo>
                    <a:pt x="239" y="175"/>
                  </a:lnTo>
                  <a:lnTo>
                    <a:pt x="239" y="186"/>
                  </a:lnTo>
                  <a:lnTo>
                    <a:pt x="242" y="196"/>
                  </a:lnTo>
                  <a:lnTo>
                    <a:pt x="247" y="207"/>
                  </a:lnTo>
                  <a:lnTo>
                    <a:pt x="247" y="223"/>
                  </a:lnTo>
                  <a:lnTo>
                    <a:pt x="247" y="236"/>
                  </a:lnTo>
                  <a:lnTo>
                    <a:pt x="247" y="252"/>
                  </a:lnTo>
                  <a:lnTo>
                    <a:pt x="247" y="265"/>
                  </a:lnTo>
                  <a:lnTo>
                    <a:pt x="244" y="281"/>
                  </a:lnTo>
                  <a:lnTo>
                    <a:pt x="242" y="297"/>
                  </a:lnTo>
                  <a:lnTo>
                    <a:pt x="239" y="311"/>
                  </a:lnTo>
                  <a:lnTo>
                    <a:pt x="237" y="326"/>
                  </a:lnTo>
                  <a:lnTo>
                    <a:pt x="231" y="340"/>
                  </a:lnTo>
                  <a:lnTo>
                    <a:pt x="229" y="356"/>
                  </a:lnTo>
                  <a:lnTo>
                    <a:pt x="223" y="369"/>
                  </a:lnTo>
                  <a:lnTo>
                    <a:pt x="218" y="385"/>
                  </a:lnTo>
                  <a:lnTo>
                    <a:pt x="213" y="398"/>
                  </a:lnTo>
                  <a:lnTo>
                    <a:pt x="207" y="414"/>
                  </a:lnTo>
                  <a:lnTo>
                    <a:pt x="202" y="427"/>
                  </a:lnTo>
                  <a:lnTo>
                    <a:pt x="197" y="441"/>
                  </a:lnTo>
                  <a:lnTo>
                    <a:pt x="191" y="454"/>
                  </a:lnTo>
                  <a:lnTo>
                    <a:pt x="189" y="459"/>
                  </a:lnTo>
                  <a:lnTo>
                    <a:pt x="186" y="467"/>
                  </a:lnTo>
                  <a:lnTo>
                    <a:pt x="183" y="473"/>
                  </a:lnTo>
                  <a:lnTo>
                    <a:pt x="178" y="478"/>
                  </a:lnTo>
                  <a:lnTo>
                    <a:pt x="175" y="483"/>
                  </a:lnTo>
                  <a:lnTo>
                    <a:pt x="170" y="489"/>
                  </a:lnTo>
                  <a:lnTo>
                    <a:pt x="167" y="491"/>
                  </a:lnTo>
                  <a:lnTo>
                    <a:pt x="162" y="497"/>
                  </a:lnTo>
                  <a:lnTo>
                    <a:pt x="159" y="497"/>
                  </a:lnTo>
                  <a:lnTo>
                    <a:pt x="157" y="497"/>
                  </a:lnTo>
                  <a:lnTo>
                    <a:pt x="154" y="499"/>
                  </a:lnTo>
                  <a:lnTo>
                    <a:pt x="151" y="499"/>
                  </a:lnTo>
                  <a:lnTo>
                    <a:pt x="146" y="499"/>
                  </a:lnTo>
                  <a:lnTo>
                    <a:pt x="146" y="502"/>
                  </a:lnTo>
                  <a:lnTo>
                    <a:pt x="141" y="502"/>
                  </a:lnTo>
                  <a:lnTo>
                    <a:pt x="138" y="502"/>
                  </a:lnTo>
                  <a:lnTo>
                    <a:pt x="138" y="502"/>
                  </a:lnTo>
                  <a:lnTo>
                    <a:pt x="135" y="502"/>
                  </a:lnTo>
                  <a:lnTo>
                    <a:pt x="133" y="502"/>
                  </a:lnTo>
                  <a:lnTo>
                    <a:pt x="130" y="502"/>
                  </a:lnTo>
                  <a:lnTo>
                    <a:pt x="127" y="499"/>
                  </a:lnTo>
                  <a:lnTo>
                    <a:pt x="125" y="499"/>
                  </a:lnTo>
                  <a:lnTo>
                    <a:pt x="125" y="499"/>
                  </a:lnTo>
                  <a:lnTo>
                    <a:pt x="122" y="497"/>
                  </a:lnTo>
                  <a:lnTo>
                    <a:pt x="119" y="491"/>
                  </a:lnTo>
                  <a:lnTo>
                    <a:pt x="119" y="486"/>
                  </a:lnTo>
                  <a:lnTo>
                    <a:pt x="117" y="478"/>
                  </a:lnTo>
                  <a:lnTo>
                    <a:pt x="117" y="473"/>
                  </a:lnTo>
                  <a:lnTo>
                    <a:pt x="114" y="465"/>
                  </a:lnTo>
                  <a:lnTo>
                    <a:pt x="114" y="459"/>
                  </a:lnTo>
                  <a:lnTo>
                    <a:pt x="111" y="451"/>
                  </a:lnTo>
                  <a:lnTo>
                    <a:pt x="109" y="446"/>
                  </a:lnTo>
                  <a:lnTo>
                    <a:pt x="106" y="441"/>
                  </a:lnTo>
                  <a:lnTo>
                    <a:pt x="103" y="435"/>
                  </a:lnTo>
                  <a:lnTo>
                    <a:pt x="101" y="430"/>
                  </a:lnTo>
                  <a:lnTo>
                    <a:pt x="98" y="427"/>
                  </a:lnTo>
                  <a:lnTo>
                    <a:pt x="93" y="422"/>
                  </a:lnTo>
                  <a:lnTo>
                    <a:pt x="88" y="417"/>
                  </a:lnTo>
                  <a:lnTo>
                    <a:pt x="82" y="414"/>
                  </a:lnTo>
                  <a:lnTo>
                    <a:pt x="77" y="409"/>
                  </a:lnTo>
                  <a:lnTo>
                    <a:pt x="72" y="406"/>
                  </a:lnTo>
                  <a:lnTo>
                    <a:pt x="66" y="404"/>
                  </a:lnTo>
                  <a:lnTo>
                    <a:pt x="61" y="401"/>
                  </a:lnTo>
                  <a:lnTo>
                    <a:pt x="56" y="398"/>
                  </a:lnTo>
                  <a:lnTo>
                    <a:pt x="50" y="396"/>
                  </a:lnTo>
                  <a:lnTo>
                    <a:pt x="45" y="393"/>
                  </a:lnTo>
                  <a:lnTo>
                    <a:pt x="40" y="393"/>
                  </a:lnTo>
                  <a:lnTo>
                    <a:pt x="34" y="393"/>
                  </a:lnTo>
                  <a:lnTo>
                    <a:pt x="29" y="393"/>
                  </a:lnTo>
                  <a:lnTo>
                    <a:pt x="26" y="393"/>
                  </a:lnTo>
                  <a:lnTo>
                    <a:pt x="24" y="393"/>
                  </a:lnTo>
                  <a:lnTo>
                    <a:pt x="21" y="390"/>
                  </a:lnTo>
                  <a:lnTo>
                    <a:pt x="18" y="390"/>
                  </a:lnTo>
                  <a:lnTo>
                    <a:pt x="16" y="390"/>
                  </a:lnTo>
                  <a:lnTo>
                    <a:pt x="13" y="390"/>
                  </a:lnTo>
                  <a:lnTo>
                    <a:pt x="10" y="390"/>
                  </a:lnTo>
                  <a:lnTo>
                    <a:pt x="10" y="385"/>
                  </a:lnTo>
                  <a:lnTo>
                    <a:pt x="10" y="380"/>
                  </a:lnTo>
                  <a:lnTo>
                    <a:pt x="10" y="372"/>
                  </a:lnTo>
                  <a:lnTo>
                    <a:pt x="10" y="366"/>
                  </a:lnTo>
                  <a:lnTo>
                    <a:pt x="10" y="342"/>
                  </a:lnTo>
                  <a:lnTo>
                    <a:pt x="13" y="318"/>
                  </a:lnTo>
                  <a:lnTo>
                    <a:pt x="13" y="295"/>
                  </a:lnTo>
                  <a:lnTo>
                    <a:pt x="13" y="271"/>
                  </a:lnTo>
                  <a:lnTo>
                    <a:pt x="13" y="252"/>
                  </a:lnTo>
                  <a:lnTo>
                    <a:pt x="13" y="233"/>
                  </a:lnTo>
                  <a:lnTo>
                    <a:pt x="13" y="212"/>
                  </a:lnTo>
                  <a:lnTo>
                    <a:pt x="10" y="194"/>
                  </a:lnTo>
                  <a:lnTo>
                    <a:pt x="10" y="183"/>
                  </a:lnTo>
                  <a:lnTo>
                    <a:pt x="10" y="175"/>
                  </a:lnTo>
                  <a:lnTo>
                    <a:pt x="10" y="164"/>
                  </a:lnTo>
                  <a:lnTo>
                    <a:pt x="10" y="154"/>
                  </a:lnTo>
                  <a:lnTo>
                    <a:pt x="10" y="138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5" y="87"/>
                  </a:lnTo>
                  <a:lnTo>
                    <a:pt x="5" y="69"/>
                  </a:lnTo>
                  <a:lnTo>
                    <a:pt x="2" y="53"/>
                  </a:lnTo>
                  <a:lnTo>
                    <a:pt x="2" y="37"/>
                  </a:lnTo>
                  <a:lnTo>
                    <a:pt x="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57" name="Google Shape;557;p34"/>
          <p:cNvSpPr txBox="1"/>
          <p:nvPr/>
        </p:nvSpPr>
        <p:spPr>
          <a:xfrm>
            <a:off x="685800" y="3352800"/>
            <a:ext cx="13716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Times New Roman"/>
              <a:buNone/>
            </a:pPr>
            <a:r>
              <a:rPr b="1" i="0" lang="en-US" sz="9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558" name="Google Shape;558;p34"/>
          <p:cNvSpPr txBox="1"/>
          <p:nvPr/>
        </p:nvSpPr>
        <p:spPr>
          <a:xfrm>
            <a:off x="7162800" y="3352800"/>
            <a:ext cx="13716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Times New Roman"/>
              <a:buNone/>
            </a:pPr>
            <a:r>
              <a:rPr b="1" i="0" lang="en-US" sz="9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</p:txBody>
      </p:sp>
      <p:sp>
        <p:nvSpPr>
          <p:cNvPr id="559" name="Google Shape;559;p34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Tiger Woods Mow His Own Lawn?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APPLICATIONS OF COMPARATIVE ADVANTAGE </a:t>
            </a:r>
            <a:endParaRPr/>
          </a:p>
        </p:txBody>
      </p:sp>
      <p:sp>
        <p:nvSpPr>
          <p:cNvPr id="565" name="Google Shape;565;p35"/>
          <p:cNvSpPr/>
          <p:nvPr/>
        </p:nvSpPr>
        <p:spPr>
          <a:xfrm>
            <a:off x="10961687" y="5119687"/>
            <a:ext cx="9525" cy="4762"/>
          </a:xfrm>
          <a:custGeom>
            <a:rect b="b" l="l" r="r" t="t"/>
            <a:pathLst>
              <a:path extrusionOk="0" h="3" w="6">
                <a:moveTo>
                  <a:pt x="0" y="0"/>
                </a:moveTo>
                <a:lnTo>
                  <a:pt x="6" y="3"/>
                </a:lnTo>
                <a:lnTo>
                  <a:pt x="6" y="3"/>
                </a:lnTo>
                <a:lnTo>
                  <a:pt x="3" y="3"/>
                </a:lnTo>
                <a:lnTo>
                  <a:pt x="3" y="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35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the United States Trade with Other Countries?</a:t>
            </a:r>
            <a:endParaRPr/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country has many citizens with different interests. International trade can make some individuals worse off, even as it makes the country as a whole better off.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5A9A6"/>
              </a:buClr>
              <a:buSzPts val="2800"/>
              <a:buFont typeface="Times New Roman"/>
              <a:buChar char="•"/>
            </a:pPr>
            <a:r>
              <a:rPr b="0" i="1" lang="en-US" sz="2800" u="none" cap="none" strike="noStrike">
                <a:solidFill>
                  <a:srgbClr val="25A9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—goods produced abroad and sold domestically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5A9A6"/>
              </a:buClr>
              <a:buSzPts val="2800"/>
              <a:buFont typeface="Times New Roman"/>
              <a:buChar char="•"/>
            </a:pPr>
            <a:r>
              <a:rPr b="0" i="1" lang="en-US" sz="2800" u="none" cap="none" strike="noStrike">
                <a:solidFill>
                  <a:srgbClr val="25A9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—goods produced domestically and sold abroad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573" name="Google Shape;573;p36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person consumes goods and services produced by many other people both in our country and around the world.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Interdependence and trade are desirable because they allow everyone to enjoy a greater quantity and variety of goods and services.</a:t>
            </a:r>
            <a:endParaRPr/>
          </a:p>
        </p:txBody>
      </p:sp>
      <p:cxnSp>
        <p:nvCxnSpPr>
          <p:cNvPr id="574" name="Google Shape;574;p36"/>
          <p:cNvCxnSpPr/>
          <p:nvPr/>
        </p:nvCxnSpPr>
        <p:spPr>
          <a:xfrm>
            <a:off x="473075" y="1108075"/>
            <a:ext cx="8293200" cy="0"/>
          </a:xfrm>
          <a:prstGeom prst="straightConnector1">
            <a:avLst/>
          </a:prstGeom>
          <a:noFill/>
          <a:ln cap="flat" cmpd="sng" w="12700">
            <a:solidFill>
              <a:srgbClr val="FFFFCC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7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581" name="Google Shape;581;p37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ways to compare the ability of two people producing a good.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person who can produce a good with a smaller quantity of inputs has an absolute advantage.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person with a smaller opportunity cost has a comparative advantage.</a:t>
            </a:r>
            <a:endParaRPr/>
          </a:p>
        </p:txBody>
      </p:sp>
      <p:cxnSp>
        <p:nvCxnSpPr>
          <p:cNvPr id="582" name="Google Shape;582;p37"/>
          <p:cNvCxnSpPr/>
          <p:nvPr/>
        </p:nvCxnSpPr>
        <p:spPr>
          <a:xfrm>
            <a:off x="473075" y="1108075"/>
            <a:ext cx="8293200" cy="0"/>
          </a:xfrm>
          <a:prstGeom prst="straightConnector1">
            <a:avLst/>
          </a:prstGeom>
          <a:noFill/>
          <a:ln cap="flat" cmpd="sng" w="12700">
            <a:solidFill>
              <a:srgbClr val="FFFFCC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4C7C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8"/>
          <p:cNvSpPr txBox="1"/>
          <p:nvPr>
            <p:ph type="title"/>
          </p:nvPr>
        </p:nvSpPr>
        <p:spPr>
          <a:xfrm>
            <a:off x="457200" y="1524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589" name="Google Shape;589;p38"/>
          <p:cNvSpPr txBox="1"/>
          <p:nvPr>
            <p:ph idx="1" type="body"/>
          </p:nvPr>
        </p:nvSpPr>
        <p:spPr>
          <a:xfrm>
            <a:off x="457200" y="1447800"/>
            <a:ext cx="8382000" cy="5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gains from trade are based on comparative advantage, not absolute advantage.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 makes everyone better off because it allows people to specialize in those activities in which they have a comparative advantage.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principle of comparative advantage applies to countries as well as people.</a:t>
            </a:r>
            <a:endParaRPr/>
          </a:p>
        </p:txBody>
      </p:sp>
      <p:cxnSp>
        <p:nvCxnSpPr>
          <p:cNvPr id="590" name="Google Shape;590;p38"/>
          <p:cNvCxnSpPr/>
          <p:nvPr/>
        </p:nvCxnSpPr>
        <p:spPr>
          <a:xfrm>
            <a:off x="473075" y="1108075"/>
            <a:ext cx="8293200" cy="0"/>
          </a:xfrm>
          <a:prstGeom prst="straightConnector1">
            <a:avLst/>
          </a:prstGeom>
          <a:noFill/>
          <a:ln cap="flat" cmpd="sng" w="12700">
            <a:solidFill>
              <a:srgbClr val="FFFFCC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xmlns:r="http://schemas.openxmlformats.org/officeDocument/2006/relationships" name="3etemplate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